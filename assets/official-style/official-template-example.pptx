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56" r:id="lexSlide1"/>
    <p:sldId id="257" r:id="lexSlide2"/>
    <p:sldId id="258" r:id="lexSlide3"/>
    <p:sldId id="259" r:id="lexSlide4"/>
    <p:sldId id="260" r:id="lexSlide5"/>
    <p:sldId id="261" r:id="lexSlide6"/>
    <p:sldId id="262" r:id="lexSlide7"/>
    <p:sldId id="263" r:id="lexSlide8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13" Type="http://schemas.openxmlformats.org/officeDocument/2006/relationships/viewProps" Target="viewProps.xml" /><Relationship Id="rId3" Type="http://schemas.openxmlformats.org/officeDocument/2006/relationships/slideMaster" Target="slideMasters/slideMaster3.xml" /><Relationship Id="rId12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11" Type="http://schemas.openxmlformats.org/officeDocument/2006/relationships/handoutMaster" Target="handoutMasters/handoutMaster1.xml" /><Relationship Id="rId15" Type="http://schemas.openxmlformats.org/officeDocument/2006/relationships/tableStyles" Target="tableStyles.xml" /><Relationship Id="rId10" Type="http://schemas.openxmlformats.org/officeDocument/2006/relationships/notesMaster" Target="notesMasters/notesMaster1.xml" /><Relationship Id="rId4" Type="http://schemas.openxmlformats.org/officeDocument/2006/relationships/slideMaster" Target="slideMasters/slideMaster4.xml" /><Relationship Id="rId14" Type="http://schemas.openxmlformats.org/officeDocument/2006/relationships/theme" Target="theme/theme1.xml" /><Relationship Id="lexSlide1" Type="http://schemas.openxmlformats.org/officeDocument/2006/relationships/slide" Target="slides/slide1.xml" /><Relationship Id="lexSlide2" Type="http://schemas.openxmlformats.org/officeDocument/2006/relationships/slide" Target="slides/slide2.xml" /><Relationship Id="lexSlide3" Type="http://schemas.openxmlformats.org/officeDocument/2006/relationships/slide" Target="slides/slide3.xml" /><Relationship Id="lexSlide4" Type="http://schemas.openxmlformats.org/officeDocument/2006/relationships/slide" Target="slides/slide4.xml" /><Relationship Id="lexSlide5" Type="http://schemas.openxmlformats.org/officeDocument/2006/relationships/slide" Target="slides/slide5.xml" /><Relationship Id="lexSlide6" Type="http://schemas.openxmlformats.org/officeDocument/2006/relationships/slide" Target="slides/slide6.xml" /><Relationship Id="lexSlide7" Type="http://schemas.openxmlformats.org/officeDocument/2006/relationships/slide" Target="slides/slide7.xml" /><Relationship Id="lexSlide8" Type="http://schemas.openxmlformats.org/officeDocument/2006/relationships/slide" Target="slides/slide8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?>
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<?xml version='1.0' encoding='utf-8'?>
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版式演示；内容不构成公司能力或实测性能声明。保留用户指定官方封面及品牌元素。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官方模板没有单独章节页。本页复用官方目录，红色当前项为导航约定，其余布局、字号和背景继承原版。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本页为原创概念示意，无产品能力或性能数值。技术机制必须与具体模型、输入和评测约束绑定后，才能推导系统要求。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原创验证流程示例。固定模型、数据、训练配方和目标质量后，再比较 Time-to-Quality。吞吐提升不能直接等同于模型效果或端到端训练加速。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原生可编辑表格；没有虚构测量值。实际报告应补充平台型号、软件版本、评测集、重复次数和统计方法。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证据纪律：公开结果不自动成为目标平台结果。实际交付需在此处填写每项主张的原始来源、日期、测试对象、指标口径和推导过程。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原创项目验证模板；非已达成的合作承诺。未虚构合作伙伴、资源额度、里程碑日期或验收数字。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search sources and template provenance"/>
          <p:cNvSpPr/>
          <p:nvPr>
            <p:ph type="body" idx="1"/>
          </p:nvPr>
        </p:nvSpPr>
        <p:spPr/>
        <p:txBody>
          <a:bodyPr/>
          <a:lstStyle/>
          <a:p>
            <a:r>
              <a:rPr lang="zh-CN"/>
              <a:t>保留官方结束页作为样式复用演示。官方图像、品牌及原有文字属于华为，不构成对本项目的背书。</a:t>
            </a:r>
          </a:p>
          <a:p>
            <a:r>
              <a:rPr lang="zh-CN"/>
              <a:t/>
            </a:r>
          </a:p>
          <a:p>
            <a:r>
              <a:rPr lang="zh-CN"/>
              <a:t>Template: https://e.huawei.com/cn/documents/others/4f951fb72e1944288d3aa73bf40d8a8b</a:t>
            </a:r>
          </a:p>
          <a:p>
            <a:r>
              <a:rPr lang="zh-CN"/>
              <a:t>SHA256: c6f6cc8245ebec463396f1b35fe2700c34dc85edfd2836509cdbdd7e23f00127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lexNotes" Type="http://schemas.openxmlformats.org/officeDocument/2006/relationships/notesSlide" Target="../notesSlides/notesSlide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lexNotes" Type="http://schemas.openxmlformats.org/officeDocument/2006/relationships/notesSlide" Target="../notesSlides/notesSlide2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lexNotes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lexNotes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/>
              <a:t>具身智能算力技术研究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/>
              <a:t>部门：技术研究｜版式示例</a:t>
            </a:r>
          </a:p>
          <a:p>
            <a:r>
              <a:rPr lang="zh-CN"/>
              <a:t>作者：Lex</a:t>
            </a:r>
          </a:p>
          <a:p>
            <a:r>
              <a:rPr lang="zh-CN"/>
              <a:t>日期：2026年9月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  <p:extLst>
      <p:ext uri="{BB962C8B-B14F-4D97-AF65-F5344CB8AC3E}">
        <p14:creationId val="3632952334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id="{2D83681D-12EE-844E-8C09-E767231D89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3620" y="1843088"/>
            <a:ext cx="10045712" cy="3013725"/>
          </a:xfrm>
        </p:spPr>
        <p:txBody>
          <a:bodyPr/>
          <a:lstStyle/>
          <a:p>
            <a:r>
              <a:rPr lang="zh-CN">
                <a:solidFill>
                  <a:srgbClr val="C7000A"/>
                </a:solidFill>
              </a:rPr>
              <a:t>从能力变化定位系统负载</a:t>
            </a:r>
          </a:p>
          <a:p>
            <a:r>
              <a:rPr lang="zh-CN"/>
              <a:t>用同一口径比较技术方案</a:t>
            </a:r>
          </a:p>
          <a:p>
            <a:r>
              <a:rPr lang="zh-CN"/>
              <a:t>以联合验证形成可交付结论</a:t>
            </a:r>
          </a:p>
        </p:txBody>
      </p:sp>
    </p:spTree>
    <p:extLst>
      <p:ext uri="{BB962C8B-B14F-4D97-AF65-F5344CB8AC3E}">
        <p14:creationId val="802223642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能力变化需要映射到可测量的系统负载</a:t>
            </a:r>
          </a:p>
        </p:txBody>
      </p:sp>
      <p:sp>
        <p:nvSpPr>
          <p:cNvPr id="100" name="">
            <a:extLst>
              <a:ext uri="{FF2B5EF4-FFF2-40B4-BE49-F238E27FC236}">
                <a16:creationId id="{07CD6F37-8FD9-4BB5-BED8-54F48316B21D}"/>
              </a:ext>
            </a:extLst>
          </p:cNvPr>
          <p:cNvSpPr>
            <a:spLocks noGrp="1"/>
          </p:cNvSpPr>
          <p:nvPr/>
        </p:nvSpPr>
        <p:spPr>
          <a:xfrm>
            <a:off x="736908" y="1578189"/>
            <a:ext cx="1847850" cy="666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DAC79C93-4972-4D29-9409-5BF44B1436ED}"/>
              </a:ext>
            </a:extLst>
          </p:cNvPr>
          <p:cNvSpPr>
            <a:spLocks noGrp="1"/>
          </p:cNvSpPr>
          <p:nvPr/>
        </p:nvSpPr>
        <p:spPr>
          <a:xfrm>
            <a:off x="889308" y="1759164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能力与任务</a:t>
            </a:r>
          </a:p>
        </p:txBody>
      </p:sp>
      <p:sp>
        <p:nvSpPr>
          <p:cNvPr id="102" name="">
            <a:extLst>
              <a:ext uri="{FF2B5EF4-FFF2-40B4-BE49-F238E27FC236}">
                <a16:creationId id="{BB2C9406-5153-40EC-AB67-A6F8FFA19EB8}"/>
              </a:ext>
            </a:extLst>
          </p:cNvPr>
          <p:cNvSpPr>
            <a:spLocks noGrp="1"/>
          </p:cNvSpPr>
          <p:nvPr/>
        </p:nvSpPr>
        <p:spPr>
          <a:xfrm>
            <a:off x="2727633" y="1578189"/>
            <a:ext cx="8742832" cy="6667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3" name="">
            <a:extLst>
              <a:ext uri="{FF2B5EF4-FFF2-40B4-BE49-F238E27FC236}">
                <a16:creationId id="{1EB18687-94B1-4C71-852C-FD3F6DEB63E0}"/>
              </a:ext>
            </a:extLst>
          </p:cNvPr>
          <p:cNvSpPr>
            <a:spLocks noGrp="1"/>
          </p:cNvSpPr>
          <p:nvPr/>
        </p:nvSpPr>
        <p:spPr>
          <a:xfrm>
            <a:off x="2899083" y="1778214"/>
            <a:ext cx="838088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多模态理解 → 动作生成 → 任务执行</a:t>
            </a:r>
          </a:p>
        </p:txBody>
      </p:sp>
      <p:sp>
        <p:nvSpPr>
          <p:cNvPr id="104" name="">
            <a:extLst>
              <a:ext uri="{FF2B5EF4-FFF2-40B4-BE49-F238E27FC236}">
                <a16:creationId id="{9A788941-6359-4DDE-998A-123201DA643C}"/>
              </a:ext>
            </a:extLst>
          </p:cNvPr>
          <p:cNvSpPr>
            <a:spLocks noGrp="1"/>
          </p:cNvSpPr>
          <p:nvPr/>
        </p:nvSpPr>
        <p:spPr>
          <a:xfrm>
            <a:off x="736908" y="2464014"/>
            <a:ext cx="1847850" cy="666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5" name="">
            <a:extLst>
              <a:ext uri="{FF2B5EF4-FFF2-40B4-BE49-F238E27FC236}">
                <a16:creationId id="{E540EEB2-338F-4109-B9E5-55CC3A8978F8}"/>
              </a:ext>
            </a:extLst>
          </p:cNvPr>
          <p:cNvSpPr>
            <a:spLocks noGrp="1"/>
          </p:cNvSpPr>
          <p:nvPr/>
        </p:nvSpPr>
        <p:spPr>
          <a:xfrm>
            <a:off x="889308" y="2644989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模型与数据</a:t>
            </a:r>
          </a:p>
        </p:txBody>
      </p:sp>
      <p:sp>
        <p:nvSpPr>
          <p:cNvPr id="106" name="">
            <a:extLst>
              <a:ext uri="{FF2B5EF4-FFF2-40B4-BE49-F238E27FC236}">
                <a16:creationId id="{727D7930-74A2-4C97-A6F9-CA1D619C79AB}"/>
              </a:ext>
            </a:extLst>
          </p:cNvPr>
          <p:cNvSpPr>
            <a:spLocks noGrp="1"/>
          </p:cNvSpPr>
          <p:nvPr/>
        </p:nvSpPr>
        <p:spPr>
          <a:xfrm>
            <a:off x="2727633" y="2464014"/>
            <a:ext cx="8742832" cy="6667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DB920799-A92B-42E1-B119-93A386DAFC79}"/>
              </a:ext>
            </a:extLst>
          </p:cNvPr>
          <p:cNvSpPr>
            <a:spLocks noGrp="1"/>
          </p:cNvSpPr>
          <p:nvPr/>
        </p:nvSpPr>
        <p:spPr>
          <a:xfrm>
            <a:off x="2899083" y="2664039"/>
            <a:ext cx="838088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输入视角、历史长度、动作块、数据配方</a:t>
            </a:r>
          </a:p>
        </p:txBody>
      </p:sp>
      <p:sp>
        <p:nvSpPr>
          <p:cNvPr id="108" name="">
            <a:extLst>
              <a:ext uri="{FF2B5EF4-FFF2-40B4-BE49-F238E27FC236}">
                <a16:creationId id="{3DDFA55C-2546-46A7-A312-E6F9927C9636}"/>
              </a:ext>
            </a:extLst>
          </p:cNvPr>
          <p:cNvSpPr>
            <a:spLocks noGrp="1"/>
          </p:cNvSpPr>
          <p:nvPr/>
        </p:nvSpPr>
        <p:spPr>
          <a:xfrm>
            <a:off x="736908" y="3349839"/>
            <a:ext cx="1847850" cy="666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9" name="">
            <a:extLst>
              <a:ext uri="{FF2B5EF4-FFF2-40B4-BE49-F238E27FC236}">
                <a16:creationId id="{7CA8743B-813C-49BD-8D61-9BD8EBF6BB78}"/>
              </a:ext>
            </a:extLst>
          </p:cNvPr>
          <p:cNvSpPr>
            <a:spLocks noGrp="1"/>
          </p:cNvSpPr>
          <p:nvPr/>
        </p:nvSpPr>
        <p:spPr>
          <a:xfrm>
            <a:off x="889308" y="3530814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系统与资源</a:t>
            </a:r>
          </a:p>
        </p:txBody>
      </p:sp>
      <p:sp>
        <p:nvSpPr>
          <p:cNvPr id="110" name="">
            <a:extLst>
              <a:ext uri="{FF2B5EF4-FFF2-40B4-BE49-F238E27FC236}">
                <a16:creationId id="{31CFF27B-5769-4DC7-AE7B-359261401A10}"/>
              </a:ext>
            </a:extLst>
          </p:cNvPr>
          <p:cNvSpPr>
            <a:spLocks noGrp="1"/>
          </p:cNvSpPr>
          <p:nvPr/>
        </p:nvSpPr>
        <p:spPr>
          <a:xfrm>
            <a:off x="2727633" y="3349839"/>
            <a:ext cx="8742832" cy="6667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11" name="">
            <a:extLst>
              <a:ext uri="{FF2B5EF4-FFF2-40B4-BE49-F238E27FC236}">
                <a16:creationId id="{971D0E88-9F54-4B4B-8E62-F5BBFF0086B1}"/>
              </a:ext>
            </a:extLst>
          </p:cNvPr>
          <p:cNvSpPr>
            <a:spLocks noGrp="1"/>
          </p:cNvSpPr>
          <p:nvPr/>
        </p:nvSpPr>
        <p:spPr>
          <a:xfrm>
            <a:off x="2899083" y="3549864"/>
            <a:ext cx="838088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计算、显存、通信、存储与数据吞吐</a:t>
            </a:r>
          </a:p>
        </p:txBody>
      </p:sp>
      <p:sp>
        <p:nvSpPr>
          <p:cNvPr id="112" name="">
            <a:extLst>
              <a:ext uri="{FF2B5EF4-FFF2-40B4-BE49-F238E27FC236}">
                <a16:creationId id="{ABCF5F5E-30BD-4601-AE9E-2ECDF15839CC}"/>
              </a:ext>
            </a:extLst>
          </p:cNvPr>
          <p:cNvSpPr>
            <a:spLocks noGrp="1"/>
          </p:cNvSpPr>
          <p:nvPr/>
        </p:nvSpPr>
        <p:spPr>
          <a:xfrm>
            <a:off x="736908" y="4235664"/>
            <a:ext cx="1847850" cy="6667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76F63374-1FD3-437B-AFA1-148F0C12D985}"/>
              </a:ext>
            </a:extLst>
          </p:cNvPr>
          <p:cNvSpPr>
            <a:spLocks noGrp="1"/>
          </p:cNvSpPr>
          <p:nvPr/>
        </p:nvSpPr>
        <p:spPr>
          <a:xfrm>
            <a:off x="889308" y="4416639"/>
            <a:ext cx="1571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评测与交付</a:t>
            </a:r>
          </a:p>
        </p:txBody>
      </p:sp>
      <p:sp>
        <p:nvSpPr>
          <p:cNvPr id="114" name="">
            <a:extLst>
              <a:ext uri="{FF2B5EF4-FFF2-40B4-BE49-F238E27FC236}">
                <a16:creationId id="{0DE8210F-AC37-4187-A0EC-989D06805964}"/>
              </a:ext>
            </a:extLst>
          </p:cNvPr>
          <p:cNvSpPr>
            <a:spLocks noGrp="1"/>
          </p:cNvSpPr>
          <p:nvPr/>
        </p:nvSpPr>
        <p:spPr>
          <a:xfrm>
            <a:off x="2727633" y="4235664"/>
            <a:ext cx="8742832" cy="6667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15" name="">
            <a:extLst>
              <a:ext uri="{FF2B5EF4-FFF2-40B4-BE49-F238E27FC236}">
                <a16:creationId id="{E03AAA89-178E-4E3B-8F1E-3A565F252AA3}"/>
              </a:ext>
            </a:extLst>
          </p:cNvPr>
          <p:cNvSpPr>
            <a:spLocks noGrp="1"/>
          </p:cNvSpPr>
          <p:nvPr/>
        </p:nvSpPr>
        <p:spPr>
          <a:xfrm>
            <a:off x="2899083" y="4435689"/>
            <a:ext cx="838088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任务质量、训练耗时、推理延迟与复现记录</a:t>
            </a:r>
          </a:p>
        </p:txBody>
      </p:sp>
      <p:sp>
        <p:nvSpPr>
          <p:cNvPr id="116" name="">
            <a:extLst>
              <a:ext uri="{FF2B5EF4-FFF2-40B4-BE49-F238E27FC236}">
                <a16:creationId id="{61EA38F4-561F-4C93-9DD2-1B62B1BEBB5F}"/>
              </a:ext>
            </a:extLst>
          </p:cNvPr>
          <p:cNvSpPr>
            <a:spLocks noGrp="1"/>
          </p:cNvSpPr>
          <p:nvPr/>
        </p:nvSpPr>
        <p:spPr>
          <a:xfrm>
            <a:off x="736908" y="5731089"/>
            <a:ext cx="10733557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示意架构：展示分析路径，不代表某一产品已实现或已验证的能力。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训练优化应围绕质量与耗时共同验证</a:t>
            </a:r>
          </a:p>
        </p:txBody>
      </p:sp>
      <p:sp>
        <p:nvSpPr>
          <p:cNvPr id="100" name="">
            <a:extLst>
              <a:ext uri="{FF2B5EF4-FFF2-40B4-BE49-F238E27FC236}">
                <a16:creationId id="{1696A317-4551-4B32-8EAF-669A4535F76C}"/>
              </a:ext>
            </a:extLst>
          </p:cNvPr>
          <p:cNvSpPr>
            <a:spLocks noGrp="1"/>
          </p:cNvSpPr>
          <p:nvPr/>
        </p:nvSpPr>
        <p:spPr>
          <a:xfrm>
            <a:off x="736908" y="1930614"/>
            <a:ext cx="2383352" cy="7810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54D1EE86-85F6-4A87-8283-2C43C8442A66}"/>
              </a:ext>
            </a:extLst>
          </p:cNvPr>
          <p:cNvSpPr>
            <a:spLocks noGrp="1"/>
          </p:cNvSpPr>
          <p:nvPr/>
        </p:nvSpPr>
        <p:spPr>
          <a:xfrm>
            <a:off x="870258" y="2168739"/>
            <a:ext cx="21166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固定输入</a:t>
            </a:r>
          </a:p>
        </p:txBody>
      </p:sp>
      <p:sp>
        <p:nvSpPr>
          <p:cNvPr id="102" name="">
            <a:extLst>
              <a:ext uri="{FF2B5EF4-FFF2-40B4-BE49-F238E27FC236}">
                <a16:creationId id="{0A5D7FF2-6A65-4600-930D-F845EC065E3F}"/>
              </a:ext>
            </a:extLst>
          </p:cNvPr>
          <p:cNvSpPr>
            <a:spLocks noGrp="1"/>
          </p:cNvSpPr>
          <p:nvPr/>
        </p:nvSpPr>
        <p:spPr>
          <a:xfrm>
            <a:off x="736908" y="2978364"/>
            <a:ext cx="2383352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模型与版本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数据与配方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精度与批量</a:t>
            </a:r>
          </a:p>
        </p:txBody>
      </p:sp>
      <p:sp>
        <p:nvSpPr>
          <p:cNvPr id="103" name="">
            <a:extLst>
              <a:ext uri="{FF2B5EF4-FFF2-40B4-BE49-F238E27FC236}">
                <a16:creationId id="{52557827-E713-43F1-BC45-752131263F3A}"/>
              </a:ext>
            </a:extLst>
          </p:cNvPr>
          <p:cNvSpPr>
            <a:spLocks noGrp="1"/>
          </p:cNvSpPr>
          <p:nvPr/>
        </p:nvSpPr>
        <p:spPr>
          <a:xfrm>
            <a:off x="3520310" y="1930614"/>
            <a:ext cx="2383352" cy="7810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4" name="">
            <a:extLst>
              <a:ext uri="{FF2B5EF4-FFF2-40B4-BE49-F238E27FC236}">
                <a16:creationId id="{6B0C77E5-8C00-4569-A6A7-C8DDA4A8EB05}"/>
              </a:ext>
            </a:extLst>
          </p:cNvPr>
          <p:cNvSpPr>
            <a:spLocks noGrp="1"/>
          </p:cNvSpPr>
          <p:nvPr/>
        </p:nvSpPr>
        <p:spPr>
          <a:xfrm>
            <a:off x="3653660" y="2168739"/>
            <a:ext cx="21166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105" name="">
            <a:extLst>
              <a:ext uri="{FF2B5EF4-FFF2-40B4-BE49-F238E27FC236}">
                <a16:creationId id="{A3490E35-45BE-438C-A62E-CA3E730CF661}"/>
              </a:ext>
            </a:extLst>
          </p:cNvPr>
          <p:cNvSpPr>
            <a:spLocks noGrp="1"/>
          </p:cNvSpPr>
          <p:nvPr/>
        </p:nvSpPr>
        <p:spPr>
          <a:xfrm>
            <a:off x="3520310" y="2978364"/>
            <a:ext cx="2383352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任务质量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端到端耗时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资源占用</a:t>
            </a:r>
          </a:p>
        </p:txBody>
      </p:sp>
      <p:sp>
        <p:nvSpPr>
          <p:cNvPr id="106" name="">
            <a:extLst>
              <a:ext uri="{FF2B5EF4-FFF2-40B4-BE49-F238E27FC236}">
                <a16:creationId id="{3686C71A-0D10-47F3-B194-272891701B21}"/>
              </a:ext>
            </a:extLst>
          </p:cNvPr>
          <p:cNvSpPr>
            <a:spLocks noGrp="1"/>
          </p:cNvSpPr>
          <p:nvPr/>
        </p:nvSpPr>
        <p:spPr>
          <a:xfrm>
            <a:off x="6303712" y="1930614"/>
            <a:ext cx="2383352" cy="7810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07" name="">
            <a:extLst>
              <a:ext uri="{FF2B5EF4-FFF2-40B4-BE49-F238E27FC236}">
                <a16:creationId id="{C178AA17-A00E-49F6-AE12-CE659153EC0A}"/>
              </a:ext>
            </a:extLst>
          </p:cNvPr>
          <p:cNvSpPr>
            <a:spLocks noGrp="1"/>
          </p:cNvSpPr>
          <p:nvPr/>
        </p:nvSpPr>
        <p:spPr>
          <a:xfrm>
            <a:off x="6437062" y="2168739"/>
            <a:ext cx="21166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定位瓶颈</a:t>
            </a:r>
          </a:p>
        </p:txBody>
      </p:sp>
      <p:sp>
        <p:nvSpPr>
          <p:cNvPr id="108" name="">
            <a:extLst>
              <a:ext uri="{FF2B5EF4-FFF2-40B4-BE49-F238E27FC236}">
                <a16:creationId id="{CF1C45E1-6CD9-46CC-AC30-C784930751B9}"/>
              </a:ext>
            </a:extLst>
          </p:cNvPr>
          <p:cNvSpPr>
            <a:spLocks noGrp="1"/>
          </p:cNvSpPr>
          <p:nvPr/>
        </p:nvSpPr>
        <p:spPr>
          <a:xfrm>
            <a:off x="6303712" y="2978364"/>
            <a:ext cx="2383352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算子与访存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并行与通信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数据等待</a:t>
            </a:r>
          </a:p>
        </p:txBody>
      </p:sp>
      <p:sp>
        <p:nvSpPr>
          <p:cNvPr id="109" name="">
            <a:extLst>
              <a:ext uri="{FF2B5EF4-FFF2-40B4-BE49-F238E27FC236}">
                <a16:creationId id="{E1B7AD09-9335-4A24-AAC6-02F7A766625D}"/>
              </a:ext>
            </a:extLst>
          </p:cNvPr>
          <p:cNvSpPr>
            <a:spLocks noGrp="1"/>
          </p:cNvSpPr>
          <p:nvPr/>
        </p:nvSpPr>
        <p:spPr>
          <a:xfrm>
            <a:off x="9087113" y="1930614"/>
            <a:ext cx="2383352" cy="781050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</p:sp>
      <p:sp>
        <p:nvSpPr>
          <p:cNvPr id="110" name="">
            <a:extLst>
              <a:ext uri="{FF2B5EF4-FFF2-40B4-BE49-F238E27FC236}">
                <a16:creationId id="{6363632B-4362-48C1-AAF1-9162402F5503}"/>
              </a:ext>
            </a:extLst>
          </p:cNvPr>
          <p:cNvSpPr>
            <a:spLocks noGrp="1"/>
          </p:cNvSpPr>
          <p:nvPr/>
        </p:nvSpPr>
        <p:spPr>
          <a:xfrm>
            <a:off x="9220463" y="2168739"/>
            <a:ext cx="2116652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复测交付</a:t>
            </a:r>
          </a:p>
        </p:txBody>
      </p:sp>
      <p:sp>
        <p:nvSpPr>
          <p:cNvPr id="111" name="">
            <a:extLst>
              <a:ext uri="{FF2B5EF4-FFF2-40B4-BE49-F238E27FC236}">
                <a16:creationId id="{B8BF5059-6B2F-4BAB-AC08-FF1FC3DF3D57}"/>
              </a:ext>
            </a:extLst>
          </p:cNvPr>
          <p:cNvSpPr>
            <a:spLocks noGrp="1"/>
          </p:cNvSpPr>
          <p:nvPr/>
        </p:nvSpPr>
        <p:spPr>
          <a:xfrm>
            <a:off x="9087113" y="2978364"/>
            <a:ext cx="2383352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等质量比较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多次重复</a:t>
            </a:r>
          </a:p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保留配置与日志</a:t>
            </a:r>
          </a:p>
        </p:txBody>
      </p:sp>
      <p:sp>
        <p:nvSpPr>
          <p:cNvPr id="112" name="">
            <a:extLst>
              <a:ext uri="{FF2B5EF4-FFF2-40B4-BE49-F238E27FC236}">
                <a16:creationId id="{35D938B7-AEB1-4EB9-BA9F-EFE9C77AED64}"/>
              </a:ext>
            </a:extLst>
          </p:cNvPr>
          <p:cNvSpPr>
            <a:spLocks noGrp="1"/>
          </p:cNvSpPr>
          <p:nvPr/>
        </p:nvSpPr>
        <p:spPr>
          <a:xfrm>
            <a:off x="3215510" y="2235414"/>
            <a:ext cx="209550" cy="1619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3" name="">
            <a:extLst>
              <a:ext uri="{FF2B5EF4-FFF2-40B4-BE49-F238E27FC236}">
                <a16:creationId id="{57AF4B78-1445-49A6-9372-BFE09470FA80}"/>
              </a:ext>
            </a:extLst>
          </p:cNvPr>
          <p:cNvSpPr>
            <a:spLocks noGrp="1"/>
          </p:cNvSpPr>
          <p:nvPr/>
        </p:nvSpPr>
        <p:spPr>
          <a:xfrm>
            <a:off x="5998912" y="2235414"/>
            <a:ext cx="209550" cy="1619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4" name="">
            <a:extLst>
              <a:ext uri="{FF2B5EF4-FFF2-40B4-BE49-F238E27FC236}">
                <a16:creationId id="{4B2B6516-F319-456C-9D84-18BEC7E5AC67}"/>
              </a:ext>
            </a:extLst>
          </p:cNvPr>
          <p:cNvSpPr>
            <a:spLocks noGrp="1"/>
          </p:cNvSpPr>
          <p:nvPr/>
        </p:nvSpPr>
        <p:spPr>
          <a:xfrm>
            <a:off x="8782313" y="2235414"/>
            <a:ext cx="209550" cy="161925"/>
          </a:xfrm>
          <a:prstGeom prst="rightArrow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15" name="">
            <a:extLst>
              <a:ext uri="{FF2B5EF4-FFF2-40B4-BE49-F238E27FC236}">
                <a16:creationId id="{D865E484-E092-4EC9-B895-A06BDC1E297D}"/>
              </a:ext>
            </a:extLst>
          </p:cNvPr>
          <p:cNvSpPr>
            <a:spLocks noGrp="1"/>
          </p:cNvSpPr>
          <p:nvPr/>
        </p:nvSpPr>
        <p:spPr>
          <a:xfrm>
            <a:off x="736908" y="4692864"/>
            <a:ext cx="10733557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验收以达到相同质量的总耗时为核心，吞吐作为过程指标。</a:t>
            </a:r>
          </a:p>
        </p:txBody>
      </p:sp>
      <p:sp>
        <p:nvSpPr>
          <p:cNvPr id="116" name="">
            <a:extLst>
              <a:ext uri="{FF2B5EF4-FFF2-40B4-BE49-F238E27FC236}">
                <a16:creationId id="{A06D9B55-D2C5-47B2-963C-75F1E805FD2D}"/>
              </a:ext>
            </a:extLst>
          </p:cNvPr>
          <p:cNvSpPr>
            <a:spLocks noGrp="1"/>
          </p:cNvSpPr>
          <p:nvPr/>
        </p:nvSpPr>
        <p:spPr>
          <a:xfrm>
            <a:off x="736908" y="5731089"/>
            <a:ext cx="10733557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建议验证流程：尚未绑定客户、目标平台或实测结果。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统一比较口径才能判断优化是否有效</a:t>
            </a:r>
          </a:p>
        </p:txBody>
      </p:sp>
      <p:graphicFrame>
        <p:nvGraphicFramePr>
          <p:cNvPr id="100" name=""/>
          <p:cNvGraphicFramePr/>
          <p:nvPr/>
        </p:nvGraphicFramePr>
        <p:xfrm>
          <a:off x="736908" y="1578189"/>
          <a:ext cx="10733557" cy="3371850"/>
        </p:xfrm>
        <a:graphic>
          <a:graphicData uri="http://schemas.openxmlformats.org/drawingml/2006/table">
            <a:tbl>
              <a:tblPr firstRow="0" bandRow="0"/>
              <a:tblGrid>
                <a:gridCol w="2146711"/>
                <a:gridCol w="4293423"/>
                <a:gridCol w="4293423"/>
              </a:tblGrid>
              <a:tr h="67437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14300" marR="114300" marT="114300" marB="9525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基线方案</a:t>
                      </a:r>
                    </a:p>
                  </a:txBody>
                  <a:tcPr marL="114300" marR="114300" marT="114300" marB="9525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候选方案</a:t>
                      </a:r>
                    </a:p>
                  </a:txBody>
                  <a:tcPr marL="114300" marR="114300" marT="114300" marB="95250" anchor="ctr">
                    <a:solidFill>
                      <a:srgbClr val="EBEBE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模型与输入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固定版本、视角与历史长度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与基线保持一致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训练条件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记录精度、批量与数据配方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只改变待验证的优化项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评测指标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质量、耗时、显存与通信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在相同口径下逐项复测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结论边界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保存完整基线与环境记录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说明收益、代价和适用条件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">
            <a:extLst>
              <a:ext uri="{FF2B5EF4-FFF2-40B4-BE49-F238E27FC236}">
                <a16:creationId id="{D5C285F6-68F6-4E5F-AB56-B802895AD9AC}"/>
              </a:ext>
            </a:extLst>
          </p:cNvPr>
          <p:cNvSpPr>
            <a:spLocks noGrp="1"/>
          </p:cNvSpPr>
          <p:nvPr/>
        </p:nvSpPr>
        <p:spPr>
          <a:xfrm>
            <a:off x="736908" y="5731089"/>
            <a:ext cx="10733557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同口径对比模板：所有结果待实测，不预填加速比或成本收益。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公开证据与目标平台结论需要分开呈现</a:t>
            </a:r>
          </a:p>
        </p:txBody>
      </p:sp>
      <p:sp>
        <p:nvSpPr>
          <p:cNvPr id="100" name="">
            <a:extLst>
              <a:ext uri="{FF2B5EF4-FFF2-40B4-BE49-F238E27FC236}">
                <a16:creationId id="{02585A0C-0C43-43BF-A782-19FA1F9FAA8E}"/>
              </a:ext>
            </a:extLst>
          </p:cNvPr>
          <p:cNvSpPr>
            <a:spLocks noGrp="1"/>
          </p:cNvSpPr>
          <p:nvPr/>
        </p:nvSpPr>
        <p:spPr>
          <a:xfrm>
            <a:off x="736908" y="1578189"/>
            <a:ext cx="6225463" cy="3514725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</p:sp>
      <p:sp>
        <p:nvSpPr>
          <p:cNvPr id="101" name="">
            <a:extLst>
              <a:ext uri="{FF2B5EF4-FFF2-40B4-BE49-F238E27FC236}">
                <a16:creationId id="{AD6D34C1-A689-4E6F-86F4-DFEFC0FD85C5}"/>
              </a:ext>
            </a:extLst>
          </p:cNvPr>
          <p:cNvSpPr>
            <a:spLocks noGrp="1"/>
          </p:cNvSpPr>
          <p:nvPr/>
        </p:nvSpPr>
        <p:spPr>
          <a:xfrm>
            <a:off x="927408" y="1740114"/>
            <a:ext cx="5844463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证据记录</a:t>
            </a:r>
          </a:p>
        </p:txBody>
      </p:sp>
      <p:sp>
        <p:nvSpPr>
          <p:cNvPr id="102" name="">
            <a:extLst>
              <a:ext uri="{FF2B5EF4-FFF2-40B4-BE49-F238E27FC236}">
                <a16:creationId id="{F721B7DF-F511-49B6-BDC4-FA776B376EEB}"/>
              </a:ext>
            </a:extLst>
          </p:cNvPr>
          <p:cNvSpPr>
            <a:spLocks noGrp="1"/>
          </p:cNvSpPr>
          <p:nvPr/>
        </p:nvSpPr>
        <p:spPr>
          <a:xfrm>
            <a:off x="927408" y="2378289"/>
            <a:ext cx="5844463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论文或官方报告：机制与适用条件</a:t>
            </a:r>
          </a:p>
        </p:txBody>
      </p:sp>
      <p:sp>
        <p:nvSpPr>
          <p:cNvPr id="103" name="">
            <a:extLst>
              <a:ext uri="{FF2B5EF4-FFF2-40B4-BE49-F238E27FC236}">
                <a16:creationId id="{7475D229-7836-4B79-931D-162498DD7BA8}"/>
              </a:ext>
            </a:extLst>
          </p:cNvPr>
          <p:cNvSpPr>
            <a:spLocks noGrp="1"/>
          </p:cNvSpPr>
          <p:nvPr/>
        </p:nvSpPr>
        <p:spPr>
          <a:xfrm>
            <a:off x="927408" y="3073614"/>
            <a:ext cx="5844463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厂商自报：指标、对象与测试口径</a:t>
            </a:r>
          </a:p>
        </p:txBody>
      </p:sp>
      <p:sp>
        <p:nvSpPr>
          <p:cNvPr id="104" name="">
            <a:extLst>
              <a:ext uri="{FF2B5EF4-FFF2-40B4-BE49-F238E27FC236}">
                <a16:creationId id="{3B93340D-8326-442D-B57E-674C57ADF7E0}"/>
              </a:ext>
            </a:extLst>
          </p:cNvPr>
          <p:cNvSpPr>
            <a:spLocks noGrp="1"/>
          </p:cNvSpPr>
          <p:nvPr/>
        </p:nvSpPr>
        <p:spPr>
          <a:xfrm>
            <a:off x="927408" y="3768939"/>
            <a:ext cx="5844463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目标平台：版本、配置与复测记录</a:t>
            </a:r>
          </a:p>
        </p:txBody>
      </p:sp>
      <p:sp>
        <p:nvSpPr>
          <p:cNvPr id="105" name="">
            <a:extLst>
              <a:ext uri="{FF2B5EF4-FFF2-40B4-BE49-F238E27FC236}">
                <a16:creationId id="{2BF7BB31-95FE-46A5-9C1D-5074799BB5DF}"/>
              </a:ext>
            </a:extLst>
          </p:cNvPr>
          <p:cNvSpPr>
            <a:spLocks noGrp="1"/>
          </p:cNvSpPr>
          <p:nvPr/>
        </p:nvSpPr>
        <p:spPr>
          <a:xfrm>
            <a:off x="7286221" y="1740114"/>
            <a:ext cx="4184244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判断与边界</a:t>
            </a:r>
          </a:p>
        </p:txBody>
      </p:sp>
      <p:sp>
        <p:nvSpPr>
          <p:cNvPr id="106" name="">
            <a:extLst>
              <a:ext uri="{FF2B5EF4-FFF2-40B4-BE49-F238E27FC236}">
                <a16:creationId id="{911CF014-7054-49DF-A0D9-6E563B54BC44}"/>
              </a:ext>
            </a:extLst>
          </p:cNvPr>
          <p:cNvSpPr>
            <a:spLocks noGrp="1"/>
          </p:cNvSpPr>
          <p:nvPr/>
        </p:nvSpPr>
        <p:spPr>
          <a:xfrm>
            <a:off x="7286221" y="2378289"/>
            <a:ext cx="4184244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事实：原文直接支持的结论，附页码、图号或链接。</a:t>
            </a:r>
          </a:p>
        </p:txBody>
      </p:sp>
      <p:sp>
        <p:nvSpPr>
          <p:cNvPr id="107" name="">
            <a:extLst>
              <a:ext uri="{FF2B5EF4-FFF2-40B4-BE49-F238E27FC236}">
                <a16:creationId id="{5F2A4764-1589-4B16-BFC2-4F2B611D208F}"/>
              </a:ext>
            </a:extLst>
          </p:cNvPr>
          <p:cNvSpPr>
            <a:spLocks noGrp="1"/>
          </p:cNvSpPr>
          <p:nvPr/>
        </p:nvSpPr>
        <p:spPr>
          <a:xfrm>
            <a:off x="7286221" y="3216489"/>
            <a:ext cx="4184244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推断：从机制到负载的分析，写清假设。</a:t>
            </a:r>
          </a:p>
        </p:txBody>
      </p:sp>
      <p:sp>
        <p:nvSpPr>
          <p:cNvPr id="108" name="">
            <a:extLst>
              <a:ext uri="{FF2B5EF4-FFF2-40B4-BE49-F238E27FC236}">
                <a16:creationId id="{409D49C4-6FAF-491A-B8F1-401FFBF7FAAB}"/>
              </a:ext>
            </a:extLst>
          </p:cNvPr>
          <p:cNvSpPr>
            <a:spLocks noGrp="1"/>
          </p:cNvSpPr>
          <p:nvPr/>
        </p:nvSpPr>
        <p:spPr>
          <a:xfrm>
            <a:off x="7286221" y="4054689"/>
            <a:ext cx="4184244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待验证：目标平台收益与工程代价，列入测试计划。</a:t>
            </a:r>
          </a:p>
        </p:txBody>
      </p:sp>
      <p:sp>
        <p:nvSpPr>
          <p:cNvPr id="109" name="">
            <a:extLst>
              <a:ext uri="{FF2B5EF4-FFF2-40B4-BE49-F238E27FC236}">
                <a16:creationId id="{08B99A91-2031-4E74-953F-6F9CEC7E5BA7}"/>
              </a:ext>
            </a:extLst>
          </p:cNvPr>
          <p:cNvSpPr>
            <a:spLocks noGrp="1"/>
          </p:cNvSpPr>
          <p:nvPr/>
        </p:nvSpPr>
        <p:spPr>
          <a:xfrm>
            <a:off x="736908" y="5731089"/>
            <a:ext cx="10733557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证据呈现示例：此页展示记录方法，不引用或宣称任何厂商性能。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a16="http://schemas.microsoft.com/office/drawing/2014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id="{C6ADB1D9-336D-594D-9418-4BC486843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/>
              <a:t>联合验证应以可复现交付物作为验收依据</a:t>
            </a:r>
          </a:p>
        </p:txBody>
      </p:sp>
      <p:graphicFrame>
        <p:nvGraphicFramePr>
          <p:cNvPr id="100" name=""/>
          <p:cNvGraphicFramePr/>
          <p:nvPr/>
        </p:nvGraphicFramePr>
        <p:xfrm>
          <a:off x="736908" y="1578189"/>
          <a:ext cx="10733557" cy="3476625"/>
        </p:xfrm>
        <a:graphic>
          <a:graphicData uri="http://schemas.openxmlformats.org/drawingml/2006/table">
            <a:tbl>
              <a:tblPr firstRow="0" bandRow="0"/>
              <a:tblGrid>
                <a:gridCol w="2146711"/>
                <a:gridCol w="4293423"/>
                <a:gridCol w="4293423"/>
              </a:tblGrid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14300" marR="114300" marT="114300" marB="9525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双方需确认的工作</a:t>
                      </a:r>
                    </a:p>
                  </a:txBody>
                  <a:tcPr marL="114300" marR="114300" marT="114300" marB="95250" anchor="ctr"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可检查的交付物</a:t>
                      </a:r>
                    </a:p>
                  </a:txBody>
                  <a:tcPr marL="114300" marR="114300" marT="114300" marB="95250" anchor="ctr">
                    <a:solidFill>
                      <a:srgbClr val="EBEBE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定义基线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模型方提供配方；平台方固化环境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版本清单、基线配置与日志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定位与优化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共同确认瓶颈及优化范围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性能剖析、变更项与对照实验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复测与验收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共同确认质量阈值与复现条件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等质量结果、复现脚本与限制说明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C7000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复用与推广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确认客户约束及可复用资产边界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99" b="0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适用场景、交付清单与待办事项</a:t>
                      </a:r>
                    </a:p>
                  </a:txBody>
                  <a:tcPr marL="11430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" name="">
            <a:extLst>
              <a:ext uri="{FF2B5EF4-FFF2-40B4-BE49-F238E27FC236}">
                <a16:creationId id="{D8BE1DAE-417C-4D94-B87F-77119D210FC0}"/>
              </a:ext>
            </a:extLst>
          </p:cNvPr>
          <p:cNvSpPr>
            <a:spLocks noGrp="1"/>
          </p:cNvSpPr>
          <p:nvPr/>
        </p:nvSpPr>
        <p:spPr>
          <a:xfrm>
            <a:off x="736908" y="5731089"/>
            <a:ext cx="10733557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9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建议方案：分工、资源、周期及验收阈值须由项目双方另行确认。</a:t>
            </a:r>
          </a:p>
        </p:txBody>
      </p:sp>
    </p:spTree>
    <p:extLst>
      <p:ext uri="{BB962C8B-B14F-4D97-AF65-F5344CB8AC3E}">
        <p14:creationId val="2067755560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3252022315"/>
      </p:ext>
    </p:extLst>
  </p:cSld>
  <p:clrMapOvr>
    <a:masterClrMapping/>
  </p:clrMapOvr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emplate>MWC 19-PPT模板-白底 16比9</ns0:Template>
  <ns0:TotalTime>88</ns0:TotalTime>
  <ns0:Words>55</ns0:Words>
  <ns0:Application>Microsoft Office PowerPoint</ns0:Application>
  <ns0:PresentationFormat>自定义</ns0:PresentationFormat>
  <ns0:Paragraphs>49</ns0:Paragraphs>
  <ns0:Slides>8</ns0:Slides>
  <ns0:Notes>1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5</ns1:i4>
      </ns1:variant>
      <ns1:variant>
        <ns1:lpstr>主题</ns1:lpstr>
      </ns1:variant>
      <ns1:variant>
        <ns1:i4>4</ns1:i4>
      </ns1:variant>
      <ns1:variant>
        <ns1:lpstr>幻灯片标题</ns1:lpstr>
      </ns1:variant>
      <ns1:variant>
        <ns1:i4>5</ns1:i4>
      </ns1:variant>
    </ns1:vector>
  </ns0:HeadingPairs>
  <ns0:TitlesOfParts>
    <ns1:vector size="14" baseType="lpstr">
      <ns1:lpstr>黑体</ns1:lpstr>
      <ns1:lpstr>Microsoft YaHei</ns1:lpstr>
      <ns1:lpstr>Arial</ns1:lpstr>
      <ns1:lpstr>Calibri</ns1:lpstr>
      <ns1:lpstr>Calibri Light</ns1:lpstr>
      <ns1:lpstr>1_Title Slide</ns1:lpstr>
      <ns1:lpstr>Chart page</ns1:lpstr>
      <ns1:lpstr>4_Chart page</ns1:lpstr>
      <ns1:lpstr>End page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Company>Huawei Technologies Co.,Ltd.</ns0:Company>
  <ns0:LinksUpToDate>false</ns0:LinksUpToDate>
  <ns0:SharedDoc>false</ns0:SharedDoc>
  <ns0:HyperlinksChanged>false</ns0:HyperlinksChanged>
  <ns0:AppVersion>15.0000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
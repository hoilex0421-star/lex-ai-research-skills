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lex-content/ppt/slides/charts/chart1.xml" ContentType="application/vnd.openxmlformats-officedocument.drawingml.chart+xml"/>
  <Override PartName="/ppt/lex-content/ppt/embeddings/chart-data-snapshot-001.xlsx" ContentType="application/vnd.openxmlformats-officedocument.spreadsheetml.sheet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lex-content/ppt/media/image.png" ContentType="image/png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lex-content/ppt/media/image10.png" ContentType="image/png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lex-content/ppt/slides/charts/chart2.xml" ContentType="application/vnd.openxmlformats-officedocument.drawingml.chart+xml"/>
  <Override PartName="/ppt/lex-content/ppt/embeddings/chart-data-snapshot-002.xlsx" ContentType="application/vnd.openxmlformats-officedocument.spreadsheetml.sheet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lex-content/ppt/slides/charts/chart3.xml" ContentType="application/vnd.openxmlformats-officedocument.drawingml.chart+xml"/>
  <Override PartName="/ppt/lex-content/ppt/embeddings/chart-data-snapshot-003.xlsx" ContentType="application/vnd.openxmlformats-officedocument.spreadsheetml.sheet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lex-content/ppt/media/image17.png" ContentType="image/png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lex-content/ppt/slides/charts/chart4.xml" ContentType="application/vnd.openxmlformats-officedocument.drawingml.chart+xml"/>
  <Override PartName="/ppt/lex-content/ppt/embeddings/chart-data-snapshot-004.xlsx" ContentType="application/vnd.openxmlformats-officedocument.spreadsheetml.sheet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lex-content/ppt/slides/charts/chart5.xml" ContentType="application/vnd.openxmlformats-officedocument.drawingml.chart+xml"/>
  <Override PartName="/ppt/lex-content/ppt/embeddings/chart-data-snapshot-005.xlsx" ContentType="application/vnd.openxmlformats-officedocument.spreadsheetml.sheet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lex-content/ppt/slides/charts/chart6.xml" ContentType="application/vnd.openxmlformats-officedocument.drawingml.chart+xml"/>
  <Override PartName="/ppt/lex-content/ppt/embeddings/chart-data-snapshot-006.xlsx" ContentType="application/vnd.openxmlformats-officedocument.spreadsheetml.sheet"/>
  <Override PartName="/ppt/lex-content/ppt/slides/charts/chart7.xml" ContentType="application/vnd.openxmlformats-officedocument.drawingml.chart+xml"/>
  <Override PartName="/ppt/lex-content/ppt/embeddings/chart-data-snapshot-007.xlsx" ContentType="application/vnd.openxmlformats-officedocument.spreadsheetml.sheet"/>
  <Override PartName="/ppt/lex-content/ppt/slides/charts/chart8.xml" ContentType="application/vnd.openxmlformats-officedocument.drawingml.chart+xml"/>
  <Override PartName="/ppt/lex-content/ppt/embeddings/chart-data-snapshot-008.xlsx" ContentType="application/vnd.openxmlformats-officedocument.spreadsheetml.sheet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10"/>
  </p:notesMasterIdLst>
  <p:handoutMasterIdLst>
    <p:handoutMasterId r:id="rId11"/>
  </p:handoutMasterIdLst>
  <p:sldIdLst>
    <p:sldId id="256" r:id="lexSlide1"/>
    <p:sldId id="257" r:id="lexSlide2"/>
    <p:sldId id="258" r:id="lexSlide3"/>
    <p:sldId id="259" r:id="lexSlide4"/>
    <p:sldId id="260" r:id="lexSlide5"/>
    <p:sldId id="261" r:id="lexSlide6"/>
    <p:sldId id="262" r:id="lexSlide7"/>
    <p:sldId id="263" r:id="lexSlide8"/>
    <p:sldId id="264" r:id="lexSlide9"/>
    <p:sldId id="265" r:id="lexSlide10"/>
    <p:sldId id="266" r:id="lexSlide11"/>
    <p:sldId id="267" r:id="lexSlide12"/>
    <p:sldId id="268" r:id="lexSlide13"/>
    <p:sldId id="269" r:id="lexSlide14"/>
    <p:sldId id="270" r:id="lexSlide15"/>
    <p:sldId id="271" r:id="lexSlide16"/>
    <p:sldId id="272" r:id="lexSlide17"/>
    <p:sldId id="273" r:id="lexSlide18"/>
    <p:sldId id="274" r:id="lexSlide19"/>
    <p:sldId id="275" r:id="lexSlide20"/>
    <p:sldId id="276" r:id="lexSlide21"/>
    <p:sldId id="277" r:id="lexSlide22"/>
    <p:sldId id="278" r:id="lexSlide23"/>
    <p:sldId id="279" r:id="lexSlide24"/>
    <p:sldId id="280" r:id="lexSlide25"/>
    <p:sldId id="281" r:id="lexSlide26"/>
    <p:sldId id="282" r:id="lexSlide27"/>
    <p:sldId id="283" r:id="lexSlide28"/>
    <p:sldId id="284" r:id="lexSlide29"/>
    <p:sldId id="285" r:id="lexSlide30"/>
    <p:sldId id="286" r:id="lexSlide31"/>
    <p:sldId id="287" r:id="lexSlide32"/>
    <p:sldId id="288" r:id="lexSlide33"/>
    <p:sldId id="289" r:id="lexSlide34"/>
    <p:sldId id="290" r:id="lexSlide35"/>
    <p:sldId id="291" r:id="lexSlide36"/>
    <p:sldId id="292" r:id="lexSlide37"/>
    <p:sldId id="293" r:id="lexSlide38"/>
    <p:sldId id="294" r:id="lexSlide39"/>
    <p:sldId id="295" r:id="lexSlide40"/>
    <p:sldId id="296" r:id="lexSlide41"/>
    <p:sldId id="297" r:id="lexSlide42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C7000B"/>
    <a:srgbClr val="575756"/>
    <a:srgbClr val="FFFFFF"/>
    <a:srgbClr val="DD4654"/>
    <a:srgbClr val="F3D2D5"/>
    <a:srgbClr val="E6A8AD"/>
    <a:srgbClr val="E57B84"/>
    <a:srgbClr val="E57984"/>
    <a:srgbClr val="BF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88" d="100"/>
          <a:sy n="88" d="100"/>
        </p:scale>
        <p:origin x="460" y="68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?>
<Relationships xmlns="http://schemas.openxmlformats.org/package/2006/relationships"><Relationship Id="rId13" Type="http://schemas.openxmlformats.org/officeDocument/2006/relationships/viewProps" Target="viewProps.xml" /><Relationship Id="rId3" Type="http://schemas.openxmlformats.org/officeDocument/2006/relationships/slideMaster" Target="slideMasters/slideMaster3.xml" /><Relationship Id="rId12" Type="http://schemas.openxmlformats.org/officeDocument/2006/relationships/presProps" Target="presProps.xml" /><Relationship Id="rId2" Type="http://schemas.openxmlformats.org/officeDocument/2006/relationships/slideMaster" Target="slideMasters/slideMaster2.xml" /><Relationship Id="rId1" Type="http://schemas.openxmlformats.org/officeDocument/2006/relationships/slideMaster" Target="slideMasters/slideMaster1.xml" /><Relationship Id="rId11" Type="http://schemas.openxmlformats.org/officeDocument/2006/relationships/handoutMaster" Target="handoutMasters/handoutMaster1.xml" /><Relationship Id="rId15" Type="http://schemas.openxmlformats.org/officeDocument/2006/relationships/tableStyles" Target="tableStyles.xml" /><Relationship Id="rId10" Type="http://schemas.openxmlformats.org/officeDocument/2006/relationships/notesMaster" Target="notesMasters/notesMaster1.xml" /><Relationship Id="rId4" Type="http://schemas.openxmlformats.org/officeDocument/2006/relationships/slideMaster" Target="slideMasters/slideMaster4.xml" /><Relationship Id="rId14" Type="http://schemas.openxmlformats.org/officeDocument/2006/relationships/theme" Target="theme/theme1.xml" /><Relationship Id="lexSlide1" Type="http://schemas.openxmlformats.org/officeDocument/2006/relationships/slide" Target="slides/slide1.xml" /><Relationship Id="lexSlide2" Type="http://schemas.openxmlformats.org/officeDocument/2006/relationships/slide" Target="slides/slide2.xml" /><Relationship Id="lexSlide3" Type="http://schemas.openxmlformats.org/officeDocument/2006/relationships/slide" Target="slides/slide3.xml" /><Relationship Id="lexSlide4" Type="http://schemas.openxmlformats.org/officeDocument/2006/relationships/slide" Target="slides/slide4.xml" /><Relationship Id="lexSlide5" Type="http://schemas.openxmlformats.org/officeDocument/2006/relationships/slide" Target="slides/slide5.xml" /><Relationship Id="lexSlide6" Type="http://schemas.openxmlformats.org/officeDocument/2006/relationships/slide" Target="slides/slide6.xml" /><Relationship Id="lexSlide7" Type="http://schemas.openxmlformats.org/officeDocument/2006/relationships/slide" Target="slides/slide7.xml" /><Relationship Id="lexSlide8" Type="http://schemas.openxmlformats.org/officeDocument/2006/relationships/slide" Target="slides/slide8.xml" /><Relationship Id="lexSlide9" Type="http://schemas.openxmlformats.org/officeDocument/2006/relationships/slide" Target="slides/slide9.xml" /><Relationship Id="lexSlide10" Type="http://schemas.openxmlformats.org/officeDocument/2006/relationships/slide" Target="slides/slide10.xml" /><Relationship Id="lexSlide11" Type="http://schemas.openxmlformats.org/officeDocument/2006/relationships/slide" Target="slides/slide11.xml" /><Relationship Id="lexSlide12" Type="http://schemas.openxmlformats.org/officeDocument/2006/relationships/slide" Target="slides/slide12.xml" /><Relationship Id="lexSlide13" Type="http://schemas.openxmlformats.org/officeDocument/2006/relationships/slide" Target="slides/slide13.xml" /><Relationship Id="lexSlide14" Type="http://schemas.openxmlformats.org/officeDocument/2006/relationships/slide" Target="slides/slide14.xml" /><Relationship Id="lexSlide15" Type="http://schemas.openxmlformats.org/officeDocument/2006/relationships/slide" Target="slides/slide15.xml" /><Relationship Id="lexSlide16" Type="http://schemas.openxmlformats.org/officeDocument/2006/relationships/slide" Target="slides/slide16.xml" /><Relationship Id="lexSlide17" Type="http://schemas.openxmlformats.org/officeDocument/2006/relationships/slide" Target="slides/slide17.xml" /><Relationship Id="lexSlide18" Type="http://schemas.openxmlformats.org/officeDocument/2006/relationships/slide" Target="slides/slide18.xml" /><Relationship Id="lexSlide19" Type="http://schemas.openxmlformats.org/officeDocument/2006/relationships/slide" Target="slides/slide19.xml" /><Relationship Id="lexSlide20" Type="http://schemas.openxmlformats.org/officeDocument/2006/relationships/slide" Target="slides/slide20.xml" /><Relationship Id="lexSlide21" Type="http://schemas.openxmlformats.org/officeDocument/2006/relationships/slide" Target="slides/slide21.xml" /><Relationship Id="lexSlide22" Type="http://schemas.openxmlformats.org/officeDocument/2006/relationships/slide" Target="slides/slide22.xml" /><Relationship Id="lexSlide23" Type="http://schemas.openxmlformats.org/officeDocument/2006/relationships/slide" Target="slides/slide23.xml" /><Relationship Id="lexSlide24" Type="http://schemas.openxmlformats.org/officeDocument/2006/relationships/slide" Target="slides/slide24.xml" /><Relationship Id="lexSlide25" Type="http://schemas.openxmlformats.org/officeDocument/2006/relationships/slide" Target="slides/slide25.xml" /><Relationship Id="lexSlide26" Type="http://schemas.openxmlformats.org/officeDocument/2006/relationships/slide" Target="slides/slide26.xml" /><Relationship Id="lexSlide27" Type="http://schemas.openxmlformats.org/officeDocument/2006/relationships/slide" Target="slides/slide27.xml" /><Relationship Id="lexSlide28" Type="http://schemas.openxmlformats.org/officeDocument/2006/relationships/slide" Target="slides/slide28.xml" /><Relationship Id="lexSlide29" Type="http://schemas.openxmlformats.org/officeDocument/2006/relationships/slide" Target="slides/slide29.xml" /><Relationship Id="lexSlide30" Type="http://schemas.openxmlformats.org/officeDocument/2006/relationships/slide" Target="slides/slide30.xml" /><Relationship Id="lexSlide31" Type="http://schemas.openxmlformats.org/officeDocument/2006/relationships/slide" Target="slides/slide31.xml" /><Relationship Id="lexSlide32" Type="http://schemas.openxmlformats.org/officeDocument/2006/relationships/slide" Target="slides/slide32.xml" /><Relationship Id="lexSlide33" Type="http://schemas.openxmlformats.org/officeDocument/2006/relationships/slide" Target="slides/slide33.xml" /><Relationship Id="lexSlide34" Type="http://schemas.openxmlformats.org/officeDocument/2006/relationships/slide" Target="slides/slide34.xml" /><Relationship Id="lexSlide35" Type="http://schemas.openxmlformats.org/officeDocument/2006/relationships/slide" Target="slides/slide35.xml" /><Relationship Id="lexSlide36" Type="http://schemas.openxmlformats.org/officeDocument/2006/relationships/slide" Target="slides/slide36.xml" /><Relationship Id="lexSlide37" Type="http://schemas.openxmlformats.org/officeDocument/2006/relationships/slide" Target="slides/slide37.xml" /><Relationship Id="lexSlide38" Type="http://schemas.openxmlformats.org/officeDocument/2006/relationships/slide" Target="slides/slide38.xml" /><Relationship Id="lexSlide39" Type="http://schemas.openxmlformats.org/officeDocument/2006/relationships/slide" Target="slides/slide39.xml" /><Relationship Id="lexSlide40" Type="http://schemas.openxmlformats.org/officeDocument/2006/relationships/slide" Target="slides/slide40.xml" /><Relationship Id="lexSlide41" Type="http://schemas.openxmlformats.org/officeDocument/2006/relationships/slide" Target="slides/slide41.xml" /><Relationship Id="lexSlide42" Type="http://schemas.openxmlformats.org/officeDocument/2006/relationships/slide" Target="slides/slide42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lex-content/ppt/slides/charts/_rels/chart1.xml.rels><?xml version='1.0' encoding='utf-8'?>
<Relationships xmlns="http://schemas.openxmlformats.org/package/2006/relationships"><Relationship Id="rIdChartSnapshot1" Type="http://schemas.openxmlformats.org/officeDocument/2006/relationships/package" Target="../../embeddings/chart-data-snapshot-001.xlsx" /></Relationships>
</file>

<file path=ppt/lex-content/ppt/slides/charts/_rels/chart2.xml.rels><?xml version='1.0' encoding='utf-8'?>
<Relationships xmlns="http://schemas.openxmlformats.org/package/2006/relationships"><Relationship Id="rIdChartSnapshot1" Type="http://schemas.openxmlformats.org/officeDocument/2006/relationships/package" Target="../../embeddings/chart-data-snapshot-002.xlsx" /></Relationships>
</file>

<file path=ppt/lex-content/ppt/slides/charts/_rels/chart3.xml.rels><?xml version='1.0' encoding='utf-8'?>
<Relationships xmlns="http://schemas.openxmlformats.org/package/2006/relationships"><Relationship Id="rIdChartSnapshot1" Type="http://schemas.openxmlformats.org/officeDocument/2006/relationships/package" Target="../../embeddings/chart-data-snapshot-003.xlsx" /></Relationships>
</file>

<file path=ppt/lex-content/ppt/slides/charts/_rels/chart4.xml.rels><?xml version='1.0' encoding='utf-8'?>
<Relationships xmlns="http://schemas.openxmlformats.org/package/2006/relationships"><Relationship Id="rIdChartSnapshot1" Type="http://schemas.openxmlformats.org/officeDocument/2006/relationships/package" Target="../../embeddings/chart-data-snapshot-004.xlsx" /></Relationships>
</file>

<file path=ppt/lex-content/ppt/slides/charts/_rels/chart5.xml.rels><?xml version='1.0' encoding='utf-8'?>
<Relationships xmlns="http://schemas.openxmlformats.org/package/2006/relationships"><Relationship Id="rIdChartSnapshot1" Type="http://schemas.openxmlformats.org/officeDocument/2006/relationships/package" Target="../../embeddings/chart-data-snapshot-005.xlsx" /></Relationships>
</file>

<file path=ppt/lex-content/ppt/slides/charts/_rels/chart6.xml.rels><?xml version='1.0' encoding='utf-8'?>
<Relationships xmlns="http://schemas.openxmlformats.org/package/2006/relationships"><Relationship Id="rIdChartSnapshot1" Type="http://schemas.openxmlformats.org/officeDocument/2006/relationships/package" Target="../../embeddings/chart-data-snapshot-006.xlsx" /></Relationships>
</file>

<file path=ppt/lex-content/ppt/slides/charts/_rels/chart7.xml.rels><?xml version='1.0' encoding='utf-8'?>
<Relationships xmlns="http://schemas.openxmlformats.org/package/2006/relationships"><Relationship Id="rIdChartSnapshot1" Type="http://schemas.openxmlformats.org/officeDocument/2006/relationships/package" Target="../../embeddings/chart-data-snapshot-007.xlsx" /></Relationships>
</file>

<file path=ppt/lex-content/ppt/slides/charts/_rels/chart8.xml.rels><?xml version='1.0' encoding='utf-8'?>
<Relationships xmlns="http://schemas.openxmlformats.org/package/2006/relationships"><Relationship Id="rIdChartSnapshot1" Type="http://schemas.openxmlformats.org/officeDocument/2006/relationships/package" Target="../../embeddings/chart-data-snapshot-008.xlsx" /></Relationships>
</file>

<file path=ppt/lex-content/ppt/slides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分钟</c:v>
          </c:tx>
          <c:spPr>
            <a:solidFill>
              <a:srgbClr val="C7000A"/>
            </a:solidFill>
          </c:spPr>
          <c:cat>
            <c:strRef>
              <c:f>'Chart Data'!$A$2:$A$5</c:f>
              <c:strCache>
                <c:ptCount val="4"/>
                <c:pt idx="0">
                  <c:v>数据等待</c:v>
                </c:pt>
                <c:pt idx="1">
                  <c:v>前向与反向</c:v>
                </c:pt>
                <c:pt idx="2">
                  <c:v>通信同步</c:v>
                </c:pt>
                <c:pt idx="3">
                  <c:v>参数更新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18</c:v>
                </c:pt>
                <c:pt idx="1">
                  <c:v>12</c:v>
                </c:pt>
                <c:pt idx="2">
                  <c:v>6</c:v>
                </c:pt>
                <c:pt idx="3">
                  <c:v>4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 sz="1299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sz="1299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</a:rPr>
                  <a:t>单轮耗时（分钟）</a:t>
                </a:r>
              </a:p>
            </c:rich>
          </c:tx>
          <c:overlay val="0"/>
          <c:txPr>
            <a:bodyPr anchorCtr="1"/>
            <a:lstStyle/>
            <a:p>
              <a:pPr>
                <a:defRPr sz="1299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99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99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lex-content/ppt/slides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验收通过</c:v>
          </c:tx>
          <c:spPr>
            <a:solidFill>
              <a:srgbClr val="C7000A"/>
            </a:solidFill>
          </c:spPr>
          <c:cat>
            <c:strRef>
              <c:f>'Chart Data'!$A$2:$A$4</c:f>
              <c:strCache>
                <c:ptCount val="3"/>
                <c:pt idx="0">
                  <c:v>第1月</c:v>
                </c:pt>
                <c:pt idx="1">
                  <c:v>第2月</c:v>
                </c:pt>
                <c:pt idx="2">
                  <c:v>第3月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32</c:v>
                </c:pt>
                <c:pt idx="2">
                  <c:v>40</c:v>
                </c:pt>
              </c:numCache>
            </c:numRef>
          </c:val>
        </c:ser>
        <c:ser>
          <c:idx val="1"/>
          <c:order val="1"/>
          <c:tx>
            <c:v>待补充</c:v>
          </c:tx>
          <c:spPr>
            <a:solidFill>
              <a:srgbClr val="666666"/>
            </a:solidFill>
          </c:spPr>
          <c:cat>
            <c:strRef>
              <c:f>'Chart Data'!$C$2:$C$4</c:f>
              <c:strCache>
                <c:ptCount val="3"/>
                <c:pt idx="0">
                  <c:v>第1月</c:v>
                </c:pt>
                <c:pt idx="1">
                  <c:v>第2月</c:v>
                </c:pt>
                <c:pt idx="2">
                  <c:v>第3月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6</c:v>
                </c:pt>
                <c:pt idx="1">
                  <c:v>8</c:v>
                </c:pt>
                <c:pt idx="2">
                  <c:v>10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 sz="1299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7620">
            <a:solidFill>
              <a:srgbClr val="919191"/>
            </a:solidFill>
          </a:ln>
        </c:spPr>
        <c:txPr>
          <a:bodyPr anchorCtr="1"/>
          <a:lstStyle/>
          <a:p>
            <a:pPr>
              <a:defRPr sz="1299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99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</a:rPr>
                  <a:t>数据批次</a:t>
                </a:r>
              </a:p>
            </c:rich>
          </c:tx>
          <c:overlay val="0"/>
          <c:txPr>
            <a:bodyPr anchorCtr="1"/>
            <a:lstStyle/>
            <a:p>
              <a:pPr>
                <a:defRPr sz="1299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99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/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299">
              <a:solidFill>
                <a:srgbClr val="1D1D1A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noFill/>
    <a:ln w="0">
      <a:noFill/>
    </a:ln>
  </c:spPr>
  <c:externalData r:id="rIdChartSnapshot1">
    <c:autoUpdate val="0"/>
  </c:externalData>
</c:chartSpace>
</file>

<file path=ppt/lex-content/ppt/slides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验收批次</c:v>
          </c:tx>
          <c:spPr>
            <a:solidFill>
              <a:srgbClr val="919191"/>
            </a:solidFill>
          </c:spPr>
          <c:cat>
            <c:strRef>
              <c:f>'Chart Data'!$A$2:$A$7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18</c:v>
                </c:pt>
                <c:pt idx="1">
                  <c:v>25</c:v>
                </c:pt>
                <c:pt idx="2">
                  <c:v>33</c:v>
                </c:pt>
                <c:pt idx="3">
                  <c:v>41</c:v>
                </c:pt>
                <c:pt idx="4">
                  <c:v>48</c:v>
                </c:pt>
                <c:pt idx="5">
                  <c:v>60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 sz="1299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lineChart>
        <c:grouping val="standard"/>
        <c:ser>
          <c:idx val="1"/>
          <c:order val="1"/>
          <c:tx>
            <c:v>一次通过率（%）</c:v>
          </c:tx>
          <c:spPr>
            <a:ln w="28575">
              <a:solidFill>
                <a:srgbClr val="C7000A"/>
              </a:solidFill>
            </a:ln>
          </c:spPr>
          <c:marker>
            <c:symbol val="circle"/>
            <c:size val="6"/>
          </c:marker>
          <c:cat>
            <c:strRef>
              <c:f>'Chart Data'!$C$2:$C$7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62</c:v>
                </c:pt>
                <c:pt idx="1">
                  <c:v>66</c:v>
                </c:pt>
                <c:pt idx="2">
                  <c:v>71</c:v>
                </c:pt>
                <c:pt idx="3">
                  <c:v>75</c:v>
                </c:pt>
                <c:pt idx="4">
                  <c:v>79</c:v>
                </c:pt>
                <c:pt idx="5">
                  <c:v>82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 sz="1299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99999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7620">
            <a:solidFill>
              <a:srgbClr val="919191"/>
            </a:solidFill>
          </a:ln>
        </c:spPr>
        <c:txPr>
          <a:bodyPr anchorCtr="1"/>
          <a:lstStyle/>
          <a:p>
            <a:pPr>
              <a:defRPr sz="1299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99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valAx>
        <c:axId val="48699999"/>
        <c:scaling>
          <c:orientation val="minMax"/>
          <c:max val="100"/>
          <c:min val="0"/>
        </c:scaling>
        <c:delete val="0"/>
        <c:axPos val="r"/>
        <c:numFmt formatCode="0&quot;%&quot;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99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 val="max"/>
        <c:crossBetween val="between"/>
      </c:valAx>
      <c:spPr>
        <a:noFill/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299">
              <a:solidFill>
                <a:srgbClr val="1D1D1A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noFill/>
    <a:ln w="0">
      <a:noFill/>
    </a:ln>
  </c:spPr>
  <c:externalData r:id="rIdChartSnapshot1">
    <c:autoUpdate val="0"/>
  </c:externalData>
</c:chartSpace>
</file>

<file path=ppt/lex-content/ppt/slides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演示占比</c:v>
          </c:tx>
          <c:spPr>
            <a:solidFill>
              <a:srgbClr val="C7000A"/>
            </a:solidFill>
          </c:spPr>
          <c:dPt>
            <c:idx val="0"/>
            <c:spPr>
              <a:solidFill>
                <a:srgbClr val="C7000A"/>
              </a:solidFill>
            </c:spPr>
          </c:dPt>
          <c:dPt>
            <c:idx val="1"/>
            <c:spPr>
              <a:solidFill>
                <a:srgbClr val="666666"/>
              </a:solidFill>
            </c:spPr>
          </c:dPt>
          <c:dPt>
            <c:idx val="2"/>
            <c:spPr>
              <a:solidFill>
                <a:srgbClr val="F4A100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SOM</c:v>
                </c:pt>
                <c:pt idx="1">
                  <c:v>SAM其余</c:v>
                </c:pt>
                <c:pt idx="2">
                  <c:v>TAM其余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200</c:v>
                </c:pt>
                <c:pt idx="1">
                  <c:v>600</c:v>
                </c:pt>
                <c:pt idx="2">
                  <c:v>1600</c:v>
                </c:pt>
              </c:numCache>
            </c:numRef>
          </c:val>
        </c:ser>
        <c:dLbls>
          <c:dLbl>
            <c:idx val="0"/>
            <c:txPr>
              <a:bodyPr anchorCtr="1"/>
              <a:lstStyle/>
              <a:p>
                <a:pPr>
                  <a:defRPr sz="1299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</c:dLbl>
          <c:dLbl>
            <c:idx val="1"/>
            <c:txPr>
              <a:bodyPr anchorCtr="1"/>
              <a:lstStyle/>
              <a:p>
                <a:pPr>
                  <a:defRPr sz="1299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</c:dLbl>
          <c:dLbl>
            <c:idx val="2"/>
            <c:txPr>
              <a:bodyPr anchorCtr="1"/>
              <a:lstStyle/>
              <a:p>
                <a:pPr>
                  <a:defRPr sz="1299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</c:dLbl>
          <c:dLblPos val="ctr"/>
          <c:txPr>
            <a:bodyPr anchorCtr="1"/>
            <a:lstStyle/>
            <a:p>
              <a:pPr>
                <a:defRPr sz="1299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holeSize val="62"/>
      </c:doughnutChart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lex-content/ppt/slides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演示占比</c:v>
          </c:tx>
          <c:spPr>
            <a:solidFill>
              <a:srgbClr val="C7000A"/>
            </a:solidFill>
          </c:spPr>
          <c:dPt>
            <c:idx val="0"/>
            <c:spPr>
              <a:solidFill>
                <a:srgbClr val="C7000A"/>
              </a:solidFill>
            </c:spPr>
          </c:dPt>
          <c:dPt>
            <c:idx val="1"/>
            <c:spPr>
              <a:solidFill>
                <a:srgbClr val="666666"/>
              </a:solidFill>
            </c:spPr>
          </c:dPt>
          <c:dPt>
            <c:idx val="2"/>
            <c:spPr>
              <a:solidFill>
                <a:srgbClr val="F4A100"/>
              </a:solidFill>
            </c:spPr>
          </c:dPt>
          <c:dPt>
            <c:idx val="3"/>
            <c:spPr>
              <a:solidFill>
                <a:srgbClr val="919191"/>
              </a:solidFill>
            </c:spPr>
          </c:dPt>
          <c:dPt>
            <c:idx val="4"/>
            <c:spPr>
              <a:solidFill>
                <a:srgbClr val="C4C4C4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采集与质检</c:v>
                </c:pt>
                <c:pt idx="1">
                  <c:v>训练与算力</c:v>
                </c:pt>
                <c:pt idx="2">
                  <c:v>工程集成</c:v>
                </c:pt>
                <c:pt idx="3">
                  <c:v>评测与现场</c:v>
                </c:pt>
                <c:pt idx="4">
                  <c:v>项目预备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240</c:v>
                </c:pt>
                <c:pt idx="1">
                  <c:v>150</c:v>
                </c:pt>
                <c:pt idx="2">
                  <c:v>90</c:v>
                </c:pt>
                <c:pt idx="3">
                  <c:v>60</c:v>
                </c:pt>
                <c:pt idx="4">
                  <c:v>60</c:v>
                </c:pt>
              </c:numCache>
            </c:numRef>
          </c:val>
        </c:ser>
        <c:dLbls>
          <c:dLbl>
            <c:idx val="0"/>
            <c:txPr>
              <a:bodyPr anchorCtr="1"/>
              <a:lstStyle/>
              <a:p>
                <a:pPr>
                  <a:defRPr sz="1299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</c:dLbl>
          <c:dLbl>
            <c:idx val="1"/>
            <c:txPr>
              <a:bodyPr anchorCtr="1"/>
              <a:lstStyle/>
              <a:p>
                <a:pPr>
                  <a:defRPr sz="1299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</c:dLbl>
          <c:dLbl>
            <c:idx val="2"/>
            <c:txPr>
              <a:bodyPr anchorCtr="1"/>
              <a:lstStyle/>
              <a:p>
                <a:pPr>
                  <a:defRPr sz="1299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</c:dLbl>
          <c:dLbl>
            <c:idx val="3"/>
            <c:txPr>
              <a:bodyPr anchorCtr="1"/>
              <a:lstStyle/>
              <a:p>
                <a:pPr>
                  <a:defRPr sz="1299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</c:dLbl>
          <c:dLbl>
            <c:idx val="4"/>
            <c:txPr>
              <a:bodyPr anchorCtr="1"/>
              <a:lstStyle/>
              <a:p>
                <a:pPr>
                  <a:defRPr sz="1299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</c:dLbl>
          <c:dLblPos val="ctr"/>
          <c:txPr>
            <a:bodyPr anchorCtr="1"/>
            <a:lstStyle/>
            <a:p>
              <a:pPr>
                <a:defRPr sz="1299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holeSize val="62"/>
      </c:doughnutChart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lex-content/ppt/slides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占比</c:v>
          </c:tx>
          <c:spPr>
            <a:solidFill>
              <a:srgbClr val="C7000A"/>
            </a:solidFill>
          </c:spPr>
          <c:dPt>
            <c:idx val="0"/>
            <c:invertIfNegative val="0"/>
            <c:spPr>
              <a:solidFill>
                <a:srgbClr val="C7000A"/>
              </a:solidFill>
            </c:spPr>
          </c:dPt>
          <c:dPt>
            <c:idx val="1"/>
            <c:invertIfNegative val="0"/>
            <c:spPr>
              <a:solidFill>
                <a:srgbClr val="919191"/>
              </a:solidFill>
            </c:spPr>
          </c:dPt>
          <c:dPt>
            <c:idx val="2"/>
            <c:invertIfNegative val="0"/>
            <c:spPr>
              <a:solidFill>
                <a:srgbClr val="F4A100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方案A</c:v>
                </c:pt>
                <c:pt idx="1">
                  <c:v>方案B</c:v>
                </c:pt>
                <c:pt idx="2">
                  <c:v>方案C</c:v>
                </c:pt>
              </c:strCache>
            </c:strRef>
          </c:cat>
          <c:val>
            <c:numRef>
              <c:f>'Chart Data'!$B$2:$B$4</c:f>
              <c:numCache>
                <c:formatCode>0"%"</c:formatCode>
                <c:ptCount val="3"/>
                <c:pt idx="0">
                  <c:v>52</c:v>
                </c:pt>
                <c:pt idx="1">
                  <c:v>28</c:v>
                </c:pt>
                <c:pt idx="2">
                  <c:v>20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 sz="1299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7620">
            <a:solidFill>
              <a:srgbClr val="919191"/>
            </a:solidFill>
          </a:ln>
        </c:spPr>
        <c:txPr>
          <a:bodyPr anchorCtr="1"/>
          <a:lstStyle/>
          <a:p>
            <a:pPr>
              <a:defRPr sz="1299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numFmt formatCode="0&quot;%&quot;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99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lex-content/ppt/slides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占比</c:v>
          </c:tx>
          <c:spPr>
            <a:solidFill>
              <a:srgbClr val="C7000A"/>
            </a:solidFill>
          </c:spPr>
          <c:dPt>
            <c:idx val="0"/>
            <c:invertIfNegative val="0"/>
            <c:spPr>
              <a:solidFill>
                <a:srgbClr val="C7000A"/>
              </a:solidFill>
            </c:spPr>
          </c:dPt>
          <c:dPt>
            <c:idx val="1"/>
            <c:invertIfNegative val="0"/>
            <c:spPr>
              <a:solidFill>
                <a:srgbClr val="919191"/>
              </a:solidFill>
            </c:spPr>
          </c:dPt>
          <c:dPt>
            <c:idx val="2"/>
            <c:invertIfNegative val="0"/>
            <c:spPr>
              <a:solidFill>
                <a:srgbClr val="F4A100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方案A</c:v>
                </c:pt>
                <c:pt idx="1">
                  <c:v>方案B</c:v>
                </c:pt>
                <c:pt idx="2">
                  <c:v>方案C</c:v>
                </c:pt>
              </c:strCache>
            </c:strRef>
          </c:cat>
          <c:val>
            <c:numRef>
              <c:f>'Chart Data'!$B$2:$B$4</c:f>
              <c:numCache>
                <c:formatCode>0"%"</c:formatCode>
                <c:ptCount val="3"/>
                <c:pt idx="0">
                  <c:v>30</c:v>
                </c:pt>
                <c:pt idx="1">
                  <c:v>45</c:v>
                </c:pt>
                <c:pt idx="2">
                  <c:v>25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 sz="1299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7620">
            <a:solidFill>
              <a:srgbClr val="919191"/>
            </a:solidFill>
          </a:ln>
        </c:spPr>
        <c:txPr>
          <a:bodyPr anchorCtr="1"/>
          <a:lstStyle/>
          <a:p>
            <a:pPr>
              <a:defRPr sz="1299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numFmt formatCode="0&quot;%&quot;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99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lex-content/ppt/slides/charts/chart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占比</c:v>
          </c:tx>
          <c:spPr>
            <a:solidFill>
              <a:srgbClr val="C7000A"/>
            </a:solidFill>
          </c:spPr>
          <c:dPt>
            <c:idx val="0"/>
            <c:invertIfNegative val="0"/>
            <c:spPr>
              <a:solidFill>
                <a:srgbClr val="C7000A"/>
              </a:solidFill>
            </c:spPr>
          </c:dPt>
          <c:dPt>
            <c:idx val="1"/>
            <c:invertIfNegative val="0"/>
            <c:spPr>
              <a:solidFill>
                <a:srgbClr val="919191"/>
              </a:solidFill>
            </c:spPr>
          </c:dPt>
          <c:dPt>
            <c:idx val="2"/>
            <c:invertIfNegative val="0"/>
            <c:spPr>
              <a:solidFill>
                <a:srgbClr val="F4A100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方案A</c:v>
                </c:pt>
                <c:pt idx="1">
                  <c:v>方案B</c:v>
                </c:pt>
                <c:pt idx="2">
                  <c:v>方案C</c:v>
                </c:pt>
              </c:strCache>
            </c:strRef>
          </c:cat>
          <c:val>
            <c:numRef>
              <c:f>'Chart Data'!$B$2:$B$4</c:f>
              <c:numCache>
                <c:formatCode>0"%"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40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 sz="1299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7620">
            <a:solidFill>
              <a:srgbClr val="919191"/>
            </a:solidFill>
          </a:ln>
        </c:spPr>
        <c:txPr>
          <a:bodyPr anchorCtr="1"/>
          <a:lstStyle/>
          <a:p>
            <a:pPr>
              <a:defRPr sz="1299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numFmt formatCode="0&quot;%&quot;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99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?>
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<?xml version='1.0' encoding='utf-8'?>
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<?xml version='1.0' encoding='utf-8'?>
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<?xml version='1.0' encoding='utf-8'?>
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<?xml version='1.0' encoding='utf-8'?>
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<?xml version='1.0' encoding='utf-8'?>
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<?xml version='1.0' encoding='utf-8'?>
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<?xml version='1.0' encoding='utf-8'?>
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<?xml version='1.0' encoding='utf-8'?>
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<?xml version='1.0' encoding='utf-8'?>
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<?xml version='1.0' encoding='utf-8'?>
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<?xml version='1.0' encoding='utf-8'?>
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<?xml version='1.0' encoding='utf-8'?>
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<?xml version='1.0' encoding='utf-8'?>
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<?xml version='1.0' encoding='utf-8'?>
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<?xml version='1.0' encoding='utf-8'?>
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<?xml version='1.0' encoding='utf-8'?>
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<?xml version='1.0' encoding='utf-8'?>
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<?xml version='1.0' encoding='utf-8'?>
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<?xml version='1.0' encoding='utf-8'?>
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<?xml version='1.0' encoding='utf-8'?>
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<?xml version='1.0' encoding='utf-8'?>
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<?xml version='1.0' encoding='utf-8'?>
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<?xml version='1.0' encoding='utf-8'?>
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<?xml version='1.0' encoding='utf-8'?>
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<?xml version='1.0' encoding='utf-8'?>
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<?xml version='1.0' encoding='utf-8'?>
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<?xml version='1.0' encoding='utf-8'?>
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<?xml version='1.0' encoding='utf-8'?>
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<?xml version='1.0' encoding='utf-8'?>
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<?xml version='1.0' encoding='utf-8'?>
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<?xml version='1.0' encoding='utf-8'?>
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<?xml version='1.0' encoding='utf-8'?>
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H01 Cover：封面。页型组织参考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H02 Agenda：目录。页型组织参考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H03 Section Divider：章节导航。页型组织参考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H04 Title Body：观点正文。页型组织参考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本页口径：原创分析示例；未对应真实项目承诺或平台实测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H05 Three Cards：三项能力。页型组织参考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本页口径：原创分析示例；未对应真实项目承诺或平台实测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H06 Vertical Timeline：纵向时间线。页型组织参考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本页口径：建议十二周试点节奏；周期与退出条件待双方确认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H07 Data Bars：横向数据条。页型组织参考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本页口径：演示数据：40分钟拆分为18+12+6+4；不是实测加速结论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H08 Process Arrow：流程箭头。页型组织参考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本页口径：原创分析示例；未对应真实项目承诺或平台实测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H09 Image Evidence Grid：图片证据网格。页型组织参考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本页口径：AI场景示意；文字为建议证据字段，不是真实实验照片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H10 Closing：结束页。页型组织参考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H11 Framed Foreword：研究前言。页型组织参考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本页口径：原创分析示例；未对应真实项目承诺或平台实测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H12 Media Report Split：图文报告。页型组织参考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本页口径：AI场景示意与原创案例设定；非公开产品能力或真实客户项目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H13 Captioned Image Strip：五图说明条。页型组织参考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本页口径：五图为AI生成场景示意；每阶段配一类可追溯交付物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H14 Team Profiles：团队角色。页型组织参考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本页口径：AI生成虚构角色；展示职责分工，不代表真实团队或个人履历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H15 KPI Dashboard：KPI看板。页型组织参考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本页口径：演示数据；通过率按批次计算，不代表样本质量或业务结果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H16 Combo Chart：柱线组合。页型组织参考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本页口径：演示数据；柱为批次、线为通过率，右轴单位为%；未归因于真实产品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H17 Central Hub：中心辐射。页型组织参考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本页口径：原创分析示例；未对应真实项目承诺或平台实测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H18 Diagonal Roadmap：斜向路线图。页型组织参考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本页口径：建议成熟度路径；每级以可检查的退出条件判断，而非按时间自动晋级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H19 Circular Case Cluster：圆形案例簇。页型组织参考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本页口径：AI场景示意；候选应用不表示真实客户覆盖或产品已验证能力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H20 Icon Matrix：能力图标矩阵。页型组织参考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本页口径：建议能力清单；并非对某个现有平台实现状态的声明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H21 Map Locations：地图点位。页型组织参考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本页口径：AI生成虚构园区地图；点位用于示例，不对应实际客户或真实地理布局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H22 Growth Staircase：增长阶梯。页型组织参考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本页口径：演示规划数；非经营预测，新增项目须先验证客户需求与交付能力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H23 Gear Process：齿轮协同。页型组织参考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本页口径：原创分析示例；未对应真实项目承诺或平台实测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H24 Arrow Callout Timeline：箭头时间线。页型组织参考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本页口径：建议推进路径；以完成条件推进，不预设合同或已承诺日期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H25 Photo Quote：现场引语。页型组织参考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本页口径：AI场景示意；文字为原创情景表达，不是真实客户引语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H26 Metaphor Compare：战略隐喻对比。页型组织参考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本页口径：结构隐喻：基础宽度表达依赖关系，不表示资源或性能数值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H27 Problem Overview：问题拆解。页型组织参考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本页口径：原创分析示例；未对应真实项目承诺或平台实测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H28 Market Size Donut：市场空间圆环。页型组织参考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本页口径：纯演算假设，不是市场调查、收入预测或投资建议；需验证客户数与付费意愿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H29 Funding Use Donut：预算分配圆环。页型组织参考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本页口径：假设预算，不代表实际融资或资源申请；金额合计600万元，占比合计100%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H30 Mini Market Share Charts：三组份额图。页型组织参考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本页口径：合成份额数据；每个场景A/B/C合计100%，不代表真实厂商或市场份额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H31 Business Model Cards：商业模式。页型组织参考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本页口径：商业模式假设；价格、授权、需求和毛利均需另行验证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H32 KPI Square Loop：KPI循环。页型组织参考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本页口径：指标与数值均为示例；四项分母不同，不可相乘得到整体成功率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H33 Pricing Table：服务定价。页型组织参考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本页口径：虚构服务报价示例；税费、授权、算力和变更范围须在合同中另行确认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H34 SWOT Dark Panel：SWOT分析。页型组织参考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本页口径：针对虚构试点的战略分析示例；深色仅用于正文面板，保留官方白色页壳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H35 Gantt Milestones：甘特计划。页型组织参考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本页口径：建议12周排期；依赖为规格→基线→对照→复测，实际资源与周期待确认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H36 Client Testimonials：客户反馈。页型组织参考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本页口径：虚构访谈情景，非真实客户证言或合作背书；用于示范如何把反馈转成验收项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H37 Human Agent Loop：人机协作闭环。页型组织参考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本页口径：建议协作机制：自动验证不通过则回退；关键决策由具名负责人确认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H38 On In Governance Split：治理与裁决。页型组织参考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本页口径：原创分析示例；未对应真实项目承诺或平台实测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H39 Org Protocol Board：组织协议。页型组织参考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本页口径：原创分析示例；未对应真实项目承诺或平台实测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H40 Matching Engine：任务能力匹配。页型组织参考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本页口径：原创分析示例；未对应真实项目承诺或平台实测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H41 Metaphor Mapping：类比映射。页型组织参考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本页口径：机制类比；不代表制造流程与模型训练在统计性质上完全等同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H42 Before After Case：前后对照案例。页型组织参考 https://github.com/SeanDongX/guizang-ppt-skill/blob/main/references/layouts-huawei.md 。封面、目录/章节、正文及结束页以指定官方模板为准；H03复用官方目录，H34仅正文内容采用深色，官方页面保持白底。所有具体项目、人物、访谈与数值均为原创示例或演算假设，不代表真实客户、已达成合作或平台实测。照片素材为AI生成的场景示意。</a:t>
            </a:r>
          </a:p>
          <a:p>
            <a:r>
              <a:rPr lang="zh-CN"/>
              <a:t>本页口径：合成案例；假设任务与质量门槛相同，不是某公司实测或保证收益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359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4759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/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499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E2C11B17-3CC6-445B-AC71-74F18E4B41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/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>
            <a:extLst>
              <a:ext uri="{FF2B5EF4-FFF2-40B4-BE49-F238E27FC236}">
                <a16:creationId xmlns="" xmlns:a16="http://schemas.microsoft.com/office/drawing/2014/main" id="{D9C13A00-1073-4DDB-80E9-154875087B13}"/>
              </a:ext>
            </a:extLst>
          </p:cNvPr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C897A368-8F39-4049-9BB0-AEB315EB7E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12621051-E1A4-A049-BF21-61B18B348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9974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=""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68422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=""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7" r:id="rId3"/>
    <p:sldLayoutId id="2147483822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565" userDrawn="1">
          <p15:clr>
            <a:srgbClr val="F26B43"/>
          </p15:clr>
        </p15:guide>
        <p15:guide id="4" orient="horz" pos="4007" userDrawn="1">
          <p15:clr>
            <a:srgbClr val="F26B43"/>
          </p15:clr>
        </p15:guide>
        <p15:guide id="5" orient="horz" pos="1235" userDrawn="1">
          <p15:clr>
            <a:srgbClr val="F26B43"/>
          </p15:clr>
        </p15:guide>
        <p15:guide id="6" orient="horz" pos="5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=""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>Copyright©2021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=""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=""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lexNotes" Type="http://schemas.openxmlformats.org/officeDocument/2006/relationships/notesSlide" Target="../notesSlides/notesSlide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5.xml" /><Relationship Id="lexNotes" Type="http://schemas.openxmlformats.org/officeDocument/2006/relationships/notesSlide" Target="../notesSlides/notesSlide2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5.xml" /><Relationship Id="lexNotes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6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Type="http://schemas.openxmlformats.org/officeDocument/2006/relationships/chart" Target="../lex-content/ppt/slides/charts/chart1.xml" Id="lexR04abab3a98ee489d" /><Relationship Id="lexNotes" Type="http://schemas.openxmlformats.org/officeDocument/2006/relationships/notesSlide" Target="../notesSlides/notesSlide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Type="http://schemas.openxmlformats.org/officeDocument/2006/relationships/image" Target="../lex-content/ppt/media/image.png" Id="lexR1827ea3304ca4908" /><Relationship Type="http://schemas.openxmlformats.org/officeDocument/2006/relationships/image" Target="../lex-content/ppt/media/image.png" Id="lexRe7e913fb205b4991" /><Relationship Type="http://schemas.openxmlformats.org/officeDocument/2006/relationships/image" Target="../lex-content/ppt/media/image.png" Id="lexRef52f1c708534faa" /><Relationship Id="lexNotes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lexNotes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1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Type="http://schemas.openxmlformats.org/officeDocument/2006/relationships/image" Target="../lex-content/ppt/media/image.png" Id="lexR892267307ae74864" /><Relationship Id="lexNotes" Type="http://schemas.openxmlformats.org/officeDocument/2006/relationships/notesSlide" Target="../notesSlides/notesSlide12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Type="http://schemas.openxmlformats.org/officeDocument/2006/relationships/image" Target="../lex-content/ppt/media/image.png" Id="lexRe4749767590343ba" /><Relationship Type="http://schemas.openxmlformats.org/officeDocument/2006/relationships/image" Target="../lex-content/ppt/media/image.png" Id="lexR4544bb1e8da34769" /><Relationship Type="http://schemas.openxmlformats.org/officeDocument/2006/relationships/image" Target="../lex-content/ppt/media/image.png" Id="lexRb97529e5b2b441bb" /><Relationship Type="http://schemas.openxmlformats.org/officeDocument/2006/relationships/image" Target="../lex-content/ppt/media/image.png" Id="lexRc8de71bcbc834007" /><Relationship Type="http://schemas.openxmlformats.org/officeDocument/2006/relationships/image" Target="../lex-content/ppt/media/image.png" Id="lexR8f98b8b7f8a8468a" /><Relationship Id="lexNotes" Type="http://schemas.openxmlformats.org/officeDocument/2006/relationships/notesSlide" Target="../notesSlides/notesSlide13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Type="http://schemas.openxmlformats.org/officeDocument/2006/relationships/image" Target="../lex-content/ppt/media/image10.png" Id="lexRce3fe91583a44343" /><Relationship Type="http://schemas.openxmlformats.org/officeDocument/2006/relationships/image" Target="../lex-content/ppt/media/image10.png" Id="lexR500b0a9c96f1484f" /><Relationship Type="http://schemas.openxmlformats.org/officeDocument/2006/relationships/image" Target="../lex-content/ppt/media/image10.png" Id="lexR1355be0df7734452" /><Relationship Type="http://schemas.openxmlformats.org/officeDocument/2006/relationships/image" Target="../lex-content/ppt/media/image10.png" Id="lexRf151a9b9c7f24727" /><Relationship Id="lexNotes" Type="http://schemas.openxmlformats.org/officeDocument/2006/relationships/notesSlide" Target="../notesSlides/notesSlide14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Type="http://schemas.openxmlformats.org/officeDocument/2006/relationships/chart" Target="../lex-content/ppt/slides/charts/chart2.xml" Id="lexRc5eea68733e6422c" /><Relationship Id="lexNotes" Type="http://schemas.openxmlformats.org/officeDocument/2006/relationships/notesSlide" Target="../notesSlides/notesSlide15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Type="http://schemas.openxmlformats.org/officeDocument/2006/relationships/chart" Target="../lex-content/ppt/slides/charts/chart3.xml" Id="lexR0705d765d87f4b12" /><Relationship Id="lexNotes" Type="http://schemas.openxmlformats.org/officeDocument/2006/relationships/notesSlide" Target="../notesSlides/notesSlide16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17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18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Type="http://schemas.openxmlformats.org/officeDocument/2006/relationships/image" Target="../lex-content/ppt/media/image.png" Id="lexR7de777f4d3b946c0" /><Relationship Type="http://schemas.openxmlformats.org/officeDocument/2006/relationships/image" Target="../lex-content/ppt/media/image.png" Id="lexR314da73a2aaf42c6" /><Relationship Type="http://schemas.openxmlformats.org/officeDocument/2006/relationships/image" Target="../lex-content/ppt/media/image.png" Id="lexRccdebe5010c14091" /><Relationship Id="lexNotes" Type="http://schemas.openxmlformats.org/officeDocument/2006/relationships/notesSlide" Target="../notesSlides/notesSlide19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20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Type="http://schemas.openxmlformats.org/officeDocument/2006/relationships/image" Target="../lex-content/ppt/media/image17.png" Id="lexRf2e0301e25a04405" /><Relationship Id="lexNotes" Type="http://schemas.openxmlformats.org/officeDocument/2006/relationships/notesSlide" Target="../notesSlides/notesSlide21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22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23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24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Type="http://schemas.openxmlformats.org/officeDocument/2006/relationships/image" Target="../lex-content/ppt/media/image.png" Id="lexRcce4550c08c24e01" /><Relationship Id="lexNotes" Type="http://schemas.openxmlformats.org/officeDocument/2006/relationships/notesSlide" Target="../notesSlides/notesSlide25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26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27.xm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Type="http://schemas.openxmlformats.org/officeDocument/2006/relationships/chart" Target="../lex-content/ppt/slides/charts/chart4.xml" Id="lexR7ac2efd3d917471a" /><Relationship Id="lexNotes" Type="http://schemas.openxmlformats.org/officeDocument/2006/relationships/notesSlide" Target="../notesSlides/notesSlide28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Type="http://schemas.openxmlformats.org/officeDocument/2006/relationships/chart" Target="../lex-content/ppt/slides/charts/chart5.xml" Id="lexR4884b628c1294bd0" /><Relationship Id="lexNotes" Type="http://schemas.openxmlformats.org/officeDocument/2006/relationships/notesSlide" Target="../notesSlides/notesSlide29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Type="http://schemas.openxmlformats.org/officeDocument/2006/relationships/chart" Target="../lex-content/ppt/slides/charts/chart6.xml" Id="lexRa2b431a6d4e24a3b" /><Relationship Type="http://schemas.openxmlformats.org/officeDocument/2006/relationships/chart" Target="../lex-content/ppt/slides/charts/chart7.xml" Id="lexR4ce1769c3c30456b" /><Relationship Type="http://schemas.openxmlformats.org/officeDocument/2006/relationships/chart" Target="../lex-content/ppt/slides/charts/chart8.xml" Id="lexRedc6e934df344d20" /><Relationship Id="lexNotes" Type="http://schemas.openxmlformats.org/officeDocument/2006/relationships/notesSlide" Target="../notesSlides/notesSlide30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31.xm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32.xml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33.xm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34.xml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35.xml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36.xml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37.xml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38.xml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39.xml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40.xml" /></Relationships>
</file>

<file path=ppt/slides/_rels/slide4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41.xml" /></Relationships>
</file>

<file path=ppt/slides/_rels/slide4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42.xml" /></Relationships>
</file>

<file path=ppt/slides/slide1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/>
              <a:t>具身智能技术汇报页型图谱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id="{7F3DB8AC-5DE9-5548-8697-C9055F7FF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/>
              <a:t>主题：具身智能数据与算力服务</a:t>
            </a:r>
          </a:p>
          <a:p>
            <a:r>
              <a:rPr lang="zh-CN"/>
              <a:t>作者：Lex｜42种页型示例</a:t>
            </a:r>
          </a:p>
          <a:p>
            <a:r>
              <a:rPr lang="zh-CN"/>
              <a:t>日期：2026年9月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id="{AF19B9EA-773D-FD4C-8380-847E27C61BE5}"/>
              </a:ext>
            </a:extLst>
          </p:cNvPr>
          <p:cNvSpPr txBox="1">
            <a:spLocks/>
          </p:cNvSpPr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sz="1000" dirty="0"/>
          </a:p>
        </p:txBody>
      </p:sp>
    </p:spTree>
    <p:extLst>
      <p:ext uri="{BB962C8B-B14F-4D97-AF65-F5344CB8AC3E}">
        <p14:creationId val="3632952334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id="{2D83681D-12EE-844E-8C09-E767231D89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3620" y="1843088"/>
            <a:ext cx="10045712" cy="3013725"/>
          </a:xfrm>
        </p:spPr>
        <p:txBody>
          <a:bodyPr/>
          <a:lstStyle/>
          <a:p>
            <a:r>
              <a:rPr lang="zh-CN"/>
              <a:t>基础叙事与信息组织｜H01–H10</a:t>
            </a:r>
          </a:p>
          <a:p>
            <a:r>
              <a:rPr lang="zh-CN"/>
              <a:t>图文、团队与能力模型｜H11–H20</a:t>
            </a:r>
          </a:p>
          <a:p>
            <a:r>
              <a:rPr lang="zh-CN"/>
              <a:t>策略、区域与数据表达｜H21–H30</a:t>
            </a:r>
          </a:p>
          <a:p>
            <a:r>
              <a:rPr lang="zh-CN"/>
              <a:t>商业方案与项目计划｜H31–H36</a:t>
            </a:r>
          </a:p>
          <a:p>
            <a:r>
              <a:rPr lang="zh-CN"/>
              <a:t>人机协作与组织机制｜H37–H42</a:t>
            </a:r>
          </a:p>
        </p:txBody>
      </p:sp>
    </p:spTree>
    <p:extLst>
      <p:ext uri="{BB962C8B-B14F-4D97-AF65-F5344CB8AC3E}">
        <p14:creationId val="802223642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id="{2D83681D-12EE-844E-8C09-E767231D89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3620" y="1843088"/>
            <a:ext cx="10045712" cy="3013725"/>
          </a:xfrm>
        </p:spPr>
        <p:txBody>
          <a:bodyPr/>
          <a:lstStyle/>
          <a:p>
            <a:r>
              <a:rPr lang="zh-CN"/>
              <a:t>基础叙事与信息组织｜H01–H10</a:t>
            </a:r>
          </a:p>
          <a:p>
            <a:r>
              <a:rPr lang="zh-CN">
                <a:solidFill>
                  <a:srgbClr val="C7000A"/>
                </a:solidFill>
              </a:rPr>
              <a:t>图文、团队与能力模型｜H11–H20</a:t>
            </a:r>
          </a:p>
          <a:p>
            <a:r>
              <a:rPr lang="zh-CN"/>
              <a:t>策略、区域与数据表达｜H21–H30</a:t>
            </a:r>
          </a:p>
          <a:p>
            <a:r>
              <a:rPr lang="zh-CN"/>
              <a:t>商业方案与项目计划｜H31–H36</a:t>
            </a:r>
          </a:p>
          <a:p>
            <a:r>
              <a:rPr lang="zh-CN"/>
              <a:t>人机协作与组织机制｜H37–H42</a:t>
            </a:r>
          </a:p>
        </p:txBody>
      </p:sp>
    </p:spTree>
    <p:extLst>
      <p:ext uri="{BB962C8B-B14F-4D97-AF65-F5344CB8AC3E}">
        <p14:creationId val="802223642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算力需求应从任务与负载推导</a:t>
            </a:r>
          </a:p>
        </p:txBody>
      </p:sp>
      <p:sp>
        <p:nvSpPr>
          <p:cNvPr id="100" name="">
            <a:extLst>
              <a:ext uri="{FF2B5EF4-FFF2-40B4-BE49-F238E27FC236}">
                <a16:creationId id="{66F85562-A99C-41C7-AB5A-EACD830687AF}"/>
              </a:ext>
            </a:extLst>
          </p:cNvPr>
          <p:cNvSpPr>
            <a:spLocks noGrp="1"/>
          </p:cNvSpPr>
          <p:nvPr/>
        </p:nvSpPr>
        <p:spPr>
          <a:xfrm>
            <a:off x="736908" y="1616289"/>
            <a:ext cx="5905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问题：模型能力不等于系统需求</a:t>
            </a:r>
          </a:p>
        </p:txBody>
      </p:sp>
      <p:sp>
        <p:nvSpPr>
          <p:cNvPr id="101" name="">
            <a:extLst>
              <a:ext uri="{FF2B5EF4-FFF2-40B4-BE49-F238E27FC236}">
                <a16:creationId id="{CB432FB1-C7BE-4258-887D-9F8739302185}"/>
              </a:ext>
            </a:extLst>
          </p:cNvPr>
          <p:cNvSpPr>
            <a:spLocks noGrp="1"/>
          </p:cNvSpPr>
          <p:nvPr/>
        </p:nvSpPr>
        <p:spPr>
          <a:xfrm>
            <a:off x="736908" y="2025864"/>
            <a:ext cx="59055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同样是动作生成，输入视角、历史帧、动作块长度和去噪步数不同，计算、显存与时延约束也不同。</a:t>
            </a:r>
          </a:p>
        </p:txBody>
      </p:sp>
      <p:sp>
        <p:nvSpPr>
          <p:cNvPr id="102" name="">
            <a:extLst>
              <a:ext uri="{FF2B5EF4-FFF2-40B4-BE49-F238E27FC236}">
                <a16:creationId id="{C1231242-E8AE-44F5-9B64-C1004D7889B1}"/>
              </a:ext>
            </a:extLst>
          </p:cNvPr>
          <p:cNvSpPr>
            <a:spLocks noGrp="1"/>
          </p:cNvSpPr>
          <p:nvPr/>
        </p:nvSpPr>
        <p:spPr>
          <a:xfrm>
            <a:off x="736908" y="3102189"/>
            <a:ext cx="5905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分析：沿实际执行链路拆解</a:t>
            </a:r>
          </a:p>
        </p:txBody>
      </p:sp>
      <p:sp>
        <p:nvSpPr>
          <p:cNvPr id="103" name="">
            <a:extLst>
              <a:ext uri="{FF2B5EF4-FFF2-40B4-BE49-F238E27FC236}">
                <a16:creationId id="{4E7544C0-479F-41DD-9296-61219241C2F0}"/>
              </a:ext>
            </a:extLst>
          </p:cNvPr>
          <p:cNvSpPr>
            <a:spLocks noGrp="1"/>
          </p:cNvSpPr>
          <p:nvPr/>
        </p:nvSpPr>
        <p:spPr>
          <a:xfrm>
            <a:off x="736908" y="3511764"/>
            <a:ext cx="59055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先绑定任务质量和实时要求，再测量数据加载、前向计算、后处理与执行等待；避免用参数量单独推导卡数。</a:t>
            </a:r>
          </a:p>
        </p:txBody>
      </p:sp>
      <p:sp>
        <p:nvSpPr>
          <p:cNvPr id="104" name="">
            <a:extLst>
              <a:ext uri="{FF2B5EF4-FFF2-40B4-BE49-F238E27FC236}">
                <a16:creationId id="{28E97D08-706E-4C82-93A4-C7EDA192D014}"/>
              </a:ext>
            </a:extLst>
          </p:cNvPr>
          <p:cNvSpPr>
            <a:spLocks noGrp="1"/>
          </p:cNvSpPr>
          <p:nvPr/>
        </p:nvSpPr>
        <p:spPr>
          <a:xfrm>
            <a:off x="7261533" y="1616289"/>
            <a:ext cx="4208932" cy="361950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</p:sp>
      <p:sp>
        <p:nvSpPr>
          <p:cNvPr id="105" name="">
            <a:extLst>
              <a:ext uri="{FF2B5EF4-FFF2-40B4-BE49-F238E27FC236}">
                <a16:creationId id="{A4BBC09A-DEC3-4A10-B9D1-179463E09BB5}"/>
              </a:ext>
            </a:extLst>
          </p:cNvPr>
          <p:cNvSpPr>
            <a:spLocks noGrp="1"/>
          </p:cNvSpPr>
          <p:nvPr/>
        </p:nvSpPr>
        <p:spPr>
          <a:xfrm>
            <a:off x="7261533" y="1616289"/>
            <a:ext cx="38100" cy="3619500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6" name="">
            <a:extLst>
              <a:ext uri="{FF2B5EF4-FFF2-40B4-BE49-F238E27FC236}">
                <a16:creationId id="{9345423B-13CA-40E2-B6FF-58E83F0C94D3}"/>
              </a:ext>
            </a:extLst>
          </p:cNvPr>
          <p:cNvSpPr>
            <a:spLocks noGrp="1"/>
          </p:cNvSpPr>
          <p:nvPr/>
        </p:nvSpPr>
        <p:spPr>
          <a:xfrm>
            <a:off x="7452033" y="1797264"/>
            <a:ext cx="382793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面向决策的输出</a:t>
            </a:r>
          </a:p>
        </p:txBody>
      </p:sp>
      <p:sp>
        <p:nvSpPr>
          <p:cNvPr id="107" name="">
            <a:extLst>
              <a:ext uri="{FF2B5EF4-FFF2-40B4-BE49-F238E27FC236}">
                <a16:creationId id="{69F00BCE-C456-4D70-B962-DAD612699EC2}"/>
              </a:ext>
            </a:extLst>
          </p:cNvPr>
          <p:cNvSpPr>
            <a:spLocks noGrp="1"/>
          </p:cNvSpPr>
          <p:nvPr/>
        </p:nvSpPr>
        <p:spPr>
          <a:xfrm>
            <a:off x="7452033" y="2206839"/>
            <a:ext cx="3827932" cy="2876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负载画像</a:t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模型版本、输入规格、精度与批量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瓶颈定位</a:t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显存峰值、通信占比、等待时间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验证建议</a:t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优先实验、质量门槛、复现材料</a:t>
            </a:r>
          </a:p>
        </p:txBody>
      </p:sp>
      <p:sp>
        <p:nvSpPr>
          <p:cNvPr id="108" name="">
            <a:extLst>
              <a:ext uri="{FF2B5EF4-FFF2-40B4-BE49-F238E27FC236}">
                <a16:creationId id="{28E088C5-1822-4AFD-A70D-3C0E8DACEE9B}"/>
              </a:ext>
            </a:extLst>
          </p:cNvPr>
          <p:cNvSpPr>
            <a:spLocks noGrp="1"/>
          </p:cNvSpPr>
          <p:nvPr/>
        </p:nvSpPr>
        <p:spPr>
          <a:xfrm>
            <a:off x="736908" y="4864314"/>
            <a:ext cx="6000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交付物：负载表、基线日志、受约束的优化清单。</a:t>
            </a:r>
          </a:p>
        </p:txBody>
      </p:sp>
      <p:sp>
        <p:nvSpPr>
          <p:cNvPr id="109" name="">
            <a:extLst>
              <a:ext uri="{FF2B5EF4-FFF2-40B4-BE49-F238E27FC236}">
                <a16:creationId id="{00A51F09-90C6-461F-9DB1-9CDD0C2F22DE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H04 · 观点正文｜原创分析示例；未对应真实项目承诺或平台实测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数据、训练与评测需要三类交付能力</a:t>
            </a:r>
          </a:p>
        </p:txBody>
      </p:sp>
      <p:sp>
        <p:nvSpPr>
          <p:cNvPr id="100" name="">
            <a:extLst>
              <a:ext uri="{FF2B5EF4-FFF2-40B4-BE49-F238E27FC236}">
                <a16:creationId id="{1F0B744E-B771-47DD-A764-367A5AE66C37}"/>
              </a:ext>
            </a:extLst>
          </p:cNvPr>
          <p:cNvSpPr>
            <a:spLocks noGrp="1"/>
          </p:cNvSpPr>
          <p:nvPr/>
        </p:nvSpPr>
        <p:spPr>
          <a:xfrm>
            <a:off x="736908" y="1597239"/>
            <a:ext cx="3412752" cy="373380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</p:sp>
      <p:sp>
        <p:nvSpPr>
          <p:cNvPr id="101" name="">
            <a:extLst>
              <a:ext uri="{FF2B5EF4-FFF2-40B4-BE49-F238E27FC236}">
                <a16:creationId id="{471488B1-DAFC-4B94-89C9-F718DE07E6A2}"/>
              </a:ext>
            </a:extLst>
          </p:cNvPr>
          <p:cNvSpPr>
            <a:spLocks noGrp="1"/>
          </p:cNvSpPr>
          <p:nvPr/>
        </p:nvSpPr>
        <p:spPr>
          <a:xfrm>
            <a:off x="736908" y="1597239"/>
            <a:ext cx="38100" cy="3733800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2" name="">
            <a:extLst>
              <a:ext uri="{FF2B5EF4-FFF2-40B4-BE49-F238E27FC236}">
                <a16:creationId id="{1DC7A586-A16F-457A-BFF4-E05ED885B9B6}"/>
              </a:ext>
            </a:extLst>
          </p:cNvPr>
          <p:cNvSpPr>
            <a:spLocks noGrp="1"/>
          </p:cNvSpPr>
          <p:nvPr/>
        </p:nvSpPr>
        <p:spPr>
          <a:xfrm>
            <a:off x="927408" y="1778214"/>
            <a:ext cx="303175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数据工程</a:t>
            </a:r>
          </a:p>
        </p:txBody>
      </p:sp>
      <p:sp>
        <p:nvSpPr>
          <p:cNvPr id="103" name="">
            <a:extLst>
              <a:ext uri="{FF2B5EF4-FFF2-40B4-BE49-F238E27FC236}">
                <a16:creationId id="{4CB7AE92-CB66-4534-AB30-A3E9E6BE162A}"/>
              </a:ext>
            </a:extLst>
          </p:cNvPr>
          <p:cNvSpPr>
            <a:spLocks noGrp="1"/>
          </p:cNvSpPr>
          <p:nvPr/>
        </p:nvSpPr>
        <p:spPr>
          <a:xfrm>
            <a:off x="927408" y="2187789"/>
            <a:ext cx="3031752" cy="2990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输入：多视角视频、动作与事件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处理：校准、对齐、切片、质检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输出：版本化数据集与质量报告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边界：保留授权与来源记录</a:t>
            </a:r>
          </a:p>
        </p:txBody>
      </p:sp>
      <p:sp>
        <p:nvSpPr>
          <p:cNvPr id="104" name="">
            <a:extLst>
              <a:ext uri="{FF2B5EF4-FFF2-40B4-BE49-F238E27FC236}">
                <a16:creationId id="{BAB0F81B-E15D-4FFB-870B-252F212792E7}"/>
              </a:ext>
            </a:extLst>
          </p:cNvPr>
          <p:cNvSpPr>
            <a:spLocks noGrp="1"/>
          </p:cNvSpPr>
          <p:nvPr/>
        </p:nvSpPr>
        <p:spPr>
          <a:xfrm>
            <a:off x="4397310" y="1597239"/>
            <a:ext cx="3412752" cy="373380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</p:sp>
      <p:sp>
        <p:nvSpPr>
          <p:cNvPr id="105" name="">
            <a:extLst>
              <a:ext uri="{FF2B5EF4-FFF2-40B4-BE49-F238E27FC236}">
                <a16:creationId id="{267363AF-90E8-4330-8DE3-200069A6838C}"/>
              </a:ext>
            </a:extLst>
          </p:cNvPr>
          <p:cNvSpPr>
            <a:spLocks noGrp="1"/>
          </p:cNvSpPr>
          <p:nvPr/>
        </p:nvSpPr>
        <p:spPr>
          <a:xfrm>
            <a:off x="4397310" y="1597239"/>
            <a:ext cx="38100" cy="3733800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6" name="">
            <a:extLst>
              <a:ext uri="{FF2B5EF4-FFF2-40B4-BE49-F238E27FC236}">
                <a16:creationId id="{537FF75C-AAAB-4D2A-AB00-AC2A3AB21570}"/>
              </a:ext>
            </a:extLst>
          </p:cNvPr>
          <p:cNvSpPr>
            <a:spLocks noGrp="1"/>
          </p:cNvSpPr>
          <p:nvPr/>
        </p:nvSpPr>
        <p:spPr>
          <a:xfrm>
            <a:off x="4587810" y="1778214"/>
            <a:ext cx="303175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训练工程</a:t>
            </a:r>
          </a:p>
        </p:txBody>
      </p:sp>
      <p:sp>
        <p:nvSpPr>
          <p:cNvPr id="107" name="">
            <a:extLst>
              <a:ext uri="{FF2B5EF4-FFF2-40B4-BE49-F238E27FC236}">
                <a16:creationId id="{F2AABCC4-20F7-4848-857B-3F92B2D6FD56}"/>
              </a:ext>
            </a:extLst>
          </p:cNvPr>
          <p:cNvSpPr>
            <a:spLocks noGrp="1"/>
          </p:cNvSpPr>
          <p:nvPr/>
        </p:nvSpPr>
        <p:spPr>
          <a:xfrm>
            <a:off x="4587810" y="2187789"/>
            <a:ext cx="3031752" cy="2990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输入：固定模型、配方与样本集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处理：复现基线、剖析、对照优化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输出：配置、权重与性能记录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边界：以等质量耗时比较</a:t>
            </a:r>
          </a:p>
        </p:txBody>
      </p:sp>
      <p:sp>
        <p:nvSpPr>
          <p:cNvPr id="108" name="">
            <a:extLst>
              <a:ext uri="{FF2B5EF4-FFF2-40B4-BE49-F238E27FC236}">
                <a16:creationId id="{43EAB99C-0BBF-4F5E-B27A-7D7BA8E6C3AB}"/>
              </a:ext>
            </a:extLst>
          </p:cNvPr>
          <p:cNvSpPr>
            <a:spLocks noGrp="1"/>
          </p:cNvSpPr>
          <p:nvPr/>
        </p:nvSpPr>
        <p:spPr>
          <a:xfrm>
            <a:off x="8057713" y="1597239"/>
            <a:ext cx="3412752" cy="373380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</p:sp>
      <p:sp>
        <p:nvSpPr>
          <p:cNvPr id="109" name="">
            <a:extLst>
              <a:ext uri="{FF2B5EF4-FFF2-40B4-BE49-F238E27FC236}">
                <a16:creationId id="{377FBE94-7EAA-49D9-A86D-B29B882EABD4}"/>
              </a:ext>
            </a:extLst>
          </p:cNvPr>
          <p:cNvSpPr>
            <a:spLocks noGrp="1"/>
          </p:cNvSpPr>
          <p:nvPr/>
        </p:nvSpPr>
        <p:spPr>
          <a:xfrm>
            <a:off x="8057713" y="1597239"/>
            <a:ext cx="38100" cy="3733800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0" name="">
            <a:extLst>
              <a:ext uri="{FF2B5EF4-FFF2-40B4-BE49-F238E27FC236}">
                <a16:creationId id="{C94C7E27-9612-4B39-BCAF-4BE44FE6F753}"/>
              </a:ext>
            </a:extLst>
          </p:cNvPr>
          <p:cNvSpPr>
            <a:spLocks noGrp="1"/>
          </p:cNvSpPr>
          <p:nvPr/>
        </p:nvSpPr>
        <p:spPr>
          <a:xfrm>
            <a:off x="8248213" y="1778214"/>
            <a:ext cx="303175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评测部署</a:t>
            </a:r>
          </a:p>
        </p:txBody>
      </p:sp>
      <p:sp>
        <p:nvSpPr>
          <p:cNvPr id="111" name="">
            <a:extLst>
              <a:ext uri="{FF2B5EF4-FFF2-40B4-BE49-F238E27FC236}">
                <a16:creationId id="{07A19EF3-EA0F-430E-A76D-8397837A3BC8}"/>
              </a:ext>
            </a:extLst>
          </p:cNvPr>
          <p:cNvSpPr>
            <a:spLocks noGrp="1"/>
          </p:cNvSpPr>
          <p:nvPr/>
        </p:nvSpPr>
        <p:spPr>
          <a:xfrm>
            <a:off x="8248213" y="2187789"/>
            <a:ext cx="3031752" cy="2990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输入：策略版本与任务清单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处理：回放、仿真、现场回归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输出：评测日志与上线条件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边界：公开结果不代替实测</a:t>
            </a:r>
          </a:p>
        </p:txBody>
      </p:sp>
      <p:sp>
        <p:nvSpPr>
          <p:cNvPr id="112" name="">
            <a:extLst>
              <a:ext uri="{FF2B5EF4-FFF2-40B4-BE49-F238E27FC236}">
                <a16:creationId id="{2435D0AE-5734-413F-A366-E6F0EBDFF534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H05 · 三项能力｜原创分析示例；未对应真实项目承诺或平台实测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试点按复现、定位和复测逐步推进</a:t>
            </a:r>
          </a:p>
        </p:txBody>
      </p:sp>
      <p:sp>
        <p:nvSpPr>
          <p:cNvPr id="100" name="">
            <a:extLst>
              <a:ext uri="{FF2B5EF4-FFF2-40B4-BE49-F238E27FC236}">
                <a16:creationId id="{3D2EF14E-DA19-4BEA-AEDB-79D81EE983BB}"/>
              </a:ext>
            </a:extLst>
          </p:cNvPr>
          <p:cNvSpPr>
            <a:spLocks noGrp="1"/>
          </p:cNvSpPr>
          <p:nvPr/>
        </p:nvSpPr>
        <p:spPr>
          <a:xfrm>
            <a:off x="1765608" y="1740114"/>
            <a:ext cx="0" cy="3400425"/>
          </a:xfrm>
          <a:prstGeom prst="line">
            <a:avLst/>
          </a:prstGeom>
          <a:noFill/>
          <a:ln w="28575">
            <a:solidFill>
              <a:srgbClr val="C7000A"/>
            </a:solidFill>
          </a:ln>
        </p:spPr>
      </p:sp>
      <p:sp>
        <p:nvSpPr>
          <p:cNvPr id="101" name="">
            <a:extLst>
              <a:ext uri="{FF2B5EF4-FFF2-40B4-BE49-F238E27FC236}">
                <a16:creationId id="{25307042-EC2E-4BB9-93E8-0BE9AA4A8CBA}"/>
              </a:ext>
            </a:extLst>
          </p:cNvPr>
          <p:cNvSpPr>
            <a:spLocks noGrp="1"/>
          </p:cNvSpPr>
          <p:nvPr/>
        </p:nvSpPr>
        <p:spPr>
          <a:xfrm>
            <a:off x="1670358" y="1730589"/>
            <a:ext cx="190500" cy="190500"/>
          </a:xfrm>
          <a:prstGeom prst="ellipse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2" name="">
            <a:extLst>
              <a:ext uri="{FF2B5EF4-FFF2-40B4-BE49-F238E27FC236}">
                <a16:creationId id="{C34E9E6B-76C4-4C4D-AF90-495D8028F73D}"/>
              </a:ext>
            </a:extLst>
          </p:cNvPr>
          <p:cNvSpPr>
            <a:spLocks noGrp="1"/>
          </p:cNvSpPr>
          <p:nvPr/>
        </p:nvSpPr>
        <p:spPr>
          <a:xfrm>
            <a:off x="736908" y="1673439"/>
            <a:ext cx="7810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W1–2</a:t>
            </a:r>
          </a:p>
        </p:txBody>
      </p:sp>
      <p:sp>
        <p:nvSpPr>
          <p:cNvPr id="103" name="">
            <a:extLst>
              <a:ext uri="{FF2B5EF4-FFF2-40B4-BE49-F238E27FC236}">
                <a16:creationId id="{F4966159-A3CE-4999-B6D3-8327C5E099FE}"/>
              </a:ext>
            </a:extLst>
          </p:cNvPr>
          <p:cNvSpPr>
            <a:spLocks noGrp="1"/>
          </p:cNvSpPr>
          <p:nvPr/>
        </p:nvSpPr>
        <p:spPr>
          <a:xfrm>
            <a:off x="2137083" y="1597239"/>
            <a:ext cx="2667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复现与边界确认</a:t>
            </a:r>
          </a:p>
        </p:txBody>
      </p:sp>
      <p:sp>
        <p:nvSpPr>
          <p:cNvPr id="104" name="">
            <a:extLst>
              <a:ext uri="{FF2B5EF4-FFF2-40B4-BE49-F238E27FC236}">
                <a16:creationId id="{3EBF3352-0FA0-4B36-B9EE-4C82FABFB87E}"/>
              </a:ext>
            </a:extLst>
          </p:cNvPr>
          <p:cNvSpPr>
            <a:spLocks noGrp="1"/>
          </p:cNvSpPr>
          <p:nvPr/>
        </p:nvSpPr>
        <p:spPr>
          <a:xfrm>
            <a:off x="2137083" y="1997289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冻结模型、输入与验收口径；保存可重跑的基线。</a:t>
            </a:r>
          </a:p>
        </p:txBody>
      </p:sp>
      <p:sp>
        <p:nvSpPr>
          <p:cNvPr id="105" name="">
            <a:extLst>
              <a:ext uri="{FF2B5EF4-FFF2-40B4-BE49-F238E27FC236}">
                <a16:creationId id="{A5E562A3-CD03-4DDA-8CF5-C2D0C6CC358D}"/>
              </a:ext>
            </a:extLst>
          </p:cNvPr>
          <p:cNvSpPr>
            <a:spLocks noGrp="1"/>
          </p:cNvSpPr>
          <p:nvPr/>
        </p:nvSpPr>
        <p:spPr>
          <a:xfrm>
            <a:off x="1670358" y="2664039"/>
            <a:ext cx="190500" cy="190500"/>
          </a:xfrm>
          <a:prstGeom prst="ellipse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6" name="">
            <a:extLst>
              <a:ext uri="{FF2B5EF4-FFF2-40B4-BE49-F238E27FC236}">
                <a16:creationId id="{87630F45-C789-489E-ABC3-EAC3209EF93D}"/>
              </a:ext>
            </a:extLst>
          </p:cNvPr>
          <p:cNvSpPr>
            <a:spLocks noGrp="1"/>
          </p:cNvSpPr>
          <p:nvPr/>
        </p:nvSpPr>
        <p:spPr>
          <a:xfrm>
            <a:off x="736908" y="2606889"/>
            <a:ext cx="7810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W3–4</a:t>
            </a:r>
          </a:p>
        </p:txBody>
      </p:sp>
      <p:sp>
        <p:nvSpPr>
          <p:cNvPr id="107" name="">
            <a:extLst>
              <a:ext uri="{FF2B5EF4-FFF2-40B4-BE49-F238E27FC236}">
                <a16:creationId id="{BC4D801F-A619-4C38-A76D-24712FA11FDE}"/>
              </a:ext>
            </a:extLst>
          </p:cNvPr>
          <p:cNvSpPr>
            <a:spLocks noGrp="1"/>
          </p:cNvSpPr>
          <p:nvPr/>
        </p:nvSpPr>
        <p:spPr>
          <a:xfrm>
            <a:off x="2137083" y="2530689"/>
            <a:ext cx="2667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负载剖析</a:t>
            </a:r>
          </a:p>
        </p:txBody>
      </p:sp>
      <p:sp>
        <p:nvSpPr>
          <p:cNvPr id="108" name="">
            <a:extLst>
              <a:ext uri="{FF2B5EF4-FFF2-40B4-BE49-F238E27FC236}">
                <a16:creationId id="{77F9EC9A-4DD8-4A28-8536-529E5A3AA24D}"/>
              </a:ext>
            </a:extLst>
          </p:cNvPr>
          <p:cNvSpPr>
            <a:spLocks noGrp="1"/>
          </p:cNvSpPr>
          <p:nvPr/>
        </p:nvSpPr>
        <p:spPr>
          <a:xfrm>
            <a:off x="2137083" y="2930739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分离计算、通信、数据等待；确定优先优化项。</a:t>
            </a:r>
          </a:p>
        </p:txBody>
      </p:sp>
      <p:sp>
        <p:nvSpPr>
          <p:cNvPr id="109" name="">
            <a:extLst>
              <a:ext uri="{FF2B5EF4-FFF2-40B4-BE49-F238E27FC236}">
                <a16:creationId id="{2DA352C0-0B18-4F0A-853D-EAE900246EFB}"/>
              </a:ext>
            </a:extLst>
          </p:cNvPr>
          <p:cNvSpPr>
            <a:spLocks noGrp="1"/>
          </p:cNvSpPr>
          <p:nvPr/>
        </p:nvSpPr>
        <p:spPr>
          <a:xfrm>
            <a:off x="1670358" y="3597489"/>
            <a:ext cx="190500" cy="190500"/>
          </a:xfrm>
          <a:prstGeom prst="ellipse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0" name="">
            <a:extLst>
              <a:ext uri="{FF2B5EF4-FFF2-40B4-BE49-F238E27FC236}">
                <a16:creationId id="{120C69B7-8681-4B2D-8247-A32463A3690A}"/>
              </a:ext>
            </a:extLst>
          </p:cNvPr>
          <p:cNvSpPr>
            <a:spLocks noGrp="1"/>
          </p:cNvSpPr>
          <p:nvPr/>
        </p:nvSpPr>
        <p:spPr>
          <a:xfrm>
            <a:off x="736908" y="3540339"/>
            <a:ext cx="7810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W5–8</a:t>
            </a:r>
          </a:p>
        </p:txBody>
      </p:sp>
      <p:sp>
        <p:nvSpPr>
          <p:cNvPr id="111" name="">
            <a:extLst>
              <a:ext uri="{FF2B5EF4-FFF2-40B4-BE49-F238E27FC236}">
                <a16:creationId id="{71E847A8-3AE4-450D-BEB6-E0D6519DAEB0}"/>
              </a:ext>
            </a:extLst>
          </p:cNvPr>
          <p:cNvSpPr>
            <a:spLocks noGrp="1"/>
          </p:cNvSpPr>
          <p:nvPr/>
        </p:nvSpPr>
        <p:spPr>
          <a:xfrm>
            <a:off x="2137083" y="3464139"/>
            <a:ext cx="2667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受控优化</a:t>
            </a:r>
          </a:p>
        </p:txBody>
      </p:sp>
      <p:sp>
        <p:nvSpPr>
          <p:cNvPr id="112" name="">
            <a:extLst>
              <a:ext uri="{FF2B5EF4-FFF2-40B4-BE49-F238E27FC236}">
                <a16:creationId id="{CD08606F-0967-45CD-A834-696738E56464}"/>
              </a:ext>
            </a:extLst>
          </p:cNvPr>
          <p:cNvSpPr>
            <a:spLocks noGrp="1"/>
          </p:cNvSpPr>
          <p:nvPr/>
        </p:nvSpPr>
        <p:spPr>
          <a:xfrm>
            <a:off x="2137083" y="3864189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一次改变一个主要变量；保留质量及资源对照。</a:t>
            </a:r>
          </a:p>
        </p:txBody>
      </p:sp>
      <p:sp>
        <p:nvSpPr>
          <p:cNvPr id="113" name="">
            <a:extLst>
              <a:ext uri="{FF2B5EF4-FFF2-40B4-BE49-F238E27FC236}">
                <a16:creationId id="{84CE224F-53DB-48F4-8AB3-4FCA08EA4F74}"/>
              </a:ext>
            </a:extLst>
          </p:cNvPr>
          <p:cNvSpPr>
            <a:spLocks noGrp="1"/>
          </p:cNvSpPr>
          <p:nvPr/>
        </p:nvSpPr>
        <p:spPr>
          <a:xfrm>
            <a:off x="1670358" y="4530939"/>
            <a:ext cx="190500" cy="190500"/>
          </a:xfrm>
          <a:prstGeom prst="ellipse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4" name="">
            <a:extLst>
              <a:ext uri="{FF2B5EF4-FFF2-40B4-BE49-F238E27FC236}">
                <a16:creationId id="{3E9C66C0-CE00-4D4F-A182-B10BE80AAF0C}"/>
              </a:ext>
            </a:extLst>
          </p:cNvPr>
          <p:cNvSpPr>
            <a:spLocks noGrp="1"/>
          </p:cNvSpPr>
          <p:nvPr/>
        </p:nvSpPr>
        <p:spPr>
          <a:xfrm>
            <a:off x="736908" y="4473789"/>
            <a:ext cx="7810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W9–12</a:t>
            </a:r>
          </a:p>
        </p:txBody>
      </p:sp>
      <p:sp>
        <p:nvSpPr>
          <p:cNvPr id="115" name="">
            <a:extLst>
              <a:ext uri="{FF2B5EF4-FFF2-40B4-BE49-F238E27FC236}">
                <a16:creationId id="{C0A9B869-3E2C-4EEF-B722-8EE592952147}"/>
              </a:ext>
            </a:extLst>
          </p:cNvPr>
          <p:cNvSpPr>
            <a:spLocks noGrp="1"/>
          </p:cNvSpPr>
          <p:nvPr/>
        </p:nvSpPr>
        <p:spPr>
          <a:xfrm>
            <a:off x="2137083" y="4397589"/>
            <a:ext cx="2667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复测与交付</a:t>
            </a:r>
          </a:p>
        </p:txBody>
      </p:sp>
      <p:sp>
        <p:nvSpPr>
          <p:cNvPr id="116" name="">
            <a:extLst>
              <a:ext uri="{FF2B5EF4-FFF2-40B4-BE49-F238E27FC236}">
                <a16:creationId id="{A653798A-7117-4572-9853-E6FF058E6AA2}"/>
              </a:ext>
            </a:extLst>
          </p:cNvPr>
          <p:cNvSpPr>
            <a:spLocks noGrp="1"/>
          </p:cNvSpPr>
          <p:nvPr/>
        </p:nvSpPr>
        <p:spPr>
          <a:xfrm>
            <a:off x="2137083" y="4797639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多次重复、异常回归；交付复现包与适用限制。</a:t>
            </a:r>
          </a:p>
        </p:txBody>
      </p:sp>
      <p:sp>
        <p:nvSpPr>
          <p:cNvPr id="117" name="">
            <a:extLst>
              <a:ext uri="{FF2B5EF4-FFF2-40B4-BE49-F238E27FC236}">
                <a16:creationId id="{ECE24F0D-DFAF-4947-B1EF-D25AC78B435E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H06 · 纵向时间线｜建议十二周试点节奏；周期与退出条件待双方确认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a16="http://schemas.microsoft.com/office/drawing/2014/main" xmlns:mc="http://schemas.openxmlformats.org/markup-compatibility/2006" xmlns:ns3="http://schemas.openxmlformats.org/drawingml/2006/chart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数据等待比单算子耗时更值得先优化</a:t>
            </a:r>
          </a:p>
        </p:txBody>
      </p:sp>
      <p:graphicFrame>
        <p:nvGraphicFramePr>
          <p:cNvPr id="100" name="Chart"/>
          <p:cNvGraphicFramePr/>
          <p:nvPr/>
        </p:nvGraphicFramePr>
        <p:xfrm>
          <a:off x="736908" y="1673439"/>
          <a:ext cx="6810375" cy="3333750"/>
        </p:xfrm>
        <a:graphic>
          <a:graphicData uri="http://schemas.openxmlformats.org/drawingml/2006/chart">
            <ns3:chart r:id="lexR04abab3a98ee489d"/>
          </a:graphicData>
        </a:graphic>
      </p:graphicFrame>
      <p:sp>
        <p:nvSpPr>
          <p:cNvPr id="101" name="">
            <a:extLst>
              <a:ext uri="{FF2B5EF4-FFF2-40B4-BE49-F238E27FC236}">
                <a16:creationId id="{6F0C2A53-B03B-4B1F-8103-1C8F1CE07220}"/>
              </a:ext>
            </a:extLst>
          </p:cNvPr>
          <p:cNvSpPr>
            <a:spLocks noGrp="1"/>
          </p:cNvSpPr>
          <p:nvPr/>
        </p:nvSpPr>
        <p:spPr>
          <a:xfrm>
            <a:off x="8071158" y="1787739"/>
            <a:ext cx="3190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18 / 40 = 45%</a:t>
            </a:r>
          </a:p>
        </p:txBody>
      </p:sp>
      <p:sp>
        <p:nvSpPr>
          <p:cNvPr id="102" name="">
            <a:extLst>
              <a:ext uri="{FF2B5EF4-FFF2-40B4-BE49-F238E27FC236}">
                <a16:creationId id="{175E3E20-38AA-4651-A62B-0F7974D0A5E7}"/>
              </a:ext>
            </a:extLst>
          </p:cNvPr>
          <p:cNvSpPr>
            <a:spLocks noGrp="1"/>
          </p:cNvSpPr>
          <p:nvPr/>
        </p:nvSpPr>
        <p:spPr>
          <a:xfrm>
            <a:off x="8071158" y="2197314"/>
            <a:ext cx="319087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演示基线中，数据等待占单轮耗时的45%。首先检查样本解码、存储吞吐和预取队列。</a:t>
            </a:r>
          </a:p>
        </p:txBody>
      </p:sp>
      <p:sp>
        <p:nvSpPr>
          <p:cNvPr id="103" name="">
            <a:extLst>
              <a:ext uri="{FF2B5EF4-FFF2-40B4-BE49-F238E27FC236}">
                <a16:creationId id="{4C3ABFD2-4DA4-46F3-9E6D-747B742DB9C8}"/>
              </a:ext>
            </a:extLst>
          </p:cNvPr>
          <p:cNvSpPr>
            <a:spLocks noGrp="1"/>
          </p:cNvSpPr>
          <p:nvPr/>
        </p:nvSpPr>
        <p:spPr>
          <a:xfrm>
            <a:off x="8071158" y="3473664"/>
            <a:ext cx="3190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优化假设</a:t>
            </a:r>
          </a:p>
        </p:txBody>
      </p:sp>
      <p:sp>
        <p:nvSpPr>
          <p:cNvPr id="104" name="">
            <a:extLst>
              <a:ext uri="{FF2B5EF4-FFF2-40B4-BE49-F238E27FC236}">
                <a16:creationId id="{BA6EDA6E-61A0-4299-8925-819AB23D68B5}"/>
              </a:ext>
            </a:extLst>
          </p:cNvPr>
          <p:cNvSpPr>
            <a:spLocks noGrp="1"/>
          </p:cNvSpPr>
          <p:nvPr/>
        </p:nvSpPr>
        <p:spPr>
          <a:xfrm>
            <a:off x="8071158" y="3883239"/>
            <a:ext cx="319087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若等待缩短6分钟，其他部分保持不变，单轮总耗时从40降为34分钟。</a:t>
            </a:r>
          </a:p>
        </p:txBody>
      </p:sp>
      <p:sp>
        <p:nvSpPr>
          <p:cNvPr id="105" name="">
            <a:extLst>
              <a:ext uri="{FF2B5EF4-FFF2-40B4-BE49-F238E27FC236}">
                <a16:creationId id="{A26A9238-94B5-4F2E-BC70-CBC5DEF1BE2B}"/>
              </a:ext>
            </a:extLst>
          </p:cNvPr>
          <p:cNvSpPr>
            <a:spLocks noGrp="1"/>
          </p:cNvSpPr>
          <p:nvPr/>
        </p:nvSpPr>
        <p:spPr>
          <a:xfrm>
            <a:off x="8071158" y="4845264"/>
            <a:ext cx="319087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预计耗时下降15%，仍需验证任务质量与运行稳定性。</a:t>
            </a:r>
          </a:p>
        </p:txBody>
      </p:sp>
      <p:sp>
        <p:nvSpPr>
          <p:cNvPr id="106" name="">
            <a:extLst>
              <a:ext uri="{FF2B5EF4-FFF2-40B4-BE49-F238E27FC236}">
                <a16:creationId id="{93FCDA72-E6C5-43AA-970A-ED25B90B0225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H07 · 横向数据条｜演示数据：40分钟拆分为18+12+6+4；不是实测加速结论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一条训练链路需要五道质量关口</a:t>
            </a:r>
          </a:p>
        </p:txBody>
      </p:sp>
      <p:sp>
        <p:nvSpPr>
          <p:cNvPr id="100" name="">
            <a:extLst>
              <a:ext uri="{FF2B5EF4-FFF2-40B4-BE49-F238E27FC236}">
                <a16:creationId id="{DF9E2BFD-B652-4588-8228-A1585B4E3097}"/>
              </a:ext>
            </a:extLst>
          </p:cNvPr>
          <p:cNvSpPr>
            <a:spLocks noGrp="1"/>
          </p:cNvSpPr>
          <p:nvPr/>
        </p:nvSpPr>
        <p:spPr>
          <a:xfrm>
            <a:off x="736908" y="1825839"/>
            <a:ext cx="1948591" cy="12001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1" name="">
            <a:extLst>
              <a:ext uri="{FF2B5EF4-FFF2-40B4-BE49-F238E27FC236}">
                <a16:creationId id="{253B1E28-A134-49F0-A714-C53D4C08E6FE}"/>
              </a:ext>
            </a:extLst>
          </p:cNvPr>
          <p:cNvSpPr>
            <a:spLocks noGrp="1"/>
          </p:cNvSpPr>
          <p:nvPr/>
        </p:nvSpPr>
        <p:spPr>
          <a:xfrm>
            <a:off x="870258" y="1940139"/>
            <a:ext cx="1681891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102" name="">
            <a:extLst>
              <a:ext uri="{FF2B5EF4-FFF2-40B4-BE49-F238E27FC236}">
                <a16:creationId id="{88121E50-43AD-4A04-9459-AA52D02D6B69}"/>
              </a:ext>
            </a:extLst>
          </p:cNvPr>
          <p:cNvSpPr>
            <a:spLocks noGrp="1"/>
          </p:cNvSpPr>
          <p:nvPr/>
        </p:nvSpPr>
        <p:spPr>
          <a:xfrm>
            <a:off x="870258" y="2292564"/>
            <a:ext cx="1681891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多视角、动作、事件</a:t>
            </a:r>
          </a:p>
        </p:txBody>
      </p:sp>
      <p:sp>
        <p:nvSpPr>
          <p:cNvPr id="103" name="">
            <a:extLst>
              <a:ext uri="{FF2B5EF4-FFF2-40B4-BE49-F238E27FC236}">
                <a16:creationId id="{915FC1D5-C609-445A-AE6D-DAB71DA22CDD}"/>
              </a:ext>
            </a:extLst>
          </p:cNvPr>
          <p:cNvSpPr>
            <a:spLocks noGrp="1"/>
          </p:cNvSpPr>
          <p:nvPr/>
        </p:nvSpPr>
        <p:spPr>
          <a:xfrm>
            <a:off x="2733124" y="2330664"/>
            <a:ext cx="152400" cy="123825"/>
          </a:xfrm>
          <a:prstGeom prst="right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4" name="">
            <a:extLst>
              <a:ext uri="{FF2B5EF4-FFF2-40B4-BE49-F238E27FC236}">
                <a16:creationId id="{C74B98A7-0F15-4221-B54C-AF2A1F26252F}"/>
              </a:ext>
            </a:extLst>
          </p:cNvPr>
          <p:cNvSpPr>
            <a:spLocks noGrp="1"/>
          </p:cNvSpPr>
          <p:nvPr/>
        </p:nvSpPr>
        <p:spPr>
          <a:xfrm>
            <a:off x="2933149" y="1825839"/>
            <a:ext cx="1948591" cy="12001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5" name="">
            <a:extLst>
              <a:ext uri="{FF2B5EF4-FFF2-40B4-BE49-F238E27FC236}">
                <a16:creationId id="{A2F643CF-C880-48E2-94F9-A8EE0FAC57C7}"/>
              </a:ext>
            </a:extLst>
          </p:cNvPr>
          <p:cNvSpPr>
            <a:spLocks noGrp="1"/>
          </p:cNvSpPr>
          <p:nvPr/>
        </p:nvSpPr>
        <p:spPr>
          <a:xfrm>
            <a:off x="3066499" y="1940139"/>
            <a:ext cx="1681891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质检</a:t>
            </a:r>
          </a:p>
        </p:txBody>
      </p:sp>
      <p:sp>
        <p:nvSpPr>
          <p:cNvPr id="106" name="">
            <a:extLst>
              <a:ext uri="{FF2B5EF4-FFF2-40B4-BE49-F238E27FC236}">
                <a16:creationId id="{414355F5-E75D-4889-B428-6E291B4C1A08}"/>
              </a:ext>
            </a:extLst>
          </p:cNvPr>
          <p:cNvSpPr>
            <a:spLocks noGrp="1"/>
          </p:cNvSpPr>
          <p:nvPr/>
        </p:nvSpPr>
        <p:spPr>
          <a:xfrm>
            <a:off x="3066499" y="2292564"/>
            <a:ext cx="1681891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时间同步与完整性</a:t>
            </a:r>
          </a:p>
        </p:txBody>
      </p:sp>
      <p:sp>
        <p:nvSpPr>
          <p:cNvPr id="107" name="">
            <a:extLst>
              <a:ext uri="{FF2B5EF4-FFF2-40B4-BE49-F238E27FC236}">
                <a16:creationId id="{EF0EB2C0-07AC-47E9-A109-4E66607D9192}"/>
              </a:ext>
            </a:extLst>
          </p:cNvPr>
          <p:cNvSpPr>
            <a:spLocks noGrp="1"/>
          </p:cNvSpPr>
          <p:nvPr/>
        </p:nvSpPr>
        <p:spPr>
          <a:xfrm>
            <a:off x="4929366" y="2330664"/>
            <a:ext cx="152400" cy="123825"/>
          </a:xfrm>
          <a:prstGeom prst="right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8" name="">
            <a:extLst>
              <a:ext uri="{FF2B5EF4-FFF2-40B4-BE49-F238E27FC236}">
                <a16:creationId id="{3DDA82C1-F8CB-4EB4-B463-B238B7B7A149}"/>
              </a:ext>
            </a:extLst>
          </p:cNvPr>
          <p:cNvSpPr>
            <a:spLocks noGrp="1"/>
          </p:cNvSpPr>
          <p:nvPr/>
        </p:nvSpPr>
        <p:spPr>
          <a:xfrm>
            <a:off x="5129391" y="1825839"/>
            <a:ext cx="1948591" cy="12001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9" name="">
            <a:extLst>
              <a:ext uri="{FF2B5EF4-FFF2-40B4-BE49-F238E27FC236}">
                <a16:creationId id="{18276402-AC0B-47C7-8F5B-DF2B33BA3FC0}"/>
              </a:ext>
            </a:extLst>
          </p:cNvPr>
          <p:cNvSpPr>
            <a:spLocks noGrp="1"/>
          </p:cNvSpPr>
          <p:nvPr/>
        </p:nvSpPr>
        <p:spPr>
          <a:xfrm>
            <a:off x="5262741" y="1940139"/>
            <a:ext cx="1681891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训练</a:t>
            </a:r>
          </a:p>
        </p:txBody>
      </p:sp>
      <p:sp>
        <p:nvSpPr>
          <p:cNvPr id="110" name="">
            <a:extLst>
              <a:ext uri="{FF2B5EF4-FFF2-40B4-BE49-F238E27FC236}">
                <a16:creationId id="{CAFAD46A-F0D9-4CCB-94D9-D487B34126A7}"/>
              </a:ext>
            </a:extLst>
          </p:cNvPr>
          <p:cNvSpPr>
            <a:spLocks noGrp="1"/>
          </p:cNvSpPr>
          <p:nvPr/>
        </p:nvSpPr>
        <p:spPr>
          <a:xfrm>
            <a:off x="5262741" y="2292564"/>
            <a:ext cx="1681891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冻结配方与基线</a:t>
            </a:r>
          </a:p>
        </p:txBody>
      </p:sp>
      <p:sp>
        <p:nvSpPr>
          <p:cNvPr id="111" name="">
            <a:extLst>
              <a:ext uri="{FF2B5EF4-FFF2-40B4-BE49-F238E27FC236}">
                <a16:creationId id="{B9A3AABE-D865-41C1-A82E-C8C5ED0CFB45}"/>
              </a:ext>
            </a:extLst>
          </p:cNvPr>
          <p:cNvSpPr>
            <a:spLocks noGrp="1"/>
          </p:cNvSpPr>
          <p:nvPr/>
        </p:nvSpPr>
        <p:spPr>
          <a:xfrm>
            <a:off x="7125607" y="2330664"/>
            <a:ext cx="152400" cy="123825"/>
          </a:xfrm>
          <a:prstGeom prst="right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2" name="">
            <a:extLst>
              <a:ext uri="{FF2B5EF4-FFF2-40B4-BE49-F238E27FC236}">
                <a16:creationId id="{B3DE9C89-4C21-4585-BC97-51626B519459}"/>
              </a:ext>
            </a:extLst>
          </p:cNvPr>
          <p:cNvSpPr>
            <a:spLocks noGrp="1"/>
          </p:cNvSpPr>
          <p:nvPr/>
        </p:nvSpPr>
        <p:spPr>
          <a:xfrm>
            <a:off x="7325632" y="1825839"/>
            <a:ext cx="1948591" cy="12001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3" name="">
            <a:extLst>
              <a:ext uri="{FF2B5EF4-FFF2-40B4-BE49-F238E27FC236}">
                <a16:creationId id="{B050BF80-9768-42EE-B0DD-28962DF63C23}"/>
              </a:ext>
            </a:extLst>
          </p:cNvPr>
          <p:cNvSpPr>
            <a:spLocks noGrp="1"/>
          </p:cNvSpPr>
          <p:nvPr/>
        </p:nvSpPr>
        <p:spPr>
          <a:xfrm>
            <a:off x="7458982" y="1940139"/>
            <a:ext cx="1681891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114" name="">
            <a:extLst>
              <a:ext uri="{FF2B5EF4-FFF2-40B4-BE49-F238E27FC236}">
                <a16:creationId id="{70A67140-501E-4B0D-8B04-CC35445D5D3A}"/>
              </a:ext>
            </a:extLst>
          </p:cNvPr>
          <p:cNvSpPr>
            <a:spLocks noGrp="1"/>
          </p:cNvSpPr>
          <p:nvPr/>
        </p:nvSpPr>
        <p:spPr>
          <a:xfrm>
            <a:off x="7458982" y="2292564"/>
            <a:ext cx="1681891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质量与尾延迟</a:t>
            </a:r>
          </a:p>
        </p:txBody>
      </p:sp>
      <p:sp>
        <p:nvSpPr>
          <p:cNvPr id="115" name="">
            <a:extLst>
              <a:ext uri="{FF2B5EF4-FFF2-40B4-BE49-F238E27FC236}">
                <a16:creationId id="{AEA34DE4-8F89-41F1-8CCE-F8AE87A20FD2}"/>
              </a:ext>
            </a:extLst>
          </p:cNvPr>
          <p:cNvSpPr>
            <a:spLocks noGrp="1"/>
          </p:cNvSpPr>
          <p:nvPr/>
        </p:nvSpPr>
        <p:spPr>
          <a:xfrm>
            <a:off x="9321849" y="2330664"/>
            <a:ext cx="152400" cy="123825"/>
          </a:xfrm>
          <a:prstGeom prst="right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6" name="">
            <a:extLst>
              <a:ext uri="{FF2B5EF4-FFF2-40B4-BE49-F238E27FC236}">
                <a16:creationId id="{EA321449-419D-46D6-B901-A7C83133C0C0}"/>
              </a:ext>
            </a:extLst>
          </p:cNvPr>
          <p:cNvSpPr>
            <a:spLocks noGrp="1"/>
          </p:cNvSpPr>
          <p:nvPr/>
        </p:nvSpPr>
        <p:spPr>
          <a:xfrm>
            <a:off x="9521874" y="1825839"/>
            <a:ext cx="1948591" cy="12001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7" name="">
            <a:extLst>
              <a:ext uri="{FF2B5EF4-FFF2-40B4-BE49-F238E27FC236}">
                <a16:creationId id="{748169EB-169A-4EAC-ADC9-D98AC9C32A94}"/>
              </a:ext>
            </a:extLst>
          </p:cNvPr>
          <p:cNvSpPr>
            <a:spLocks noGrp="1"/>
          </p:cNvSpPr>
          <p:nvPr/>
        </p:nvSpPr>
        <p:spPr>
          <a:xfrm>
            <a:off x="9655224" y="1940139"/>
            <a:ext cx="1681891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部署</a:t>
            </a:r>
          </a:p>
        </p:txBody>
      </p:sp>
      <p:sp>
        <p:nvSpPr>
          <p:cNvPr id="118" name="">
            <a:extLst>
              <a:ext uri="{FF2B5EF4-FFF2-40B4-BE49-F238E27FC236}">
                <a16:creationId id="{DEBCAAF7-5AD5-450A-8436-144F54C1830A}"/>
              </a:ext>
            </a:extLst>
          </p:cNvPr>
          <p:cNvSpPr>
            <a:spLocks noGrp="1"/>
          </p:cNvSpPr>
          <p:nvPr/>
        </p:nvSpPr>
        <p:spPr>
          <a:xfrm>
            <a:off x="9655224" y="2292564"/>
            <a:ext cx="1681891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回滚与异常记录</a:t>
            </a:r>
          </a:p>
        </p:txBody>
      </p:sp>
      <p:graphicFrame>
        <p:nvGraphicFramePr>
          <p:cNvPr id="119" name=""/>
          <p:cNvGraphicFramePr/>
          <p:nvPr/>
        </p:nvGraphicFramePr>
        <p:xfrm>
          <a:off x="736908" y="3502239"/>
          <a:ext cx="10733557" cy="1933575"/>
        </p:xfrm>
        <a:graphic>
          <a:graphicData uri="http://schemas.openxmlformats.org/drawingml/2006/table">
            <a:tbl>
              <a:tblPr firstRow="0" bandRow="0"/>
              <a:tblGrid>
                <a:gridCol w="2146711"/>
                <a:gridCol w="4615430"/>
                <a:gridCol w="3971416"/>
              </a:tblGrid>
              <a:tr h="48339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质量关口</a:t>
                      </a:r>
                    </a:p>
                  </a:txBody>
                  <a:tcPr marL="114300" marR="114300" marT="95250" marB="76200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检查项</a:t>
                      </a:r>
                    </a:p>
                  </a:txBody>
                  <a:tcPr marL="114300" marR="114300" marT="95250" marB="76200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未通过时的处理</a:t>
                      </a:r>
                    </a:p>
                  </a:txBody>
                  <a:tcPr marL="114300" marR="114300" marT="95250" marB="76200" anchor="ctr">
                    <a:solidFill>
                      <a:srgbClr val="EBEBEB"/>
                    </a:solidFill>
                  </a:tcPr>
                </a:tc>
              </a:tr>
              <a:tr h="483394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数据进入训练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标注一致性、帧与动作对齐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隔离批次，回到采集/处理环节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483394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模型进入现场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任务质量、实时预算、失败恢复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保留旧版本，补充回归用例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483394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现场反馈回流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样本授权、失败分类、复现条件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补齐记录后再纳入数据集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0" name="">
            <a:extLst>
              <a:ext uri="{FF2B5EF4-FFF2-40B4-BE49-F238E27FC236}">
                <a16:creationId id="{0B3376BA-4277-4F38-ABB3-F5C9467E3F0A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H08 · 流程箭头｜原创分析示例；未对应真实项目承诺或平台实测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现场证据应覆盖观察、动作和结果</a:t>
            </a:r>
          </a:p>
        </p:txBody>
      </p:sp>
      <p:pic>
        <p:nvPicPr>
          <p:cNvPr id="100" name=""/>
          <p:cNvPicPr>
            <a:picLocks noChangeAspect="1"/>
          </p:cNvPicPr>
          <p:nvPr/>
        </p:nvPicPr>
        <p:blipFill>
          <a:blip r:embed="lexR1827ea3304ca4908"/>
          <a:srcRect l="50000" t="1074" r="25000" b="76074"/>
          <a:stretch>
            <a:fillRect l="0" t="0" r="0" b="0"/>
          </a:stretch>
        </p:blipFill>
        <p:spPr>
          <a:xfrm>
            <a:off x="736908" y="1616289"/>
            <a:ext cx="3425452" cy="1762125"/>
          </a:xfrm>
          <a:prstGeom prst="rect">
            <a:avLst/>
          </a:prstGeom>
        </p:spPr>
      </p:pic>
      <p:sp>
        <p:nvSpPr>
          <p:cNvPr id="101" name="">
            <a:extLst>
              <a:ext uri="{FF2B5EF4-FFF2-40B4-BE49-F238E27FC236}">
                <a16:creationId id="{A2730059-EA20-47AA-85E9-C9306D1C52BD}"/>
              </a:ext>
            </a:extLst>
          </p:cNvPr>
          <p:cNvSpPr>
            <a:spLocks noGrp="1"/>
          </p:cNvSpPr>
          <p:nvPr/>
        </p:nvSpPr>
        <p:spPr>
          <a:xfrm>
            <a:off x="736908" y="3568914"/>
            <a:ext cx="342545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观察证据</a:t>
            </a:r>
          </a:p>
        </p:txBody>
      </p:sp>
      <p:sp>
        <p:nvSpPr>
          <p:cNvPr id="102" name="">
            <a:extLst>
              <a:ext uri="{FF2B5EF4-FFF2-40B4-BE49-F238E27FC236}">
                <a16:creationId id="{5D35498D-1BBC-49B1-B674-8AB741C812BF}"/>
              </a:ext>
            </a:extLst>
          </p:cNvPr>
          <p:cNvSpPr>
            <a:spLocks noGrp="1"/>
          </p:cNvSpPr>
          <p:nvPr/>
        </p:nvSpPr>
        <p:spPr>
          <a:xfrm>
            <a:off x="736908" y="3997539"/>
            <a:ext cx="3425452" cy="1133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检查遮挡、相机位姿、视角变化。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留存：原始帧、时间戳、标定版本</a:t>
            </a:r>
          </a:p>
        </p:txBody>
      </p:sp>
      <p:pic>
        <p:nvPicPr>
          <p:cNvPr id="103" name=""/>
          <p:cNvPicPr>
            <a:picLocks noChangeAspect="1"/>
          </p:cNvPicPr>
          <p:nvPr/>
        </p:nvPicPr>
        <p:blipFill>
          <a:blip r:embed="lexRe7e913fb205b4991"/>
          <a:srcRect l="25000" t="1074" r="50000" b="76074"/>
          <a:stretch>
            <a:fillRect l="0" t="0" r="0" b="0"/>
          </a:stretch>
        </p:blipFill>
        <p:spPr>
          <a:xfrm>
            <a:off x="4390960" y="1616289"/>
            <a:ext cx="3425452" cy="1762125"/>
          </a:xfrm>
          <a:prstGeom prst="rect">
            <a:avLst/>
          </a:prstGeom>
        </p:spPr>
      </p:pic>
      <p:sp>
        <p:nvSpPr>
          <p:cNvPr id="104" name="">
            <a:extLst>
              <a:ext uri="{FF2B5EF4-FFF2-40B4-BE49-F238E27FC236}">
                <a16:creationId id="{A9C6FC5D-BF65-4006-8C9C-D45067874107}"/>
              </a:ext>
            </a:extLst>
          </p:cNvPr>
          <p:cNvSpPr>
            <a:spLocks noGrp="1"/>
          </p:cNvSpPr>
          <p:nvPr/>
        </p:nvSpPr>
        <p:spPr>
          <a:xfrm>
            <a:off x="4390960" y="3568914"/>
            <a:ext cx="342545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动作证据</a:t>
            </a:r>
          </a:p>
        </p:txBody>
      </p:sp>
      <p:sp>
        <p:nvSpPr>
          <p:cNvPr id="105" name="">
            <a:extLst>
              <a:ext uri="{FF2B5EF4-FFF2-40B4-BE49-F238E27FC236}">
                <a16:creationId id="{51670E3F-1CD9-4C6B-8E8B-E195372EE93A}"/>
              </a:ext>
            </a:extLst>
          </p:cNvPr>
          <p:cNvSpPr>
            <a:spLocks noGrp="1"/>
          </p:cNvSpPr>
          <p:nvPr/>
        </p:nvSpPr>
        <p:spPr>
          <a:xfrm>
            <a:off x="4390960" y="3997539"/>
            <a:ext cx="3425452" cy="1133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检查动作语义、夹爪状态与接触。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留存：控制频率、动作序列、事件</a:t>
            </a:r>
          </a:p>
        </p:txBody>
      </p:sp>
      <p:pic>
        <p:nvPicPr>
          <p:cNvPr id="106" name=""/>
          <p:cNvPicPr>
            <a:picLocks noChangeAspect="1"/>
          </p:cNvPicPr>
          <p:nvPr/>
        </p:nvPicPr>
        <p:blipFill>
          <a:blip r:embed="lexRef52f1c708534faa"/>
          <a:srcRect l="50000" t="51074" r="25000" b="26074"/>
          <a:stretch>
            <a:fillRect l="0" t="0" r="0" b="0"/>
          </a:stretch>
        </p:blipFill>
        <p:spPr>
          <a:xfrm>
            <a:off x="8045013" y="1616289"/>
            <a:ext cx="3425452" cy="1762125"/>
          </a:xfrm>
          <a:prstGeom prst="rect">
            <a:avLst/>
          </a:prstGeom>
        </p:spPr>
      </p:pic>
      <p:sp>
        <p:nvSpPr>
          <p:cNvPr id="107" name="">
            <a:extLst>
              <a:ext uri="{FF2B5EF4-FFF2-40B4-BE49-F238E27FC236}">
                <a16:creationId id="{96227842-FD7A-490F-9485-A39CDF4482B7}"/>
              </a:ext>
            </a:extLst>
          </p:cNvPr>
          <p:cNvSpPr>
            <a:spLocks noGrp="1"/>
          </p:cNvSpPr>
          <p:nvPr/>
        </p:nvSpPr>
        <p:spPr>
          <a:xfrm>
            <a:off x="8045013" y="3568914"/>
            <a:ext cx="342545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结果证据</a:t>
            </a:r>
          </a:p>
        </p:txBody>
      </p:sp>
      <p:sp>
        <p:nvSpPr>
          <p:cNvPr id="108" name="">
            <a:extLst>
              <a:ext uri="{FF2B5EF4-FFF2-40B4-BE49-F238E27FC236}">
                <a16:creationId id="{3FD25C0F-3EF8-4A2B-B7E1-C800641EC254}"/>
              </a:ext>
            </a:extLst>
          </p:cNvPr>
          <p:cNvSpPr>
            <a:spLocks noGrp="1"/>
          </p:cNvSpPr>
          <p:nvPr/>
        </p:nvSpPr>
        <p:spPr>
          <a:xfrm>
            <a:off x="8045013" y="3997539"/>
            <a:ext cx="3425452" cy="1133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区分完成、失败、人工接管。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留存：任务状态、失败类型、回放</a:t>
            </a:r>
          </a:p>
        </p:txBody>
      </p:sp>
      <p:sp>
        <p:nvSpPr>
          <p:cNvPr id="109" name="">
            <a:extLst>
              <a:ext uri="{FF2B5EF4-FFF2-40B4-BE49-F238E27FC236}">
                <a16:creationId id="{09FA9B0E-3C22-4F41-939B-FDF399C206A3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H09 · 图片证据网格｜AI场景示意；文字为建议证据字段，不是真实实验照片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3252022315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研究范围与推导口径</a:t>
            </a:r>
          </a:p>
        </p:txBody>
      </p:sp>
      <p:sp>
        <p:nvSpPr>
          <p:cNvPr id="100" name="">
            <a:extLst>
              <a:ext uri="{FF2B5EF4-FFF2-40B4-BE49-F238E27FC236}">
                <a16:creationId id="{A7253ECD-4383-49D3-8137-13E67D4CF511}"/>
              </a:ext>
            </a:extLst>
          </p:cNvPr>
          <p:cNvSpPr>
            <a:spLocks noGrp="1"/>
          </p:cNvSpPr>
          <p:nvPr/>
        </p:nvSpPr>
        <p:spPr>
          <a:xfrm>
            <a:off x="736908" y="1597239"/>
            <a:ext cx="10733557" cy="371475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</p:sp>
      <p:sp>
        <p:nvSpPr>
          <p:cNvPr id="101" name="">
            <a:extLst>
              <a:ext uri="{FF2B5EF4-FFF2-40B4-BE49-F238E27FC236}">
                <a16:creationId id="{84B6A5CB-1497-4A96-830B-333905A61AA2}"/>
              </a:ext>
            </a:extLst>
          </p:cNvPr>
          <p:cNvSpPr>
            <a:spLocks noGrp="1"/>
          </p:cNvSpPr>
          <p:nvPr/>
        </p:nvSpPr>
        <p:spPr>
          <a:xfrm>
            <a:off x="736908" y="1597239"/>
            <a:ext cx="285750" cy="2857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2" name="">
            <a:extLst>
              <a:ext uri="{FF2B5EF4-FFF2-40B4-BE49-F238E27FC236}">
                <a16:creationId id="{3ED4D01B-55B9-46B6-AC76-F5A3C9ECDEFB}"/>
              </a:ext>
            </a:extLst>
          </p:cNvPr>
          <p:cNvSpPr>
            <a:spLocks noGrp="1"/>
          </p:cNvSpPr>
          <p:nvPr/>
        </p:nvSpPr>
        <p:spPr>
          <a:xfrm>
            <a:off x="736908" y="1597239"/>
            <a:ext cx="28575" cy="285750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3" name="">
            <a:extLst>
              <a:ext uri="{FF2B5EF4-FFF2-40B4-BE49-F238E27FC236}">
                <a16:creationId id="{DA6162B3-B811-4D03-A83C-B33F8EA3B670}"/>
              </a:ext>
            </a:extLst>
          </p:cNvPr>
          <p:cNvSpPr>
            <a:spLocks noGrp="1"/>
          </p:cNvSpPr>
          <p:nvPr/>
        </p:nvSpPr>
        <p:spPr>
          <a:xfrm>
            <a:off x="11184715" y="1597239"/>
            <a:ext cx="285750" cy="2857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4" name="">
            <a:extLst>
              <a:ext uri="{FF2B5EF4-FFF2-40B4-BE49-F238E27FC236}">
                <a16:creationId id="{65AE3D47-9481-4F64-A768-ADA5FCB6A4FA}"/>
              </a:ext>
            </a:extLst>
          </p:cNvPr>
          <p:cNvSpPr>
            <a:spLocks noGrp="1"/>
          </p:cNvSpPr>
          <p:nvPr/>
        </p:nvSpPr>
        <p:spPr>
          <a:xfrm>
            <a:off x="11441890" y="1597239"/>
            <a:ext cx="28575" cy="285750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5" name="">
            <a:extLst>
              <a:ext uri="{FF2B5EF4-FFF2-40B4-BE49-F238E27FC236}">
                <a16:creationId id="{544736D2-123E-4880-8B5E-A39749994CCB}"/>
              </a:ext>
            </a:extLst>
          </p:cNvPr>
          <p:cNvSpPr>
            <a:spLocks noGrp="1"/>
          </p:cNvSpPr>
          <p:nvPr/>
        </p:nvSpPr>
        <p:spPr>
          <a:xfrm>
            <a:off x="736908" y="5026239"/>
            <a:ext cx="285750" cy="2857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6" name="">
            <a:extLst>
              <a:ext uri="{FF2B5EF4-FFF2-40B4-BE49-F238E27FC236}">
                <a16:creationId id="{C0174CA9-BDB0-4B80-8D5B-5CA507D0A553}"/>
              </a:ext>
            </a:extLst>
          </p:cNvPr>
          <p:cNvSpPr>
            <a:spLocks noGrp="1"/>
          </p:cNvSpPr>
          <p:nvPr/>
        </p:nvSpPr>
        <p:spPr>
          <a:xfrm>
            <a:off x="736908" y="5026239"/>
            <a:ext cx="28575" cy="285750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7" name="">
            <a:extLst>
              <a:ext uri="{FF2B5EF4-FFF2-40B4-BE49-F238E27FC236}">
                <a16:creationId id="{0E486E02-23A8-4052-AEA7-F9F4CB937AFB}"/>
              </a:ext>
            </a:extLst>
          </p:cNvPr>
          <p:cNvSpPr>
            <a:spLocks noGrp="1"/>
          </p:cNvSpPr>
          <p:nvPr/>
        </p:nvSpPr>
        <p:spPr>
          <a:xfrm>
            <a:off x="11184715" y="5026239"/>
            <a:ext cx="285750" cy="2857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8" name="">
            <a:extLst>
              <a:ext uri="{FF2B5EF4-FFF2-40B4-BE49-F238E27FC236}">
                <a16:creationId id="{D776485E-338F-4D8D-80EA-DFC121A39B44}"/>
              </a:ext>
            </a:extLst>
          </p:cNvPr>
          <p:cNvSpPr>
            <a:spLocks noGrp="1"/>
          </p:cNvSpPr>
          <p:nvPr/>
        </p:nvSpPr>
        <p:spPr>
          <a:xfrm>
            <a:off x="11441890" y="5026239"/>
            <a:ext cx="28575" cy="285750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9" name="">
            <a:extLst>
              <a:ext uri="{FF2B5EF4-FFF2-40B4-BE49-F238E27FC236}">
                <a16:creationId id="{4ABC09E2-CF6C-4A18-BC6A-AE7AFE927945}"/>
              </a:ext>
            </a:extLst>
          </p:cNvPr>
          <p:cNvSpPr>
            <a:spLocks noGrp="1"/>
          </p:cNvSpPr>
          <p:nvPr/>
        </p:nvSpPr>
        <p:spPr>
          <a:xfrm>
            <a:off x="1003608" y="1806789"/>
            <a:ext cx="10200157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研究对象</a:t>
            </a:r>
          </a:p>
        </p:txBody>
      </p:sp>
      <p:sp>
        <p:nvSpPr>
          <p:cNvPr id="110" name="">
            <a:extLst>
              <a:ext uri="{FF2B5EF4-FFF2-40B4-BE49-F238E27FC236}">
                <a16:creationId id="{8F67929D-E4E1-40AC-93DE-F839D1D473EE}"/>
              </a:ext>
            </a:extLst>
          </p:cNvPr>
          <p:cNvSpPr>
            <a:spLocks noGrp="1"/>
          </p:cNvSpPr>
          <p:nvPr/>
        </p:nvSpPr>
        <p:spPr>
          <a:xfrm>
            <a:off x="1003608" y="2216364"/>
            <a:ext cx="10200157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面向多视角视觉输入、语言指令与连续动作输出的具身策略，讨论其数据管线、训练负载和部署约束。</a:t>
            </a:r>
          </a:p>
        </p:txBody>
      </p:sp>
      <p:sp>
        <p:nvSpPr>
          <p:cNvPr id="111" name="">
            <a:extLst>
              <a:ext uri="{FF2B5EF4-FFF2-40B4-BE49-F238E27FC236}">
                <a16:creationId id="{3CB6437C-CEEC-4D8B-90BB-1F35B3E529CC}"/>
              </a:ext>
            </a:extLst>
          </p:cNvPr>
          <p:cNvSpPr>
            <a:spLocks noGrp="1"/>
          </p:cNvSpPr>
          <p:nvPr/>
        </p:nvSpPr>
        <p:spPr>
          <a:xfrm>
            <a:off x="1003608" y="2959314"/>
            <a:ext cx="10200157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比较口径</a:t>
            </a:r>
          </a:p>
        </p:txBody>
      </p:sp>
      <p:sp>
        <p:nvSpPr>
          <p:cNvPr id="112" name="">
            <a:extLst>
              <a:ext uri="{FF2B5EF4-FFF2-40B4-BE49-F238E27FC236}">
                <a16:creationId id="{593DB1CD-DACB-40D2-9C68-333EF6E7F4B3}"/>
              </a:ext>
            </a:extLst>
          </p:cNvPr>
          <p:cNvSpPr>
            <a:spLocks noGrp="1"/>
          </p:cNvSpPr>
          <p:nvPr/>
        </p:nvSpPr>
        <p:spPr>
          <a:xfrm>
            <a:off x="1003608" y="3368889"/>
            <a:ext cx="10200157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所有性能比较绑定模型与版本、数据集、输入长度、精度、批量、平台与软件栈；训练比较进一步约束目标质量。</a:t>
            </a:r>
          </a:p>
        </p:txBody>
      </p:sp>
      <p:sp>
        <p:nvSpPr>
          <p:cNvPr id="113" name="">
            <a:extLst>
              <a:ext uri="{FF2B5EF4-FFF2-40B4-BE49-F238E27FC236}">
                <a16:creationId id="{7AFA6779-FD9C-48F7-884C-C88CB55E55CA}"/>
              </a:ext>
            </a:extLst>
          </p:cNvPr>
          <p:cNvSpPr>
            <a:spLocks noGrp="1"/>
          </p:cNvSpPr>
          <p:nvPr/>
        </p:nvSpPr>
        <p:spPr>
          <a:xfrm>
            <a:off x="1003608" y="4111839"/>
            <a:ext cx="10200157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结论边界</a:t>
            </a:r>
          </a:p>
        </p:txBody>
      </p:sp>
      <p:sp>
        <p:nvSpPr>
          <p:cNvPr id="114" name="">
            <a:extLst>
              <a:ext uri="{FF2B5EF4-FFF2-40B4-BE49-F238E27FC236}">
                <a16:creationId id="{69EDEF88-9327-49FE-8816-A4A0025140F9}"/>
              </a:ext>
            </a:extLst>
          </p:cNvPr>
          <p:cNvSpPr>
            <a:spLocks noGrp="1"/>
          </p:cNvSpPr>
          <p:nvPr/>
        </p:nvSpPr>
        <p:spPr>
          <a:xfrm>
            <a:off x="1003608" y="4521414"/>
            <a:ext cx="10200157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机制分析用于提出可检验假设。公开论文、厂商自报和目标平台实测分别记录；不从单点吞吐推断端到端收益。</a:t>
            </a:r>
          </a:p>
        </p:txBody>
      </p:sp>
      <p:sp>
        <p:nvSpPr>
          <p:cNvPr id="115" name="">
            <a:extLst>
              <a:ext uri="{FF2B5EF4-FFF2-40B4-BE49-F238E27FC236}">
                <a16:creationId id="{5F559C46-A80E-4225-9874-E3AFA9BE124F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H11 · 研究前言｜原创分析示例；未对应真实项目承诺或平台实测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双臂整理任务暴露数据与部署约束</a:t>
            </a:r>
          </a:p>
        </p:txBody>
      </p:sp>
      <p:pic>
        <p:nvPicPr>
          <p:cNvPr id="100" name=""/>
          <p:cNvPicPr>
            <a:picLocks noChangeAspect="1"/>
          </p:cNvPicPr>
          <p:nvPr/>
        </p:nvPicPr>
        <p:blipFill>
          <a:blip r:embed="lexR892267307ae74864"/>
          <a:srcRect l="25000" t="58696" r="50000" b="33696"/>
          <a:stretch>
            <a:fillRect l="0" t="0" r="0" b="0"/>
          </a:stretch>
        </p:blipFill>
        <p:spPr>
          <a:xfrm>
            <a:off x="736908" y="1559139"/>
            <a:ext cx="10733557" cy="1838325"/>
          </a:xfrm>
          <a:prstGeom prst="rect">
            <a:avLst/>
          </a:prstGeom>
        </p:spPr>
      </p:pic>
      <p:sp>
        <p:nvSpPr>
          <p:cNvPr id="101" name="">
            <a:extLst>
              <a:ext uri="{FF2B5EF4-FFF2-40B4-BE49-F238E27FC236}">
                <a16:creationId id="{7BB8932E-199E-45F9-BC30-11C6E528A27F}"/>
              </a:ext>
            </a:extLst>
          </p:cNvPr>
          <p:cNvSpPr>
            <a:spLocks noGrp="1"/>
          </p:cNvSpPr>
          <p:nvPr/>
        </p:nvSpPr>
        <p:spPr>
          <a:xfrm>
            <a:off x="736908" y="3616539"/>
            <a:ext cx="7620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双臂整理：从单次成功转向稳定完成</a:t>
            </a:r>
          </a:p>
        </p:txBody>
      </p:sp>
      <p:sp>
        <p:nvSpPr>
          <p:cNvPr id="102" name="">
            <a:extLst>
              <a:ext uri="{FF2B5EF4-FFF2-40B4-BE49-F238E27FC236}">
                <a16:creationId id="{3C911C0F-4103-4020-90AF-03021BF629D7}"/>
              </a:ext>
            </a:extLst>
          </p:cNvPr>
          <p:cNvSpPr>
            <a:spLocks noGrp="1"/>
          </p:cNvSpPr>
          <p:nvPr/>
        </p:nvSpPr>
        <p:spPr>
          <a:xfrm>
            <a:off x="736908" y="4159464"/>
            <a:ext cx="32861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任务设置</a:t>
            </a:r>
          </a:p>
        </p:txBody>
      </p:sp>
      <p:sp>
        <p:nvSpPr>
          <p:cNvPr id="103" name="">
            <a:extLst>
              <a:ext uri="{FF2B5EF4-FFF2-40B4-BE49-F238E27FC236}">
                <a16:creationId id="{E9BC5145-5379-4D3B-8FDD-C551D535D23A}"/>
              </a:ext>
            </a:extLst>
          </p:cNvPr>
          <p:cNvSpPr>
            <a:spLocks noGrp="1"/>
          </p:cNvSpPr>
          <p:nvPr/>
        </p:nvSpPr>
        <p:spPr>
          <a:xfrm>
            <a:off x="736908" y="4569039"/>
            <a:ext cx="3286125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软物体姿态多变；遮挡与接触影响动作执行。需要连续记录观察、动作、接管与结果。</a:t>
            </a:r>
          </a:p>
        </p:txBody>
      </p:sp>
      <p:sp>
        <p:nvSpPr>
          <p:cNvPr id="104" name="">
            <a:extLst>
              <a:ext uri="{FF2B5EF4-FFF2-40B4-BE49-F238E27FC236}">
                <a16:creationId id="{2B711F3F-D505-4A1C-9FE1-E45CC3D8D15A}"/>
              </a:ext>
            </a:extLst>
          </p:cNvPr>
          <p:cNvSpPr>
            <a:spLocks noGrp="1"/>
          </p:cNvSpPr>
          <p:nvPr/>
        </p:nvSpPr>
        <p:spPr>
          <a:xfrm>
            <a:off x="4451658" y="4159464"/>
            <a:ext cx="32861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系统问题</a:t>
            </a:r>
          </a:p>
        </p:txBody>
      </p:sp>
      <p:sp>
        <p:nvSpPr>
          <p:cNvPr id="105" name="">
            <a:extLst>
              <a:ext uri="{FF2B5EF4-FFF2-40B4-BE49-F238E27FC236}">
                <a16:creationId id="{17102900-A019-44E6-B739-BD8C83343279}"/>
              </a:ext>
            </a:extLst>
          </p:cNvPr>
          <p:cNvSpPr>
            <a:spLocks noGrp="1"/>
          </p:cNvSpPr>
          <p:nvPr/>
        </p:nvSpPr>
        <p:spPr>
          <a:xfrm>
            <a:off x="4451658" y="4569039"/>
            <a:ext cx="3286125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现场变化需要失败样本回流；训练吞吐和数据质量应分别测量，避免把问题都归因于算力。</a:t>
            </a:r>
          </a:p>
        </p:txBody>
      </p:sp>
      <p:sp>
        <p:nvSpPr>
          <p:cNvPr id="106" name="">
            <a:extLst>
              <a:ext uri="{FF2B5EF4-FFF2-40B4-BE49-F238E27FC236}">
                <a16:creationId id="{18CEAF63-713B-4E59-A481-7D3FAEBB8670}"/>
              </a:ext>
            </a:extLst>
          </p:cNvPr>
          <p:cNvSpPr>
            <a:spLocks noGrp="1"/>
          </p:cNvSpPr>
          <p:nvPr/>
        </p:nvSpPr>
        <p:spPr>
          <a:xfrm>
            <a:off x="8166408" y="4159464"/>
            <a:ext cx="32861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验证路径</a:t>
            </a:r>
          </a:p>
        </p:txBody>
      </p:sp>
      <p:sp>
        <p:nvSpPr>
          <p:cNvPr id="107" name="">
            <a:extLst>
              <a:ext uri="{FF2B5EF4-FFF2-40B4-BE49-F238E27FC236}">
                <a16:creationId id="{CBFF6468-70DB-4EC3-B8EF-6EC95F0304BD}"/>
              </a:ext>
            </a:extLst>
          </p:cNvPr>
          <p:cNvSpPr>
            <a:spLocks noGrp="1"/>
          </p:cNvSpPr>
          <p:nvPr/>
        </p:nvSpPr>
        <p:spPr>
          <a:xfrm>
            <a:off x="8166408" y="4569039"/>
            <a:ext cx="3286125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先冻结任务集与基础模型，再对输入策略、数据配方及推理配置做受控对照。</a:t>
            </a:r>
          </a:p>
        </p:txBody>
      </p:sp>
      <p:sp>
        <p:nvSpPr>
          <p:cNvPr id="108" name="">
            <a:extLst>
              <a:ext uri="{FF2B5EF4-FFF2-40B4-BE49-F238E27FC236}">
                <a16:creationId id="{D7D5EE6F-7D83-4A1C-8B66-75272985F290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H12 · 图文报告｜AI场景示意与原创案例设定；非公开产品能力或真实客户项目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五个采集阶段对应五类可核验证据</a:t>
            </a:r>
          </a:p>
        </p:txBody>
      </p:sp>
      <p:pic>
        <p:nvPicPr>
          <p:cNvPr id="100" name=""/>
          <p:cNvPicPr>
            <a:picLocks noChangeAspect="1"/>
          </p:cNvPicPr>
          <p:nvPr/>
        </p:nvPicPr>
        <p:blipFill>
          <a:blip r:embed="lexRe4749767590343ba"/>
          <a:srcRect l="78571" t="25000" r="3571" b="50000"/>
          <a:stretch>
            <a:fillRect l="0" t="0" r="0" b="0"/>
          </a:stretch>
        </p:blipFill>
        <p:spPr>
          <a:xfrm>
            <a:off x="736908" y="1692489"/>
            <a:ext cx="2055271" cy="1619250"/>
          </a:xfrm>
          <a:prstGeom prst="rect">
            <a:avLst/>
          </a:prstGeom>
        </p:spPr>
      </p:pic>
      <p:sp>
        <p:nvSpPr>
          <p:cNvPr id="101" name="">
            <a:extLst>
              <a:ext uri="{FF2B5EF4-FFF2-40B4-BE49-F238E27FC236}">
                <a16:creationId id="{DE81663B-E4F5-49B5-A105-30B37AA10E9A}"/>
              </a:ext>
            </a:extLst>
          </p:cNvPr>
          <p:cNvSpPr>
            <a:spLocks noGrp="1"/>
          </p:cNvSpPr>
          <p:nvPr/>
        </p:nvSpPr>
        <p:spPr>
          <a:xfrm>
            <a:off x="736908" y="3435564"/>
            <a:ext cx="2055271" cy="37147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2" name="">
            <a:extLst>
              <a:ext uri="{FF2B5EF4-FFF2-40B4-BE49-F238E27FC236}">
                <a16:creationId id="{7C4B761B-2445-472F-87AC-1E7426F3676F}"/>
              </a:ext>
            </a:extLst>
          </p:cNvPr>
          <p:cNvSpPr>
            <a:spLocks noGrp="1"/>
          </p:cNvSpPr>
          <p:nvPr/>
        </p:nvSpPr>
        <p:spPr>
          <a:xfrm>
            <a:off x="803583" y="3483189"/>
            <a:ext cx="1921921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设备校准</a:t>
            </a:r>
          </a:p>
        </p:txBody>
      </p:sp>
      <p:sp>
        <p:nvSpPr>
          <p:cNvPr id="103" name="">
            <a:extLst>
              <a:ext uri="{FF2B5EF4-FFF2-40B4-BE49-F238E27FC236}">
                <a16:creationId id="{AE453D89-E2F9-42A8-8A55-8623886D0799}"/>
              </a:ext>
            </a:extLst>
          </p:cNvPr>
          <p:cNvSpPr>
            <a:spLocks noGrp="1"/>
          </p:cNvSpPr>
          <p:nvPr/>
        </p:nvSpPr>
        <p:spPr>
          <a:xfrm>
            <a:off x="736908" y="3997539"/>
            <a:ext cx="2055271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统一相机与机器人坐标</a:t>
            </a:r>
          </a:p>
        </p:txBody>
      </p:sp>
      <p:sp>
        <p:nvSpPr>
          <p:cNvPr id="104" name="">
            <a:extLst>
              <a:ext uri="{FF2B5EF4-FFF2-40B4-BE49-F238E27FC236}">
                <a16:creationId id="{1AD78082-485D-43EF-BB47-88AB7C9457B2}"/>
              </a:ext>
            </a:extLst>
          </p:cNvPr>
          <p:cNvSpPr>
            <a:spLocks noGrp="1"/>
          </p:cNvSpPr>
          <p:nvPr/>
        </p:nvSpPr>
        <p:spPr>
          <a:xfrm>
            <a:off x="736908" y="5007189"/>
            <a:ext cx="2055271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证据 标定参数</a:t>
            </a:r>
          </a:p>
        </p:txBody>
      </p:sp>
      <p:pic>
        <p:nvPicPr>
          <p:cNvPr id="105" name=""/>
          <p:cNvPicPr>
            <a:picLocks noChangeAspect="1"/>
          </p:cNvPicPr>
          <p:nvPr/>
        </p:nvPicPr>
        <p:blipFill>
          <a:blip r:embed="lexR4544bb1e8da34769"/>
          <a:srcRect l="3571" t="0" r="78571" b="75000"/>
          <a:stretch>
            <a:fillRect l="0" t="0" r="0" b="0"/>
          </a:stretch>
        </p:blipFill>
        <p:spPr>
          <a:xfrm>
            <a:off x="2906479" y="1692489"/>
            <a:ext cx="2055271" cy="1619250"/>
          </a:xfrm>
          <a:prstGeom prst="rect">
            <a:avLst/>
          </a:prstGeom>
        </p:spPr>
      </p:pic>
      <p:sp>
        <p:nvSpPr>
          <p:cNvPr id="106" name="">
            <a:extLst>
              <a:ext uri="{FF2B5EF4-FFF2-40B4-BE49-F238E27FC236}">
                <a16:creationId id="{368F1306-B3D5-4109-8723-84CA657795AB}"/>
              </a:ext>
            </a:extLst>
          </p:cNvPr>
          <p:cNvSpPr>
            <a:spLocks noGrp="1"/>
          </p:cNvSpPr>
          <p:nvPr/>
        </p:nvSpPr>
        <p:spPr>
          <a:xfrm>
            <a:off x="2906479" y="3435564"/>
            <a:ext cx="2055271" cy="37147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7" name="">
            <a:extLst>
              <a:ext uri="{FF2B5EF4-FFF2-40B4-BE49-F238E27FC236}">
                <a16:creationId id="{E896119B-1695-4EFC-8F97-D56C8A19218F}"/>
              </a:ext>
            </a:extLst>
          </p:cNvPr>
          <p:cNvSpPr>
            <a:spLocks noGrp="1"/>
          </p:cNvSpPr>
          <p:nvPr/>
        </p:nvSpPr>
        <p:spPr>
          <a:xfrm>
            <a:off x="2973154" y="3483189"/>
            <a:ext cx="1921921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任务采集</a:t>
            </a:r>
          </a:p>
        </p:txBody>
      </p:sp>
      <p:sp>
        <p:nvSpPr>
          <p:cNvPr id="108" name="">
            <a:extLst>
              <a:ext uri="{FF2B5EF4-FFF2-40B4-BE49-F238E27FC236}">
                <a16:creationId id="{550D6F81-9F47-4D8A-9DEE-D6FE30A6E904}"/>
              </a:ext>
            </a:extLst>
          </p:cNvPr>
          <p:cNvSpPr>
            <a:spLocks noGrp="1"/>
          </p:cNvSpPr>
          <p:nvPr/>
        </p:nvSpPr>
        <p:spPr>
          <a:xfrm>
            <a:off x="2906479" y="3997539"/>
            <a:ext cx="2055271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覆盖变化与失败恢复</a:t>
            </a:r>
          </a:p>
        </p:txBody>
      </p:sp>
      <p:sp>
        <p:nvSpPr>
          <p:cNvPr id="109" name="">
            <a:extLst>
              <a:ext uri="{FF2B5EF4-FFF2-40B4-BE49-F238E27FC236}">
                <a16:creationId id="{00D01FED-DEC0-45EE-BDB9-701066839043}"/>
              </a:ext>
            </a:extLst>
          </p:cNvPr>
          <p:cNvSpPr>
            <a:spLocks noGrp="1"/>
          </p:cNvSpPr>
          <p:nvPr/>
        </p:nvSpPr>
        <p:spPr>
          <a:xfrm>
            <a:off x="2906479" y="5007189"/>
            <a:ext cx="2055271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证据 时间戳日志</a:t>
            </a:r>
          </a:p>
        </p:txBody>
      </p:sp>
      <p:pic>
        <p:nvPicPr>
          <p:cNvPr id="110" name=""/>
          <p:cNvPicPr>
            <a:picLocks noChangeAspect="1"/>
          </p:cNvPicPr>
          <p:nvPr/>
        </p:nvPicPr>
        <p:blipFill>
          <a:blip r:embed="lexRb97529e5b2b441bb"/>
          <a:srcRect l="28571" t="25000" r="53571" b="50000"/>
          <a:stretch>
            <a:fillRect l="0" t="0" r="0" b="0"/>
          </a:stretch>
        </p:blipFill>
        <p:spPr>
          <a:xfrm>
            <a:off x="5076051" y="1692489"/>
            <a:ext cx="2055271" cy="1619250"/>
          </a:xfrm>
          <a:prstGeom prst="rect">
            <a:avLst/>
          </a:prstGeom>
        </p:spPr>
      </p:pic>
      <p:sp>
        <p:nvSpPr>
          <p:cNvPr id="111" name="">
            <a:extLst>
              <a:ext uri="{FF2B5EF4-FFF2-40B4-BE49-F238E27FC236}">
                <a16:creationId id="{A5A70248-3AC9-4F59-80BA-471CAE46AA2A}"/>
              </a:ext>
            </a:extLst>
          </p:cNvPr>
          <p:cNvSpPr>
            <a:spLocks noGrp="1"/>
          </p:cNvSpPr>
          <p:nvPr/>
        </p:nvSpPr>
        <p:spPr>
          <a:xfrm>
            <a:off x="5076051" y="3435564"/>
            <a:ext cx="2055271" cy="37147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2" name="">
            <a:extLst>
              <a:ext uri="{FF2B5EF4-FFF2-40B4-BE49-F238E27FC236}">
                <a16:creationId id="{50A5D169-A544-44B4-8365-FA2089169ACE}"/>
              </a:ext>
            </a:extLst>
          </p:cNvPr>
          <p:cNvSpPr>
            <a:spLocks noGrp="1"/>
          </p:cNvSpPr>
          <p:nvPr/>
        </p:nvSpPr>
        <p:spPr>
          <a:xfrm>
            <a:off x="5142726" y="3483189"/>
            <a:ext cx="1921921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数据处理</a:t>
            </a:r>
          </a:p>
        </p:txBody>
      </p:sp>
      <p:sp>
        <p:nvSpPr>
          <p:cNvPr id="113" name="">
            <a:extLst>
              <a:ext uri="{FF2B5EF4-FFF2-40B4-BE49-F238E27FC236}">
                <a16:creationId id="{91AB921C-62D3-4AD3-B8BC-BD5BFCE70408}"/>
              </a:ext>
            </a:extLst>
          </p:cNvPr>
          <p:cNvSpPr>
            <a:spLocks noGrp="1"/>
          </p:cNvSpPr>
          <p:nvPr/>
        </p:nvSpPr>
        <p:spPr>
          <a:xfrm>
            <a:off x="5076051" y="3997539"/>
            <a:ext cx="2055271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切片、去噪与版本化</a:t>
            </a:r>
          </a:p>
        </p:txBody>
      </p:sp>
      <p:sp>
        <p:nvSpPr>
          <p:cNvPr id="114" name="">
            <a:extLst>
              <a:ext uri="{FF2B5EF4-FFF2-40B4-BE49-F238E27FC236}">
                <a16:creationId id="{66F928D2-8854-4815-B970-E59AE7D5959D}"/>
              </a:ext>
            </a:extLst>
          </p:cNvPr>
          <p:cNvSpPr>
            <a:spLocks noGrp="1"/>
          </p:cNvSpPr>
          <p:nvPr/>
        </p:nvSpPr>
        <p:spPr>
          <a:xfrm>
            <a:off x="5076051" y="5007189"/>
            <a:ext cx="2055271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证据 质检报告</a:t>
            </a:r>
          </a:p>
        </p:txBody>
      </p:sp>
      <p:pic>
        <p:nvPicPr>
          <p:cNvPr id="115" name=""/>
          <p:cNvPicPr>
            <a:picLocks noChangeAspect="1"/>
          </p:cNvPicPr>
          <p:nvPr/>
        </p:nvPicPr>
        <p:blipFill>
          <a:blip r:embed="lexRc8de71bcbc834007"/>
          <a:srcRect l="53571" t="25000" r="28571" b="50000"/>
          <a:stretch>
            <a:fillRect l="0" t="0" r="0" b="0"/>
          </a:stretch>
        </p:blipFill>
        <p:spPr>
          <a:xfrm>
            <a:off x="7245622" y="1692489"/>
            <a:ext cx="2055271" cy="1619250"/>
          </a:xfrm>
          <a:prstGeom prst="rect">
            <a:avLst/>
          </a:prstGeom>
        </p:spPr>
      </p:pic>
      <p:sp>
        <p:nvSpPr>
          <p:cNvPr id="116" name="">
            <a:extLst>
              <a:ext uri="{FF2B5EF4-FFF2-40B4-BE49-F238E27FC236}">
                <a16:creationId id="{F2DA6BCF-CA53-4525-A7CF-18450B1C42F5}"/>
              </a:ext>
            </a:extLst>
          </p:cNvPr>
          <p:cNvSpPr>
            <a:spLocks noGrp="1"/>
          </p:cNvSpPr>
          <p:nvPr/>
        </p:nvSpPr>
        <p:spPr>
          <a:xfrm>
            <a:off x="7245622" y="3435564"/>
            <a:ext cx="2055271" cy="37147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7" name="">
            <a:extLst>
              <a:ext uri="{FF2B5EF4-FFF2-40B4-BE49-F238E27FC236}">
                <a16:creationId id="{6517E445-4BF3-47B1-A25C-DA2C7A7B3E7A}"/>
              </a:ext>
            </a:extLst>
          </p:cNvPr>
          <p:cNvSpPr>
            <a:spLocks noGrp="1"/>
          </p:cNvSpPr>
          <p:nvPr/>
        </p:nvSpPr>
        <p:spPr>
          <a:xfrm>
            <a:off x="7312297" y="3483189"/>
            <a:ext cx="1921921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仿真回放</a:t>
            </a:r>
          </a:p>
        </p:txBody>
      </p:sp>
      <p:sp>
        <p:nvSpPr>
          <p:cNvPr id="118" name="">
            <a:extLst>
              <a:ext uri="{FF2B5EF4-FFF2-40B4-BE49-F238E27FC236}">
                <a16:creationId id="{07BC57BB-CAD1-4C62-B789-402994D3971F}"/>
              </a:ext>
            </a:extLst>
          </p:cNvPr>
          <p:cNvSpPr>
            <a:spLocks noGrp="1"/>
          </p:cNvSpPr>
          <p:nvPr/>
        </p:nvSpPr>
        <p:spPr>
          <a:xfrm>
            <a:off x="7245622" y="3997539"/>
            <a:ext cx="2055271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固定初始条件与任务</a:t>
            </a:r>
          </a:p>
        </p:txBody>
      </p:sp>
      <p:sp>
        <p:nvSpPr>
          <p:cNvPr id="119" name="">
            <a:extLst>
              <a:ext uri="{FF2B5EF4-FFF2-40B4-BE49-F238E27FC236}">
                <a16:creationId id="{0D2BAFCF-4D55-4DD6-A58F-CB7A4126175D}"/>
              </a:ext>
            </a:extLst>
          </p:cNvPr>
          <p:cNvSpPr>
            <a:spLocks noGrp="1"/>
          </p:cNvSpPr>
          <p:nvPr/>
        </p:nvSpPr>
        <p:spPr>
          <a:xfrm>
            <a:off x="7245622" y="5007189"/>
            <a:ext cx="2055271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证据 回放脚本</a:t>
            </a:r>
          </a:p>
        </p:txBody>
      </p:sp>
      <p:pic>
        <p:nvPicPr>
          <p:cNvPr id="120" name=""/>
          <p:cNvPicPr>
            <a:picLocks noChangeAspect="1"/>
          </p:cNvPicPr>
          <p:nvPr/>
        </p:nvPicPr>
        <p:blipFill>
          <a:blip r:embed="lexR8f98b8b7f8a8468a"/>
          <a:srcRect l="3571" t="75000" r="78571" b="0"/>
          <a:stretch>
            <a:fillRect l="0" t="0" r="0" b="0"/>
          </a:stretch>
        </p:blipFill>
        <p:spPr>
          <a:xfrm>
            <a:off x="9415194" y="1692489"/>
            <a:ext cx="2055271" cy="1619250"/>
          </a:xfrm>
          <a:prstGeom prst="rect">
            <a:avLst/>
          </a:prstGeom>
        </p:spPr>
      </p:pic>
      <p:sp>
        <p:nvSpPr>
          <p:cNvPr id="121" name="">
            <a:extLst>
              <a:ext uri="{FF2B5EF4-FFF2-40B4-BE49-F238E27FC236}">
                <a16:creationId id="{2DDAD883-3914-43C3-AE2D-27B50FF07C9D}"/>
              </a:ext>
            </a:extLst>
          </p:cNvPr>
          <p:cNvSpPr>
            <a:spLocks noGrp="1"/>
          </p:cNvSpPr>
          <p:nvPr/>
        </p:nvSpPr>
        <p:spPr>
          <a:xfrm>
            <a:off x="9415194" y="3435564"/>
            <a:ext cx="2055271" cy="37147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22" name="">
            <a:extLst>
              <a:ext uri="{FF2B5EF4-FFF2-40B4-BE49-F238E27FC236}">
                <a16:creationId id="{5D131CC5-E0BB-4B85-AEE5-47D9EDEC0E55}"/>
              </a:ext>
            </a:extLst>
          </p:cNvPr>
          <p:cNvSpPr>
            <a:spLocks noGrp="1"/>
          </p:cNvSpPr>
          <p:nvPr/>
        </p:nvSpPr>
        <p:spPr>
          <a:xfrm>
            <a:off x="9481869" y="3483189"/>
            <a:ext cx="1921921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现场回归</a:t>
            </a:r>
          </a:p>
        </p:txBody>
      </p:sp>
      <p:sp>
        <p:nvSpPr>
          <p:cNvPr id="123" name="">
            <a:extLst>
              <a:ext uri="{FF2B5EF4-FFF2-40B4-BE49-F238E27FC236}">
                <a16:creationId id="{09ACF8A5-0567-4836-B6F9-78EB7F1005F5}"/>
              </a:ext>
            </a:extLst>
          </p:cNvPr>
          <p:cNvSpPr>
            <a:spLocks noGrp="1"/>
          </p:cNvSpPr>
          <p:nvPr/>
        </p:nvSpPr>
        <p:spPr>
          <a:xfrm>
            <a:off x="9415194" y="3997539"/>
            <a:ext cx="2055271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跟踪成功率与接管</a:t>
            </a:r>
          </a:p>
        </p:txBody>
      </p:sp>
      <p:sp>
        <p:nvSpPr>
          <p:cNvPr id="124" name="">
            <a:extLst>
              <a:ext uri="{FF2B5EF4-FFF2-40B4-BE49-F238E27FC236}">
                <a16:creationId id="{F747A379-9B02-40FE-8DBD-AF099E58FF81}"/>
              </a:ext>
            </a:extLst>
          </p:cNvPr>
          <p:cNvSpPr>
            <a:spLocks noGrp="1"/>
          </p:cNvSpPr>
          <p:nvPr/>
        </p:nvSpPr>
        <p:spPr>
          <a:xfrm>
            <a:off x="9415194" y="5007189"/>
            <a:ext cx="2055271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证据 失败清单</a:t>
            </a:r>
          </a:p>
        </p:txBody>
      </p:sp>
      <p:sp>
        <p:nvSpPr>
          <p:cNvPr id="125" name="">
            <a:extLst>
              <a:ext uri="{FF2B5EF4-FFF2-40B4-BE49-F238E27FC236}">
                <a16:creationId id="{480BFEEB-C844-4D20-9136-B6EBAAB2E60B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H13 · 五图说明条｜五图为AI生成场景示意；每阶段配一类可追溯交付物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跨职能团队应按交付责任分工</a:t>
            </a:r>
          </a:p>
        </p:txBody>
      </p:sp>
      <p:pic>
        <p:nvPicPr>
          <p:cNvPr id="100" name=""/>
          <p:cNvPicPr>
            <a:picLocks noChangeAspect="1"/>
          </p:cNvPicPr>
          <p:nvPr/>
        </p:nvPicPr>
        <p:blipFill>
          <a:blip r:embed="lexRce3fe91583a44343"/>
          <a:srcRect l="0" t="20901" r="75000" b="20901"/>
          <a:stretch>
            <a:fillRect l="0" t="0" r="0" b="0"/>
          </a:stretch>
        </p:blipFill>
        <p:spPr>
          <a:xfrm>
            <a:off x="1117908" y="1549614"/>
            <a:ext cx="1778514" cy="1552575"/>
          </a:xfrm>
          <a:prstGeom prst="ellipse">
            <a:avLst/>
          </a:prstGeom>
        </p:spPr>
      </p:pic>
      <p:sp>
        <p:nvSpPr>
          <p:cNvPr id="101" name="">
            <a:extLst>
              <a:ext uri="{FF2B5EF4-FFF2-40B4-BE49-F238E27FC236}">
                <a16:creationId id="{A51471F7-840B-4D8C-B00A-DC9B3C57F581}"/>
              </a:ext>
            </a:extLst>
          </p:cNvPr>
          <p:cNvSpPr>
            <a:spLocks noGrp="1"/>
          </p:cNvSpPr>
          <p:nvPr/>
        </p:nvSpPr>
        <p:spPr>
          <a:xfrm>
            <a:off x="736908" y="3311739"/>
            <a:ext cx="2540514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技术负责人</a:t>
            </a:r>
          </a:p>
        </p:txBody>
      </p:sp>
      <p:sp>
        <p:nvSpPr>
          <p:cNvPr id="102" name="">
            <a:extLst>
              <a:ext uri="{FF2B5EF4-FFF2-40B4-BE49-F238E27FC236}">
                <a16:creationId id="{C7E99A64-9B01-4ED2-821E-8621C549183D}"/>
              </a:ext>
            </a:extLst>
          </p:cNvPr>
          <p:cNvSpPr>
            <a:spLocks noGrp="1"/>
          </p:cNvSpPr>
          <p:nvPr/>
        </p:nvSpPr>
        <p:spPr>
          <a:xfrm>
            <a:off x="736908" y="3711789"/>
            <a:ext cx="2540514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模型与验收边界</a:t>
            </a:r>
          </a:p>
        </p:txBody>
      </p:sp>
      <p:sp>
        <p:nvSpPr>
          <p:cNvPr id="103" name="">
            <a:extLst>
              <a:ext uri="{FF2B5EF4-FFF2-40B4-BE49-F238E27FC236}">
                <a16:creationId id="{F2CA09B7-4C07-4C3B-AB14-CCA013B8F105}"/>
              </a:ext>
            </a:extLst>
          </p:cNvPr>
          <p:cNvSpPr>
            <a:spLocks noGrp="1"/>
          </p:cNvSpPr>
          <p:nvPr/>
        </p:nvSpPr>
        <p:spPr>
          <a:xfrm>
            <a:off x="736908" y="4130889"/>
            <a:ext cx="2540514" cy="14288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4" name="">
            <a:extLst>
              <a:ext uri="{FF2B5EF4-FFF2-40B4-BE49-F238E27FC236}">
                <a16:creationId id="{7A19C2E3-7CEB-4271-92CA-A81E085BD22C}"/>
              </a:ext>
            </a:extLst>
          </p:cNvPr>
          <p:cNvSpPr>
            <a:spLocks noGrp="1"/>
          </p:cNvSpPr>
          <p:nvPr/>
        </p:nvSpPr>
        <p:spPr>
          <a:xfrm>
            <a:off x="736908" y="4321389"/>
            <a:ext cx="2540514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定义任务集和质量目标</a:t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审批模型与配方变更</a:t>
            </a:r>
          </a:p>
        </p:txBody>
      </p:sp>
      <p:pic>
        <p:nvPicPr>
          <p:cNvPr id="105" name=""/>
          <p:cNvPicPr>
            <a:picLocks noChangeAspect="1"/>
          </p:cNvPicPr>
          <p:nvPr/>
        </p:nvPicPr>
        <p:blipFill>
          <a:blip r:embed="lexR500b0a9c96f1484f"/>
          <a:srcRect l="25000" t="20901" r="50000" b="20901"/>
          <a:stretch>
            <a:fillRect l="0" t="0" r="0" b="0"/>
          </a:stretch>
        </p:blipFill>
        <p:spPr>
          <a:xfrm>
            <a:off x="3848922" y="1549614"/>
            <a:ext cx="1778514" cy="1552575"/>
          </a:xfrm>
          <a:prstGeom prst="ellipse">
            <a:avLst/>
          </a:prstGeom>
        </p:spPr>
      </p:pic>
      <p:sp>
        <p:nvSpPr>
          <p:cNvPr id="106" name="">
            <a:extLst>
              <a:ext uri="{FF2B5EF4-FFF2-40B4-BE49-F238E27FC236}">
                <a16:creationId id="{A0EE5716-95A0-4BDA-B241-1D2297E326CA}"/>
              </a:ext>
            </a:extLst>
          </p:cNvPr>
          <p:cNvSpPr>
            <a:spLocks noGrp="1"/>
          </p:cNvSpPr>
          <p:nvPr/>
        </p:nvSpPr>
        <p:spPr>
          <a:xfrm>
            <a:off x="3467922" y="3311739"/>
            <a:ext cx="2540514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系统工程师</a:t>
            </a:r>
          </a:p>
        </p:txBody>
      </p:sp>
      <p:sp>
        <p:nvSpPr>
          <p:cNvPr id="107" name="">
            <a:extLst>
              <a:ext uri="{FF2B5EF4-FFF2-40B4-BE49-F238E27FC236}">
                <a16:creationId id="{494DB4A9-A219-4ABF-8619-8F064D8A63CE}"/>
              </a:ext>
            </a:extLst>
          </p:cNvPr>
          <p:cNvSpPr>
            <a:spLocks noGrp="1"/>
          </p:cNvSpPr>
          <p:nvPr/>
        </p:nvSpPr>
        <p:spPr>
          <a:xfrm>
            <a:off x="3467922" y="3711789"/>
            <a:ext cx="2540514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性能与运行环境</a:t>
            </a:r>
          </a:p>
        </p:txBody>
      </p:sp>
      <p:sp>
        <p:nvSpPr>
          <p:cNvPr id="108" name="">
            <a:extLst>
              <a:ext uri="{FF2B5EF4-FFF2-40B4-BE49-F238E27FC236}">
                <a16:creationId id="{41861547-E9B0-47B9-88FE-3258EFFCC721}"/>
              </a:ext>
            </a:extLst>
          </p:cNvPr>
          <p:cNvSpPr>
            <a:spLocks noGrp="1"/>
          </p:cNvSpPr>
          <p:nvPr/>
        </p:nvSpPr>
        <p:spPr>
          <a:xfrm>
            <a:off x="3467922" y="4130889"/>
            <a:ext cx="2540514" cy="14288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9" name="">
            <a:extLst>
              <a:ext uri="{FF2B5EF4-FFF2-40B4-BE49-F238E27FC236}">
                <a16:creationId id="{5E7E3580-317A-4EEE-87A4-BBCD3C3A226A}"/>
              </a:ext>
            </a:extLst>
          </p:cNvPr>
          <p:cNvSpPr>
            <a:spLocks noGrp="1"/>
          </p:cNvSpPr>
          <p:nvPr/>
        </p:nvSpPr>
        <p:spPr>
          <a:xfrm>
            <a:off x="3467922" y="4321389"/>
            <a:ext cx="2540514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复现基线和剖析瓶颈</a:t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维护配置与优化记录</a:t>
            </a:r>
          </a:p>
        </p:txBody>
      </p:sp>
      <p:pic>
        <p:nvPicPr>
          <p:cNvPr id="110" name=""/>
          <p:cNvPicPr>
            <a:picLocks noChangeAspect="1"/>
          </p:cNvPicPr>
          <p:nvPr/>
        </p:nvPicPr>
        <p:blipFill>
          <a:blip r:embed="lexR1355be0df7734452"/>
          <a:srcRect l="50000" t="20901" r="25000" b="20901"/>
          <a:stretch>
            <a:fillRect l="0" t="0" r="0" b="0"/>
          </a:stretch>
        </p:blipFill>
        <p:spPr>
          <a:xfrm>
            <a:off x="6579937" y="1549614"/>
            <a:ext cx="1778514" cy="1552575"/>
          </a:xfrm>
          <a:prstGeom prst="ellipse">
            <a:avLst/>
          </a:prstGeom>
        </p:spPr>
      </p:pic>
      <p:sp>
        <p:nvSpPr>
          <p:cNvPr id="111" name="">
            <a:extLst>
              <a:ext uri="{FF2B5EF4-FFF2-40B4-BE49-F238E27FC236}">
                <a16:creationId id="{21C3B2B4-8E06-43E6-AB37-42CA355FFF64}"/>
              </a:ext>
            </a:extLst>
          </p:cNvPr>
          <p:cNvSpPr>
            <a:spLocks noGrp="1"/>
          </p:cNvSpPr>
          <p:nvPr/>
        </p:nvSpPr>
        <p:spPr>
          <a:xfrm>
            <a:off x="6198937" y="3311739"/>
            <a:ext cx="2540514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数据负责人</a:t>
            </a:r>
          </a:p>
        </p:txBody>
      </p:sp>
      <p:sp>
        <p:nvSpPr>
          <p:cNvPr id="112" name="">
            <a:extLst>
              <a:ext uri="{FF2B5EF4-FFF2-40B4-BE49-F238E27FC236}">
                <a16:creationId id="{E38B9514-A66B-4F9A-A5C1-7438AAE00C08}"/>
              </a:ext>
            </a:extLst>
          </p:cNvPr>
          <p:cNvSpPr>
            <a:spLocks noGrp="1"/>
          </p:cNvSpPr>
          <p:nvPr/>
        </p:nvSpPr>
        <p:spPr>
          <a:xfrm>
            <a:off x="6198937" y="3711789"/>
            <a:ext cx="2540514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采集与资产质量</a:t>
            </a:r>
          </a:p>
        </p:txBody>
      </p:sp>
      <p:sp>
        <p:nvSpPr>
          <p:cNvPr id="113" name="">
            <a:extLst>
              <a:ext uri="{FF2B5EF4-FFF2-40B4-BE49-F238E27FC236}">
                <a16:creationId id="{1098EA1F-B42B-450F-BF47-3652660BF39E}"/>
              </a:ext>
            </a:extLst>
          </p:cNvPr>
          <p:cNvSpPr>
            <a:spLocks noGrp="1"/>
          </p:cNvSpPr>
          <p:nvPr/>
        </p:nvSpPr>
        <p:spPr>
          <a:xfrm>
            <a:off x="6198937" y="4130889"/>
            <a:ext cx="2540514" cy="14288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4" name="">
            <a:extLst>
              <a:ext uri="{FF2B5EF4-FFF2-40B4-BE49-F238E27FC236}">
                <a16:creationId id="{48ADBE41-E9EB-45BD-AD6A-C8C57F776EC8}"/>
              </a:ext>
            </a:extLst>
          </p:cNvPr>
          <p:cNvSpPr>
            <a:spLocks noGrp="1"/>
          </p:cNvSpPr>
          <p:nvPr/>
        </p:nvSpPr>
        <p:spPr>
          <a:xfrm>
            <a:off x="6198937" y="4321389"/>
            <a:ext cx="2540514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设计任务覆盖与质检</a:t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管理授权、版本与分发</a:t>
            </a:r>
          </a:p>
        </p:txBody>
      </p:sp>
      <p:pic>
        <p:nvPicPr>
          <p:cNvPr id="115" name=""/>
          <p:cNvPicPr>
            <a:picLocks noChangeAspect="1"/>
          </p:cNvPicPr>
          <p:nvPr/>
        </p:nvPicPr>
        <p:blipFill>
          <a:blip r:embed="lexRf151a9b9c7f24727"/>
          <a:srcRect l="75000" t="20901" r="0" b="20901"/>
          <a:stretch>
            <a:fillRect l="0" t="0" r="0" b="0"/>
          </a:stretch>
        </p:blipFill>
        <p:spPr>
          <a:xfrm>
            <a:off x="9310951" y="1549614"/>
            <a:ext cx="1778514" cy="1552575"/>
          </a:xfrm>
          <a:prstGeom prst="ellipse">
            <a:avLst/>
          </a:prstGeom>
        </p:spPr>
      </p:pic>
      <p:sp>
        <p:nvSpPr>
          <p:cNvPr id="116" name="">
            <a:extLst>
              <a:ext uri="{FF2B5EF4-FFF2-40B4-BE49-F238E27FC236}">
                <a16:creationId id="{F2C7BC4E-B71F-44DD-B03A-EEF8E97F53AE}"/>
              </a:ext>
            </a:extLst>
          </p:cNvPr>
          <p:cNvSpPr>
            <a:spLocks noGrp="1"/>
          </p:cNvSpPr>
          <p:nvPr/>
        </p:nvSpPr>
        <p:spPr>
          <a:xfrm>
            <a:off x="8929951" y="3311739"/>
            <a:ext cx="2540514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验证工程师</a:t>
            </a:r>
          </a:p>
        </p:txBody>
      </p:sp>
      <p:sp>
        <p:nvSpPr>
          <p:cNvPr id="117" name="">
            <a:extLst>
              <a:ext uri="{FF2B5EF4-FFF2-40B4-BE49-F238E27FC236}">
                <a16:creationId id="{D858A96F-AACD-48B4-8FFC-6F1BF4F4112B}"/>
              </a:ext>
            </a:extLst>
          </p:cNvPr>
          <p:cNvSpPr>
            <a:spLocks noGrp="1"/>
          </p:cNvSpPr>
          <p:nvPr/>
        </p:nvSpPr>
        <p:spPr>
          <a:xfrm>
            <a:off x="8929951" y="3711789"/>
            <a:ext cx="2540514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回归与现场稳定性</a:t>
            </a:r>
          </a:p>
        </p:txBody>
      </p:sp>
      <p:sp>
        <p:nvSpPr>
          <p:cNvPr id="118" name="">
            <a:extLst>
              <a:ext uri="{FF2B5EF4-FFF2-40B4-BE49-F238E27FC236}">
                <a16:creationId id="{95A639A9-2BE0-46BB-8D24-19208CCD2BD3}"/>
              </a:ext>
            </a:extLst>
          </p:cNvPr>
          <p:cNvSpPr>
            <a:spLocks noGrp="1"/>
          </p:cNvSpPr>
          <p:nvPr/>
        </p:nvSpPr>
        <p:spPr>
          <a:xfrm>
            <a:off x="8929951" y="4130889"/>
            <a:ext cx="2540514" cy="14288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9" name="">
            <a:extLst>
              <a:ext uri="{FF2B5EF4-FFF2-40B4-BE49-F238E27FC236}">
                <a16:creationId id="{FDFDE2D0-F42F-480C-9863-6D56BB0746FF}"/>
              </a:ext>
            </a:extLst>
          </p:cNvPr>
          <p:cNvSpPr>
            <a:spLocks noGrp="1"/>
          </p:cNvSpPr>
          <p:nvPr/>
        </p:nvSpPr>
        <p:spPr>
          <a:xfrm>
            <a:off x="8929951" y="4321389"/>
            <a:ext cx="2540514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执行对照和异常回放</a:t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维护验收与回滚清单</a:t>
            </a:r>
          </a:p>
        </p:txBody>
      </p:sp>
      <p:sp>
        <p:nvSpPr>
          <p:cNvPr id="120" name="">
            <a:extLst>
              <a:ext uri="{FF2B5EF4-FFF2-40B4-BE49-F238E27FC236}">
                <a16:creationId id="{B33DDCAF-9DE0-4006-A9C2-ED4F2B144970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H14 · 团队角色｜AI生成虚构角色；展示职责分工，不代表真实团队或个人履历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a16="http://schemas.microsoft.com/office/drawing/2014/main" xmlns:mc="http://schemas.openxmlformats.org/markup-compatibility/2006" xmlns:ns3="http://schemas.openxmlformats.org/drawingml/2006/chart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交付规模扩大后仍需守住质量门槛</a:t>
            </a:r>
          </a:p>
        </p:txBody>
      </p:sp>
      <p:graphicFrame>
        <p:nvGraphicFramePr>
          <p:cNvPr id="100" name="Chart"/>
          <p:cNvGraphicFramePr/>
          <p:nvPr/>
        </p:nvGraphicFramePr>
        <p:xfrm>
          <a:off x="736908" y="1673439"/>
          <a:ext cx="6191250" cy="3448050"/>
        </p:xfrm>
        <a:graphic>
          <a:graphicData uri="http://schemas.openxmlformats.org/drawingml/2006/chart">
            <ns3:chart r:id="lexRc5eea68733e6422c"/>
          </a:graphicData>
        </a:graphic>
      </p:graphicFrame>
      <p:sp>
        <p:nvSpPr>
          <p:cNvPr id="101" name="">
            <a:extLst>
              <a:ext uri="{FF2B5EF4-FFF2-40B4-BE49-F238E27FC236}">
                <a16:creationId id="{3CD25C07-276C-4DFA-9BF3-B4DD992D9C83}"/>
              </a:ext>
            </a:extLst>
          </p:cNvPr>
          <p:cNvSpPr>
            <a:spLocks noGrp="1"/>
          </p:cNvSpPr>
          <p:nvPr/>
        </p:nvSpPr>
        <p:spPr>
          <a:xfrm>
            <a:off x="7823508" y="1730589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120批</a:t>
            </a:r>
          </a:p>
        </p:txBody>
      </p:sp>
      <p:sp>
        <p:nvSpPr>
          <p:cNvPr id="102" name="">
            <a:extLst>
              <a:ext uri="{FF2B5EF4-FFF2-40B4-BE49-F238E27FC236}">
                <a16:creationId id="{F4928C66-E4AE-41ED-93FB-FB6C4A9FF148}"/>
              </a:ext>
            </a:extLst>
          </p:cNvPr>
          <p:cNvSpPr>
            <a:spLocks noGrp="1"/>
          </p:cNvSpPr>
          <p:nvPr/>
        </p:nvSpPr>
        <p:spPr>
          <a:xfrm>
            <a:off x="7823508" y="2168739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进入验收｜30+40+50</a:t>
            </a:r>
          </a:p>
        </p:txBody>
      </p:sp>
      <p:sp>
        <p:nvSpPr>
          <p:cNvPr id="103" name="">
            <a:extLst>
              <a:ext uri="{FF2B5EF4-FFF2-40B4-BE49-F238E27FC236}">
                <a16:creationId id="{17131A7F-8A74-4284-BF81-0244C9AFBF4B}"/>
              </a:ext>
            </a:extLst>
          </p:cNvPr>
          <p:cNvSpPr>
            <a:spLocks noGrp="1"/>
          </p:cNvSpPr>
          <p:nvPr/>
        </p:nvSpPr>
        <p:spPr>
          <a:xfrm>
            <a:off x="7823508" y="2978364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96批</a:t>
            </a:r>
          </a:p>
        </p:txBody>
      </p:sp>
      <p:sp>
        <p:nvSpPr>
          <p:cNvPr id="104" name="">
            <a:extLst>
              <a:ext uri="{FF2B5EF4-FFF2-40B4-BE49-F238E27FC236}">
                <a16:creationId id="{D4898937-2D69-47D4-B673-E69F157F9273}"/>
              </a:ext>
            </a:extLst>
          </p:cNvPr>
          <p:cNvSpPr>
            <a:spLocks noGrp="1"/>
          </p:cNvSpPr>
          <p:nvPr/>
        </p:nvSpPr>
        <p:spPr>
          <a:xfrm>
            <a:off x="7823508" y="3416514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验收通过｜24+32+40</a:t>
            </a:r>
          </a:p>
        </p:txBody>
      </p:sp>
      <p:sp>
        <p:nvSpPr>
          <p:cNvPr id="105" name="">
            <a:extLst>
              <a:ext uri="{FF2B5EF4-FFF2-40B4-BE49-F238E27FC236}">
                <a16:creationId id="{353D8AC7-F417-4B59-BF51-AE886BF91CE1}"/>
              </a:ext>
            </a:extLst>
          </p:cNvPr>
          <p:cNvSpPr>
            <a:spLocks noGrp="1"/>
          </p:cNvSpPr>
          <p:nvPr/>
        </p:nvSpPr>
        <p:spPr>
          <a:xfrm>
            <a:off x="7823508" y="4226139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106" name="">
            <a:extLst>
              <a:ext uri="{FF2B5EF4-FFF2-40B4-BE49-F238E27FC236}">
                <a16:creationId id="{8B139462-94FF-4F7D-BD7A-D652D5D5C5E5}"/>
              </a:ext>
            </a:extLst>
          </p:cNvPr>
          <p:cNvSpPr>
            <a:spLocks noGrp="1"/>
          </p:cNvSpPr>
          <p:nvPr/>
        </p:nvSpPr>
        <p:spPr>
          <a:xfrm>
            <a:off x="7823508" y="4664289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累计通过率｜96/120</a:t>
            </a:r>
          </a:p>
        </p:txBody>
      </p:sp>
      <p:sp>
        <p:nvSpPr>
          <p:cNvPr id="107" name="">
            <a:extLst>
              <a:ext uri="{FF2B5EF4-FFF2-40B4-BE49-F238E27FC236}">
                <a16:creationId id="{11BD55D7-56E1-4E37-A03E-AEAC992C5EBC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H15 · KPI看板｜演示数据；通过率按批次计算，不代表样本质量或业务结果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a16="http://schemas.microsoft.com/office/drawing/2014/main" xmlns:mc="http://schemas.openxmlformats.org/markup-compatibility/2006" xmlns:ns3="http://schemas.openxmlformats.org/drawingml/2006/chart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验收批次与一次通过率共同改善</a:t>
            </a:r>
          </a:p>
        </p:txBody>
      </p:sp>
      <p:graphicFrame>
        <p:nvGraphicFramePr>
          <p:cNvPr id="100" name="Chart"/>
          <p:cNvGraphicFramePr/>
          <p:nvPr/>
        </p:nvGraphicFramePr>
        <p:xfrm>
          <a:off x="736908" y="1711539"/>
          <a:ext cx="7124700" cy="3429000"/>
        </p:xfrm>
        <a:graphic>
          <a:graphicData uri="http://schemas.openxmlformats.org/drawingml/2006/chart">
            <ns3:chart r:id="lexR0705d765d87f4b12"/>
          </a:graphicData>
        </a:graphic>
      </p:graphicFrame>
      <p:sp>
        <p:nvSpPr>
          <p:cNvPr id="101" name="">
            <a:extLst>
              <a:ext uri="{FF2B5EF4-FFF2-40B4-BE49-F238E27FC236}">
                <a16:creationId id="{51574765-310F-4F11-B958-117661ADAA3D}"/>
              </a:ext>
            </a:extLst>
          </p:cNvPr>
          <p:cNvSpPr>
            <a:spLocks noGrp="1"/>
          </p:cNvSpPr>
          <p:nvPr/>
        </p:nvSpPr>
        <p:spPr>
          <a:xfrm>
            <a:off x="8290233" y="1692489"/>
            <a:ext cx="3095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规模与质量同时观察</a:t>
            </a:r>
          </a:p>
        </p:txBody>
      </p:sp>
      <p:sp>
        <p:nvSpPr>
          <p:cNvPr id="102" name="">
            <a:extLst>
              <a:ext uri="{FF2B5EF4-FFF2-40B4-BE49-F238E27FC236}">
                <a16:creationId id="{6EBB7B1E-0B4F-4E1A-A924-B936BD47038B}"/>
              </a:ext>
            </a:extLst>
          </p:cNvPr>
          <p:cNvSpPr>
            <a:spLocks noGrp="1"/>
          </p:cNvSpPr>
          <p:nvPr/>
        </p:nvSpPr>
        <p:spPr>
          <a:xfrm>
            <a:off x="8290233" y="2102064"/>
            <a:ext cx="3095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演示期内验收批次从18增至60；一次通过率从62%增至82%，提升20个百分点。</a:t>
            </a:r>
          </a:p>
        </p:txBody>
      </p:sp>
      <p:sp>
        <p:nvSpPr>
          <p:cNvPr id="103" name="">
            <a:extLst>
              <a:ext uri="{FF2B5EF4-FFF2-40B4-BE49-F238E27FC236}">
                <a16:creationId id="{DE18CFF5-120F-4823-B7C1-E3641A48DF63}"/>
              </a:ext>
            </a:extLst>
          </p:cNvPr>
          <p:cNvSpPr>
            <a:spLocks noGrp="1"/>
          </p:cNvSpPr>
          <p:nvPr/>
        </p:nvSpPr>
        <p:spPr>
          <a:xfrm>
            <a:off x="8290233" y="3473664"/>
            <a:ext cx="3095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解释需要补充证据</a:t>
            </a:r>
          </a:p>
        </p:txBody>
      </p:sp>
      <p:sp>
        <p:nvSpPr>
          <p:cNvPr id="104" name="">
            <a:extLst>
              <a:ext uri="{FF2B5EF4-FFF2-40B4-BE49-F238E27FC236}">
                <a16:creationId id="{93283B8A-506D-4176-B22F-A81633E38FFE}"/>
              </a:ext>
            </a:extLst>
          </p:cNvPr>
          <p:cNvSpPr>
            <a:spLocks noGrp="1"/>
          </p:cNvSpPr>
          <p:nvPr/>
        </p:nvSpPr>
        <p:spPr>
          <a:xfrm>
            <a:off x="8290233" y="3883239"/>
            <a:ext cx="3095625" cy="1209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区分任务难度、客户构成和验收规则变化；不要把相关走势直接解读为某项优化的因果结果。</a:t>
            </a:r>
          </a:p>
        </p:txBody>
      </p:sp>
      <p:sp>
        <p:nvSpPr>
          <p:cNvPr id="105" name="">
            <a:extLst>
              <a:ext uri="{FF2B5EF4-FFF2-40B4-BE49-F238E27FC236}">
                <a16:creationId id="{B8F08B36-6F04-4D96-B669-0304CEB34929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H16 · 柱线组合｜演示数据；柱为批次、线为通过率，右轴单位为%；未归因于真实产品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实验资产中心连接数据、模型和部署</a:t>
            </a:r>
          </a:p>
        </p:txBody>
      </p:sp>
      <p:sp>
        <p:nvSpPr>
          <p:cNvPr id="100" name="">
            <a:extLst>
              <a:ext uri="{FF2B5EF4-FFF2-40B4-BE49-F238E27FC236}">
                <a16:creationId id="{565EFE14-A03F-4DC9-8985-2D331B2FED7B}"/>
              </a:ext>
            </a:extLst>
          </p:cNvPr>
          <p:cNvSpPr>
            <a:spLocks noGrp="1"/>
          </p:cNvSpPr>
          <p:nvPr/>
        </p:nvSpPr>
        <p:spPr>
          <a:xfrm>
            <a:off x="2337108" y="2168739"/>
            <a:ext cx="3771900" cy="1323975"/>
          </a:xfrm>
          <a:prstGeom prst="line">
            <a:avLst/>
          </a:prstGeom>
          <a:noFill/>
          <a:ln w="14288">
            <a:solidFill>
              <a:srgbClr val="919191"/>
            </a:solidFill>
          </a:ln>
        </p:spPr>
      </p:sp>
      <p:sp>
        <p:nvSpPr>
          <p:cNvPr id="101" name="">
            <a:extLst>
              <a:ext uri="{FF2B5EF4-FFF2-40B4-BE49-F238E27FC236}">
                <a16:creationId id="{70CCCC3D-3A12-43A2-8621-8415F58AB2AB}"/>
              </a:ext>
            </a:extLst>
          </p:cNvPr>
          <p:cNvSpPr>
            <a:spLocks noGrp="1"/>
          </p:cNvSpPr>
          <p:nvPr/>
        </p:nvSpPr>
        <p:spPr>
          <a:xfrm>
            <a:off x="6080433" y="1997289"/>
            <a:ext cx="28575" cy="1495425"/>
          </a:xfrm>
          <a:prstGeom prst="line">
            <a:avLst/>
          </a:prstGeom>
          <a:noFill/>
          <a:ln w="14288">
            <a:solidFill>
              <a:srgbClr val="919191"/>
            </a:solidFill>
          </a:ln>
        </p:spPr>
      </p:sp>
      <p:sp>
        <p:nvSpPr>
          <p:cNvPr id="102" name="">
            <a:extLst>
              <a:ext uri="{FF2B5EF4-FFF2-40B4-BE49-F238E27FC236}">
                <a16:creationId id="{AA54DB36-38FC-4411-A78B-B54112F51B9D}"/>
              </a:ext>
            </a:extLst>
          </p:cNvPr>
          <p:cNvSpPr>
            <a:spLocks noGrp="1"/>
          </p:cNvSpPr>
          <p:nvPr/>
        </p:nvSpPr>
        <p:spPr>
          <a:xfrm flipV="1">
            <a:off x="6109008" y="2168739"/>
            <a:ext cx="3714750" cy="1323975"/>
          </a:xfrm>
          <a:prstGeom prst="line">
            <a:avLst/>
          </a:prstGeom>
          <a:noFill/>
          <a:ln w="14288">
            <a:solidFill>
              <a:srgbClr val="919191"/>
            </a:solidFill>
          </a:ln>
        </p:spPr>
      </p:sp>
      <p:sp>
        <p:nvSpPr>
          <p:cNvPr id="103" name="">
            <a:extLst>
              <a:ext uri="{FF2B5EF4-FFF2-40B4-BE49-F238E27FC236}">
                <a16:creationId id="{4B152A2E-5C6B-465F-B9FA-6F4A5D4AD916}"/>
              </a:ext>
            </a:extLst>
          </p:cNvPr>
          <p:cNvSpPr>
            <a:spLocks noGrp="1"/>
          </p:cNvSpPr>
          <p:nvPr/>
        </p:nvSpPr>
        <p:spPr>
          <a:xfrm flipV="1">
            <a:off x="2337108" y="3492714"/>
            <a:ext cx="3771900" cy="933450"/>
          </a:xfrm>
          <a:prstGeom prst="line">
            <a:avLst/>
          </a:prstGeom>
          <a:noFill/>
          <a:ln w="14288">
            <a:solidFill>
              <a:srgbClr val="919191"/>
            </a:solidFill>
          </a:ln>
        </p:spPr>
      </p:sp>
      <p:sp>
        <p:nvSpPr>
          <p:cNvPr id="104" name="">
            <a:extLst>
              <a:ext uri="{FF2B5EF4-FFF2-40B4-BE49-F238E27FC236}">
                <a16:creationId id="{7D1E897E-02B8-4674-BF00-71F0AB22D308}"/>
              </a:ext>
            </a:extLst>
          </p:cNvPr>
          <p:cNvSpPr>
            <a:spLocks noGrp="1"/>
          </p:cNvSpPr>
          <p:nvPr/>
        </p:nvSpPr>
        <p:spPr>
          <a:xfrm flipV="1">
            <a:off x="6080433" y="3492714"/>
            <a:ext cx="28575" cy="1352550"/>
          </a:xfrm>
          <a:prstGeom prst="line">
            <a:avLst/>
          </a:prstGeom>
          <a:noFill/>
          <a:ln w="14288">
            <a:solidFill>
              <a:srgbClr val="919191"/>
            </a:solidFill>
          </a:ln>
        </p:spPr>
      </p:sp>
      <p:sp>
        <p:nvSpPr>
          <p:cNvPr id="105" name="">
            <a:extLst>
              <a:ext uri="{FF2B5EF4-FFF2-40B4-BE49-F238E27FC236}">
                <a16:creationId id="{30216B8B-5022-4FCB-B1AA-87C527157032}"/>
              </a:ext>
            </a:extLst>
          </p:cNvPr>
          <p:cNvSpPr>
            <a:spLocks noGrp="1"/>
          </p:cNvSpPr>
          <p:nvPr/>
        </p:nvSpPr>
        <p:spPr>
          <a:xfrm>
            <a:off x="6109008" y="3492714"/>
            <a:ext cx="3714750" cy="933450"/>
          </a:xfrm>
          <a:prstGeom prst="line">
            <a:avLst/>
          </a:prstGeom>
          <a:noFill/>
          <a:ln w="14288">
            <a:solidFill>
              <a:srgbClr val="919191"/>
            </a:solidFill>
          </a:ln>
        </p:spPr>
      </p:sp>
      <p:sp>
        <p:nvSpPr>
          <p:cNvPr id="106" name="">
            <a:extLst>
              <a:ext uri="{FF2B5EF4-FFF2-40B4-BE49-F238E27FC236}">
                <a16:creationId id="{7AC91FC2-88D3-4334-BB1B-4BEDCE70E9B7}"/>
              </a:ext>
            </a:extLst>
          </p:cNvPr>
          <p:cNvSpPr>
            <a:spLocks noGrp="1"/>
          </p:cNvSpPr>
          <p:nvPr/>
        </p:nvSpPr>
        <p:spPr>
          <a:xfrm>
            <a:off x="5023158" y="2692614"/>
            <a:ext cx="2114550" cy="1466850"/>
          </a:xfrm>
          <a:prstGeom prst="ellipse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7" name="">
            <a:extLst>
              <a:ext uri="{FF2B5EF4-FFF2-40B4-BE49-F238E27FC236}">
                <a16:creationId id="{B55E7714-BED0-4DF0-993C-BF4795B590DF}"/>
              </a:ext>
            </a:extLst>
          </p:cNvPr>
          <p:cNvSpPr>
            <a:spLocks noGrp="1"/>
          </p:cNvSpPr>
          <p:nvPr/>
        </p:nvSpPr>
        <p:spPr>
          <a:xfrm>
            <a:off x="5213658" y="3045039"/>
            <a:ext cx="17335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实验资产中心</a:t>
            </a:r>
          </a:p>
        </p:txBody>
      </p:sp>
      <p:sp>
        <p:nvSpPr>
          <p:cNvPr id="108" name="">
            <a:extLst>
              <a:ext uri="{FF2B5EF4-FFF2-40B4-BE49-F238E27FC236}">
                <a16:creationId id="{8CE0C9CD-E3E6-4266-82F2-E3B15D95FE7E}"/>
              </a:ext>
            </a:extLst>
          </p:cNvPr>
          <p:cNvSpPr>
            <a:spLocks noGrp="1"/>
          </p:cNvSpPr>
          <p:nvPr/>
        </p:nvSpPr>
        <p:spPr>
          <a:xfrm>
            <a:off x="5223183" y="3568914"/>
            <a:ext cx="1733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统一标识与血缘</a:t>
            </a:r>
          </a:p>
        </p:txBody>
      </p:sp>
      <p:sp>
        <p:nvSpPr>
          <p:cNvPr id="109" name="">
            <a:extLst>
              <a:ext uri="{FF2B5EF4-FFF2-40B4-BE49-F238E27FC236}">
                <a16:creationId id="{4275F7DF-55C0-458E-901C-6D9C93768D69}"/>
              </a:ext>
            </a:extLst>
          </p:cNvPr>
          <p:cNvSpPr>
            <a:spLocks noGrp="1"/>
          </p:cNvSpPr>
          <p:nvPr/>
        </p:nvSpPr>
        <p:spPr>
          <a:xfrm>
            <a:off x="832158" y="1673439"/>
            <a:ext cx="3009900" cy="10096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0" name="">
            <a:extLst>
              <a:ext uri="{FF2B5EF4-FFF2-40B4-BE49-F238E27FC236}">
                <a16:creationId id="{F7EDD874-766F-42E5-9C53-AC55DBEC4EA5}"/>
              </a:ext>
            </a:extLst>
          </p:cNvPr>
          <p:cNvSpPr>
            <a:spLocks noGrp="1"/>
          </p:cNvSpPr>
          <p:nvPr/>
        </p:nvSpPr>
        <p:spPr>
          <a:xfrm>
            <a:off x="965508" y="1787739"/>
            <a:ext cx="2743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数据资产</a:t>
            </a:r>
          </a:p>
        </p:txBody>
      </p:sp>
      <p:sp>
        <p:nvSpPr>
          <p:cNvPr id="111" name="">
            <a:extLst>
              <a:ext uri="{FF2B5EF4-FFF2-40B4-BE49-F238E27FC236}">
                <a16:creationId id="{D46429CA-B194-4EFA-8AA8-2FF2C8D2B1B8}"/>
              </a:ext>
            </a:extLst>
          </p:cNvPr>
          <p:cNvSpPr>
            <a:spLocks noGrp="1"/>
          </p:cNvSpPr>
          <p:nvPr/>
        </p:nvSpPr>
        <p:spPr>
          <a:xfrm>
            <a:off x="965508" y="2140164"/>
            <a:ext cx="27432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来源、授权、版本</a:t>
            </a:r>
          </a:p>
        </p:txBody>
      </p:sp>
      <p:sp>
        <p:nvSpPr>
          <p:cNvPr id="112" name="">
            <a:extLst>
              <a:ext uri="{FF2B5EF4-FFF2-40B4-BE49-F238E27FC236}">
                <a16:creationId id="{061FD4D2-FB0B-4681-BAE6-886659B10490}"/>
              </a:ext>
            </a:extLst>
          </p:cNvPr>
          <p:cNvSpPr>
            <a:spLocks noGrp="1"/>
          </p:cNvSpPr>
          <p:nvPr/>
        </p:nvSpPr>
        <p:spPr>
          <a:xfrm>
            <a:off x="4575483" y="1501989"/>
            <a:ext cx="3009900" cy="10096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3" name="">
            <a:extLst>
              <a:ext uri="{FF2B5EF4-FFF2-40B4-BE49-F238E27FC236}">
                <a16:creationId id="{6F462431-8B0E-4EC1-9D8A-019718F0FCC7}"/>
              </a:ext>
            </a:extLst>
          </p:cNvPr>
          <p:cNvSpPr>
            <a:spLocks noGrp="1"/>
          </p:cNvSpPr>
          <p:nvPr/>
        </p:nvSpPr>
        <p:spPr>
          <a:xfrm>
            <a:off x="4708833" y="1616289"/>
            <a:ext cx="2743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训练实验</a:t>
            </a:r>
          </a:p>
        </p:txBody>
      </p:sp>
      <p:sp>
        <p:nvSpPr>
          <p:cNvPr id="114" name="">
            <a:extLst>
              <a:ext uri="{FF2B5EF4-FFF2-40B4-BE49-F238E27FC236}">
                <a16:creationId id="{26D3B936-2D57-433B-8A44-EAD2B710004B}"/>
              </a:ext>
            </a:extLst>
          </p:cNvPr>
          <p:cNvSpPr>
            <a:spLocks noGrp="1"/>
          </p:cNvSpPr>
          <p:nvPr/>
        </p:nvSpPr>
        <p:spPr>
          <a:xfrm>
            <a:off x="4708833" y="1968714"/>
            <a:ext cx="27432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配置、日志、权重</a:t>
            </a:r>
          </a:p>
        </p:txBody>
      </p:sp>
      <p:sp>
        <p:nvSpPr>
          <p:cNvPr id="115" name="">
            <a:extLst>
              <a:ext uri="{FF2B5EF4-FFF2-40B4-BE49-F238E27FC236}">
                <a16:creationId id="{A43F8C26-6858-4307-9103-FFE863CB1DBB}"/>
              </a:ext>
            </a:extLst>
          </p:cNvPr>
          <p:cNvSpPr>
            <a:spLocks noGrp="1"/>
          </p:cNvSpPr>
          <p:nvPr/>
        </p:nvSpPr>
        <p:spPr>
          <a:xfrm>
            <a:off x="8318808" y="1673439"/>
            <a:ext cx="3009900" cy="10096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6" name="">
            <a:extLst>
              <a:ext uri="{FF2B5EF4-FFF2-40B4-BE49-F238E27FC236}">
                <a16:creationId id="{DA9CDFA5-F74D-40F3-AA0C-9371F9805AB4}"/>
              </a:ext>
            </a:extLst>
          </p:cNvPr>
          <p:cNvSpPr>
            <a:spLocks noGrp="1"/>
          </p:cNvSpPr>
          <p:nvPr/>
        </p:nvSpPr>
        <p:spPr>
          <a:xfrm>
            <a:off x="8452158" y="1787739"/>
            <a:ext cx="2743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评测结果</a:t>
            </a:r>
          </a:p>
        </p:txBody>
      </p:sp>
      <p:sp>
        <p:nvSpPr>
          <p:cNvPr id="117" name="">
            <a:extLst>
              <a:ext uri="{FF2B5EF4-FFF2-40B4-BE49-F238E27FC236}">
                <a16:creationId id="{BAD16764-36F9-42D8-B2EC-B044CBDB9BBB}"/>
              </a:ext>
            </a:extLst>
          </p:cNvPr>
          <p:cNvSpPr>
            <a:spLocks noGrp="1"/>
          </p:cNvSpPr>
          <p:nvPr/>
        </p:nvSpPr>
        <p:spPr>
          <a:xfrm>
            <a:off x="8452158" y="2140164"/>
            <a:ext cx="27432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任务、指标、失败</a:t>
            </a:r>
          </a:p>
        </p:txBody>
      </p:sp>
      <p:sp>
        <p:nvSpPr>
          <p:cNvPr id="118" name="">
            <a:extLst>
              <a:ext uri="{FF2B5EF4-FFF2-40B4-BE49-F238E27FC236}">
                <a16:creationId id="{84EFCC4D-5036-4241-84DD-5C1F0A1ABABF}"/>
              </a:ext>
            </a:extLst>
          </p:cNvPr>
          <p:cNvSpPr>
            <a:spLocks noGrp="1"/>
          </p:cNvSpPr>
          <p:nvPr/>
        </p:nvSpPr>
        <p:spPr>
          <a:xfrm>
            <a:off x="832158" y="3930864"/>
            <a:ext cx="3009900" cy="10096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9" name="">
            <a:extLst>
              <a:ext uri="{FF2B5EF4-FFF2-40B4-BE49-F238E27FC236}">
                <a16:creationId id="{61A5961F-94F1-4FBB-8221-87E05C6E63C3}"/>
              </a:ext>
            </a:extLst>
          </p:cNvPr>
          <p:cNvSpPr>
            <a:spLocks noGrp="1"/>
          </p:cNvSpPr>
          <p:nvPr/>
        </p:nvSpPr>
        <p:spPr>
          <a:xfrm>
            <a:off x="965508" y="4045164"/>
            <a:ext cx="2743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部署包</a:t>
            </a:r>
          </a:p>
        </p:txBody>
      </p:sp>
      <p:sp>
        <p:nvSpPr>
          <p:cNvPr id="120" name="">
            <a:extLst>
              <a:ext uri="{FF2B5EF4-FFF2-40B4-BE49-F238E27FC236}">
                <a16:creationId id="{0AAA763D-48B6-488C-AB7B-53D541997E90}"/>
              </a:ext>
            </a:extLst>
          </p:cNvPr>
          <p:cNvSpPr>
            <a:spLocks noGrp="1"/>
          </p:cNvSpPr>
          <p:nvPr/>
        </p:nvSpPr>
        <p:spPr>
          <a:xfrm>
            <a:off x="965508" y="4397589"/>
            <a:ext cx="27432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依赖、接口、回滚</a:t>
            </a:r>
          </a:p>
        </p:txBody>
      </p:sp>
      <p:sp>
        <p:nvSpPr>
          <p:cNvPr id="121" name="">
            <a:extLst>
              <a:ext uri="{FF2B5EF4-FFF2-40B4-BE49-F238E27FC236}">
                <a16:creationId id="{26814C04-54E2-41B8-8910-D1DA878F8D72}"/>
              </a:ext>
            </a:extLst>
          </p:cNvPr>
          <p:cNvSpPr>
            <a:spLocks noGrp="1"/>
          </p:cNvSpPr>
          <p:nvPr/>
        </p:nvSpPr>
        <p:spPr>
          <a:xfrm>
            <a:off x="4575483" y="4349964"/>
            <a:ext cx="3009900" cy="10096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22" name="">
            <a:extLst>
              <a:ext uri="{FF2B5EF4-FFF2-40B4-BE49-F238E27FC236}">
                <a16:creationId id="{BB31384A-9B43-495C-8A86-B86B3B2102CB}"/>
              </a:ext>
            </a:extLst>
          </p:cNvPr>
          <p:cNvSpPr>
            <a:spLocks noGrp="1"/>
          </p:cNvSpPr>
          <p:nvPr/>
        </p:nvSpPr>
        <p:spPr>
          <a:xfrm>
            <a:off x="4708833" y="4464264"/>
            <a:ext cx="2743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运行记录</a:t>
            </a:r>
          </a:p>
        </p:txBody>
      </p:sp>
      <p:sp>
        <p:nvSpPr>
          <p:cNvPr id="123" name="">
            <a:extLst>
              <a:ext uri="{FF2B5EF4-FFF2-40B4-BE49-F238E27FC236}">
                <a16:creationId id="{CA9F91D9-E424-46C4-AF64-E242FFF0B9EB}"/>
              </a:ext>
            </a:extLst>
          </p:cNvPr>
          <p:cNvSpPr>
            <a:spLocks noGrp="1"/>
          </p:cNvSpPr>
          <p:nvPr/>
        </p:nvSpPr>
        <p:spPr>
          <a:xfrm>
            <a:off x="4708833" y="4816689"/>
            <a:ext cx="27432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事件、接管、异常</a:t>
            </a:r>
          </a:p>
        </p:txBody>
      </p:sp>
      <p:sp>
        <p:nvSpPr>
          <p:cNvPr id="124" name="">
            <a:extLst>
              <a:ext uri="{FF2B5EF4-FFF2-40B4-BE49-F238E27FC236}">
                <a16:creationId id="{F5CFA67D-2095-47A4-8048-004C92E5446C}"/>
              </a:ext>
            </a:extLst>
          </p:cNvPr>
          <p:cNvSpPr>
            <a:spLocks noGrp="1"/>
          </p:cNvSpPr>
          <p:nvPr/>
        </p:nvSpPr>
        <p:spPr>
          <a:xfrm>
            <a:off x="8318808" y="3930864"/>
            <a:ext cx="3009900" cy="10096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25" name="">
            <a:extLst>
              <a:ext uri="{FF2B5EF4-FFF2-40B4-BE49-F238E27FC236}">
                <a16:creationId id="{9A187304-9308-4283-B5A4-2AC434E80506}"/>
              </a:ext>
            </a:extLst>
          </p:cNvPr>
          <p:cNvSpPr>
            <a:spLocks noGrp="1"/>
          </p:cNvSpPr>
          <p:nvPr/>
        </p:nvSpPr>
        <p:spPr>
          <a:xfrm>
            <a:off x="8452158" y="4045164"/>
            <a:ext cx="2743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问题闭环</a:t>
            </a:r>
          </a:p>
        </p:txBody>
      </p:sp>
      <p:sp>
        <p:nvSpPr>
          <p:cNvPr id="126" name="">
            <a:extLst>
              <a:ext uri="{FF2B5EF4-FFF2-40B4-BE49-F238E27FC236}">
                <a16:creationId id="{DA2E437C-37D2-4546-95B6-E6C35578588A}"/>
              </a:ext>
            </a:extLst>
          </p:cNvPr>
          <p:cNvSpPr>
            <a:spLocks noGrp="1"/>
          </p:cNvSpPr>
          <p:nvPr/>
        </p:nvSpPr>
        <p:spPr>
          <a:xfrm>
            <a:off x="8452158" y="4397589"/>
            <a:ext cx="27432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归因、工单、回归</a:t>
            </a:r>
          </a:p>
        </p:txBody>
      </p:sp>
      <p:sp>
        <p:nvSpPr>
          <p:cNvPr id="127" name="">
            <a:extLst>
              <a:ext uri="{FF2B5EF4-FFF2-40B4-BE49-F238E27FC236}">
                <a16:creationId id="{B210EB99-EE5C-486B-9A11-C147E12BDAC0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H17 · 中心辐射｜原创分析示例；未对应真实项目承诺或平台实测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以阶段退出条件管理能力成熟度</a:t>
            </a:r>
          </a:p>
        </p:txBody>
      </p:sp>
      <p:sp>
        <p:nvSpPr>
          <p:cNvPr id="100" name="">
            <a:extLst>
              <a:ext uri="{FF2B5EF4-FFF2-40B4-BE49-F238E27FC236}">
                <a16:creationId id="{B2E57A88-5C54-4A2F-9249-AD8632198A16}"/>
              </a:ext>
            </a:extLst>
          </p:cNvPr>
          <p:cNvSpPr>
            <a:spLocks noGrp="1"/>
          </p:cNvSpPr>
          <p:nvPr/>
        </p:nvSpPr>
        <p:spPr>
          <a:xfrm flipV="1">
            <a:off x="1594158" y="4054689"/>
            <a:ext cx="2743200" cy="742950"/>
          </a:xfrm>
          <a:prstGeom prst="line">
            <a:avLst/>
          </a:prstGeom>
          <a:noFill/>
          <a:ln w="28575">
            <a:solidFill>
              <a:srgbClr val="C7000A"/>
            </a:solidFill>
          </a:ln>
        </p:spPr>
      </p:sp>
      <p:sp>
        <p:nvSpPr>
          <p:cNvPr id="101" name="">
            <a:extLst>
              <a:ext uri="{FF2B5EF4-FFF2-40B4-BE49-F238E27FC236}">
                <a16:creationId id="{43029D35-2398-426D-A295-B50105A3D68A}"/>
              </a:ext>
            </a:extLst>
          </p:cNvPr>
          <p:cNvSpPr>
            <a:spLocks noGrp="1"/>
          </p:cNvSpPr>
          <p:nvPr/>
        </p:nvSpPr>
        <p:spPr>
          <a:xfrm flipV="1">
            <a:off x="4337358" y="3311739"/>
            <a:ext cx="2743200" cy="742950"/>
          </a:xfrm>
          <a:prstGeom prst="line">
            <a:avLst/>
          </a:prstGeom>
          <a:noFill/>
          <a:ln w="28575">
            <a:solidFill>
              <a:srgbClr val="C7000A"/>
            </a:solidFill>
          </a:ln>
        </p:spPr>
      </p:sp>
      <p:sp>
        <p:nvSpPr>
          <p:cNvPr id="102" name="">
            <a:extLst>
              <a:ext uri="{FF2B5EF4-FFF2-40B4-BE49-F238E27FC236}">
                <a16:creationId id="{EF1E0938-37BF-43CC-AAC4-B0B06609040D}"/>
              </a:ext>
            </a:extLst>
          </p:cNvPr>
          <p:cNvSpPr>
            <a:spLocks noGrp="1"/>
          </p:cNvSpPr>
          <p:nvPr/>
        </p:nvSpPr>
        <p:spPr>
          <a:xfrm flipV="1">
            <a:off x="7080558" y="2568789"/>
            <a:ext cx="2743200" cy="742950"/>
          </a:xfrm>
          <a:prstGeom prst="line">
            <a:avLst/>
          </a:prstGeom>
          <a:noFill/>
          <a:ln w="28575">
            <a:solidFill>
              <a:srgbClr val="C7000A"/>
            </a:solidFill>
          </a:ln>
        </p:spPr>
      </p:sp>
      <p:sp>
        <p:nvSpPr>
          <p:cNvPr id="103" name="">
            <a:extLst>
              <a:ext uri="{FF2B5EF4-FFF2-40B4-BE49-F238E27FC236}">
                <a16:creationId id="{B58874DF-A523-4C86-9C43-D877E5CE3ACE}"/>
              </a:ext>
            </a:extLst>
          </p:cNvPr>
          <p:cNvSpPr>
            <a:spLocks noGrp="1"/>
          </p:cNvSpPr>
          <p:nvPr/>
        </p:nvSpPr>
        <p:spPr>
          <a:xfrm>
            <a:off x="1432233" y="4616664"/>
            <a:ext cx="323850" cy="323850"/>
          </a:xfrm>
          <a:prstGeom prst="ellipse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4" name="">
            <a:extLst>
              <a:ext uri="{FF2B5EF4-FFF2-40B4-BE49-F238E27FC236}">
                <a16:creationId id="{7C8EE6B2-39C2-42A0-BEAE-2E48F989EEAB}"/>
              </a:ext>
            </a:extLst>
          </p:cNvPr>
          <p:cNvSpPr>
            <a:spLocks noGrp="1"/>
          </p:cNvSpPr>
          <p:nvPr/>
        </p:nvSpPr>
        <p:spPr>
          <a:xfrm>
            <a:off x="736908" y="3930864"/>
            <a:ext cx="2476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L1 可复现</a:t>
            </a:r>
          </a:p>
        </p:txBody>
      </p:sp>
      <p:sp>
        <p:nvSpPr>
          <p:cNvPr id="105" name="">
            <a:extLst>
              <a:ext uri="{FF2B5EF4-FFF2-40B4-BE49-F238E27FC236}">
                <a16:creationId id="{002F2FA3-58A2-4D44-A99C-E3F308F7A073}"/>
              </a:ext>
            </a:extLst>
          </p:cNvPr>
          <p:cNvSpPr>
            <a:spLocks noGrp="1"/>
          </p:cNvSpPr>
          <p:nvPr/>
        </p:nvSpPr>
        <p:spPr>
          <a:xfrm>
            <a:off x="736908" y="5092914"/>
            <a:ext cx="24574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冻结配方与环境</a:t>
            </a:r>
          </a:p>
        </p:txBody>
      </p:sp>
      <p:sp>
        <p:nvSpPr>
          <p:cNvPr id="106" name="">
            <a:extLst>
              <a:ext uri="{FF2B5EF4-FFF2-40B4-BE49-F238E27FC236}">
                <a16:creationId id="{EA70F941-F59E-47B4-96B6-1925FD639D1F}"/>
              </a:ext>
            </a:extLst>
          </p:cNvPr>
          <p:cNvSpPr>
            <a:spLocks noGrp="1"/>
          </p:cNvSpPr>
          <p:nvPr/>
        </p:nvSpPr>
        <p:spPr>
          <a:xfrm>
            <a:off x="4175433" y="3873714"/>
            <a:ext cx="323850" cy="323850"/>
          </a:xfrm>
          <a:prstGeom prst="ellipse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7" name="">
            <a:extLst>
              <a:ext uri="{FF2B5EF4-FFF2-40B4-BE49-F238E27FC236}">
                <a16:creationId id="{51151A5E-81C3-44A1-B336-EE5A35B3155B}"/>
              </a:ext>
            </a:extLst>
          </p:cNvPr>
          <p:cNvSpPr>
            <a:spLocks noGrp="1"/>
          </p:cNvSpPr>
          <p:nvPr/>
        </p:nvSpPr>
        <p:spPr>
          <a:xfrm>
            <a:off x="3480108" y="3187914"/>
            <a:ext cx="2476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L2 可定位</a:t>
            </a:r>
          </a:p>
        </p:txBody>
      </p:sp>
      <p:sp>
        <p:nvSpPr>
          <p:cNvPr id="108" name="">
            <a:extLst>
              <a:ext uri="{FF2B5EF4-FFF2-40B4-BE49-F238E27FC236}">
                <a16:creationId id="{F1C7F52E-B557-40EE-B185-C5B9B13ABB47}"/>
              </a:ext>
            </a:extLst>
          </p:cNvPr>
          <p:cNvSpPr>
            <a:spLocks noGrp="1"/>
          </p:cNvSpPr>
          <p:nvPr/>
        </p:nvSpPr>
        <p:spPr>
          <a:xfrm>
            <a:off x="3480108" y="4349964"/>
            <a:ext cx="24574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找到主要瓶颈</a:t>
            </a:r>
          </a:p>
        </p:txBody>
      </p:sp>
      <p:sp>
        <p:nvSpPr>
          <p:cNvPr id="109" name="">
            <a:extLst>
              <a:ext uri="{FF2B5EF4-FFF2-40B4-BE49-F238E27FC236}">
                <a16:creationId id="{44B5F36C-6EB4-402D-979F-0FFCB4E05A7E}"/>
              </a:ext>
            </a:extLst>
          </p:cNvPr>
          <p:cNvSpPr>
            <a:spLocks noGrp="1"/>
          </p:cNvSpPr>
          <p:nvPr/>
        </p:nvSpPr>
        <p:spPr>
          <a:xfrm>
            <a:off x="6918633" y="3130764"/>
            <a:ext cx="323850" cy="323850"/>
          </a:xfrm>
          <a:prstGeom prst="ellipse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0" name="">
            <a:extLst>
              <a:ext uri="{FF2B5EF4-FFF2-40B4-BE49-F238E27FC236}">
                <a16:creationId id="{B18F638D-B02D-406D-B347-ACF550D2D42A}"/>
              </a:ext>
            </a:extLst>
          </p:cNvPr>
          <p:cNvSpPr>
            <a:spLocks noGrp="1"/>
          </p:cNvSpPr>
          <p:nvPr/>
        </p:nvSpPr>
        <p:spPr>
          <a:xfrm>
            <a:off x="6223308" y="2444964"/>
            <a:ext cx="2476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L3 可交付</a:t>
            </a:r>
          </a:p>
        </p:txBody>
      </p:sp>
      <p:sp>
        <p:nvSpPr>
          <p:cNvPr id="111" name="">
            <a:extLst>
              <a:ext uri="{FF2B5EF4-FFF2-40B4-BE49-F238E27FC236}">
                <a16:creationId id="{88A3907F-9CBE-473D-A8ED-067B3994231C}"/>
              </a:ext>
            </a:extLst>
          </p:cNvPr>
          <p:cNvSpPr>
            <a:spLocks noGrp="1"/>
          </p:cNvSpPr>
          <p:nvPr/>
        </p:nvSpPr>
        <p:spPr>
          <a:xfrm>
            <a:off x="6223308" y="3607014"/>
            <a:ext cx="24574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固化验收与回滚</a:t>
            </a:r>
          </a:p>
        </p:txBody>
      </p:sp>
      <p:sp>
        <p:nvSpPr>
          <p:cNvPr id="112" name="">
            <a:extLst>
              <a:ext uri="{FF2B5EF4-FFF2-40B4-BE49-F238E27FC236}">
                <a16:creationId id="{09E4CFF0-BCC8-4FF8-98BF-7D6CF2E2930D}"/>
              </a:ext>
            </a:extLst>
          </p:cNvPr>
          <p:cNvSpPr>
            <a:spLocks noGrp="1"/>
          </p:cNvSpPr>
          <p:nvPr/>
        </p:nvSpPr>
        <p:spPr>
          <a:xfrm>
            <a:off x="9661833" y="2387814"/>
            <a:ext cx="323850" cy="323850"/>
          </a:xfrm>
          <a:prstGeom prst="ellipse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3" name="">
            <a:extLst>
              <a:ext uri="{FF2B5EF4-FFF2-40B4-BE49-F238E27FC236}">
                <a16:creationId id="{3E4BB075-9641-4E62-88D8-6A63908CDC3B}"/>
              </a:ext>
            </a:extLst>
          </p:cNvPr>
          <p:cNvSpPr>
            <a:spLocks noGrp="1"/>
          </p:cNvSpPr>
          <p:nvPr/>
        </p:nvSpPr>
        <p:spPr>
          <a:xfrm>
            <a:off x="8966508" y="1702014"/>
            <a:ext cx="2476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L4 可复制</a:t>
            </a:r>
          </a:p>
        </p:txBody>
      </p:sp>
      <p:sp>
        <p:nvSpPr>
          <p:cNvPr id="114" name="">
            <a:extLst>
              <a:ext uri="{FF2B5EF4-FFF2-40B4-BE49-F238E27FC236}">
                <a16:creationId id="{2C45A424-F30F-4BFB-AC3C-3EEEDA71B992}"/>
              </a:ext>
            </a:extLst>
          </p:cNvPr>
          <p:cNvSpPr>
            <a:spLocks noGrp="1"/>
          </p:cNvSpPr>
          <p:nvPr/>
        </p:nvSpPr>
        <p:spPr>
          <a:xfrm>
            <a:off x="8966508" y="2864064"/>
            <a:ext cx="24574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标准包迁移复用</a:t>
            </a:r>
          </a:p>
        </p:txBody>
      </p:sp>
      <p:sp>
        <p:nvSpPr>
          <p:cNvPr id="115" name="">
            <a:extLst>
              <a:ext uri="{FF2B5EF4-FFF2-40B4-BE49-F238E27FC236}">
                <a16:creationId id="{38E46248-994F-4631-822A-B081ACF2416D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H18 · 斜向路线图｜建议成熟度路径；每级以可检查的退出条件判断，而非按时间自动晋级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不同场景需要不同的验证重点</a:t>
            </a:r>
          </a:p>
        </p:txBody>
      </p:sp>
      <p:pic>
        <p:nvPicPr>
          <p:cNvPr id="100" name=""/>
          <p:cNvPicPr>
            <a:picLocks noChangeAspect="1"/>
          </p:cNvPicPr>
          <p:nvPr/>
        </p:nvPicPr>
        <p:blipFill>
          <a:blip r:embed="lexR7de777f4d3b946c0"/>
          <a:srcRect l="5465" t="50000" r="80465" b="25000"/>
          <a:stretch>
            <a:fillRect l="0" t="0" r="0" b="0"/>
          </a:stretch>
        </p:blipFill>
        <p:spPr>
          <a:xfrm>
            <a:off x="975033" y="1692489"/>
            <a:ext cx="2190750" cy="2190750"/>
          </a:xfrm>
          <a:prstGeom prst="ellipse">
            <a:avLst/>
          </a:prstGeom>
        </p:spPr>
      </p:pic>
      <p:pic>
        <p:nvPicPr>
          <p:cNvPr id="101" name=""/>
          <p:cNvPicPr>
            <a:picLocks noChangeAspect="1"/>
          </p:cNvPicPr>
          <p:nvPr/>
        </p:nvPicPr>
        <p:blipFill>
          <a:blip r:embed="lexR314da73a2aaf42c6"/>
          <a:srcRect l="30465" t="50000" r="55465" b="25000"/>
          <a:stretch>
            <a:fillRect l="0" t="0" r="0" b="0"/>
          </a:stretch>
        </p:blipFill>
        <p:spPr>
          <a:xfrm>
            <a:off x="4832658" y="1692489"/>
            <a:ext cx="2190750" cy="2190750"/>
          </a:xfrm>
          <a:prstGeom prst="ellipse">
            <a:avLst/>
          </a:prstGeom>
        </p:spPr>
      </p:pic>
      <p:pic>
        <p:nvPicPr>
          <p:cNvPr id="102" name=""/>
          <p:cNvPicPr>
            <a:picLocks noChangeAspect="1"/>
          </p:cNvPicPr>
          <p:nvPr/>
        </p:nvPicPr>
        <p:blipFill>
          <a:blip r:embed="lexRccdebe5010c14091"/>
          <a:srcRect l="55465" t="50000" r="30465" b="25000"/>
          <a:stretch>
            <a:fillRect l="0" t="0" r="0" b="0"/>
          </a:stretch>
        </p:blipFill>
        <p:spPr>
          <a:xfrm>
            <a:off x="8690283" y="1692489"/>
            <a:ext cx="2190750" cy="2190750"/>
          </a:xfrm>
          <a:prstGeom prst="ellipse">
            <a:avLst/>
          </a:prstGeom>
        </p:spPr>
      </p:pic>
      <p:sp>
        <p:nvSpPr>
          <p:cNvPr id="103" name="">
            <a:extLst>
              <a:ext uri="{FF2B5EF4-FFF2-40B4-BE49-F238E27FC236}">
                <a16:creationId id="{CDFD5B76-5E05-42A7-B8C1-F50EB9C4C06A}"/>
              </a:ext>
            </a:extLst>
          </p:cNvPr>
          <p:cNvSpPr>
            <a:spLocks noGrp="1"/>
          </p:cNvSpPr>
          <p:nvPr/>
        </p:nvSpPr>
        <p:spPr>
          <a:xfrm>
            <a:off x="879783" y="4083264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仓储搬运</a:t>
            </a:r>
          </a:p>
        </p:txBody>
      </p:sp>
      <p:sp>
        <p:nvSpPr>
          <p:cNvPr id="104" name="">
            <a:extLst>
              <a:ext uri="{FF2B5EF4-FFF2-40B4-BE49-F238E27FC236}">
                <a16:creationId id="{4627899F-B2CE-441A-A380-B018113D12B2}"/>
              </a:ext>
            </a:extLst>
          </p:cNvPr>
          <p:cNvSpPr>
            <a:spLocks noGrp="1"/>
          </p:cNvSpPr>
          <p:nvPr/>
        </p:nvSpPr>
        <p:spPr>
          <a:xfrm>
            <a:off x="879783" y="4511889"/>
            <a:ext cx="2857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路径与节拍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测量：尾延迟、阻塞、异常恢复</a:t>
            </a:r>
          </a:p>
        </p:txBody>
      </p:sp>
      <p:sp>
        <p:nvSpPr>
          <p:cNvPr id="105" name="">
            <a:extLst>
              <a:ext uri="{FF2B5EF4-FFF2-40B4-BE49-F238E27FC236}">
                <a16:creationId id="{CB495AD6-01DB-4806-B43D-D6625A250FE0}"/>
              </a:ext>
            </a:extLst>
          </p:cNvPr>
          <p:cNvSpPr>
            <a:spLocks noGrp="1"/>
          </p:cNvSpPr>
          <p:nvPr/>
        </p:nvSpPr>
        <p:spPr>
          <a:xfrm>
            <a:off x="4737408" y="4083264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柔性整理</a:t>
            </a:r>
          </a:p>
        </p:txBody>
      </p:sp>
      <p:sp>
        <p:nvSpPr>
          <p:cNvPr id="106" name="">
            <a:extLst>
              <a:ext uri="{FF2B5EF4-FFF2-40B4-BE49-F238E27FC236}">
                <a16:creationId id="{A7F23727-4461-4E4A-B89A-D339840700E6}"/>
              </a:ext>
            </a:extLst>
          </p:cNvPr>
          <p:cNvSpPr>
            <a:spLocks noGrp="1"/>
          </p:cNvSpPr>
          <p:nvPr/>
        </p:nvSpPr>
        <p:spPr>
          <a:xfrm>
            <a:off x="4737408" y="4511889"/>
            <a:ext cx="2857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接触与长尾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测量：任务成功率、接管次数</a:t>
            </a:r>
          </a:p>
        </p:txBody>
      </p:sp>
      <p:sp>
        <p:nvSpPr>
          <p:cNvPr id="107" name="">
            <a:extLst>
              <a:ext uri="{FF2B5EF4-FFF2-40B4-BE49-F238E27FC236}">
                <a16:creationId id="{9741F6BA-7CC0-472D-A880-0B5B84F19714}"/>
              </a:ext>
            </a:extLst>
          </p:cNvPr>
          <p:cNvSpPr>
            <a:spLocks noGrp="1"/>
          </p:cNvSpPr>
          <p:nvPr/>
        </p:nvSpPr>
        <p:spPr>
          <a:xfrm>
            <a:off x="8595033" y="4083264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包裹分拣</a:t>
            </a:r>
          </a:p>
        </p:txBody>
      </p:sp>
      <p:sp>
        <p:nvSpPr>
          <p:cNvPr id="108" name="">
            <a:extLst>
              <a:ext uri="{FF2B5EF4-FFF2-40B4-BE49-F238E27FC236}">
                <a16:creationId id="{905C5CF2-4EFA-449A-9F07-3D6CCAEB94A8}"/>
              </a:ext>
            </a:extLst>
          </p:cNvPr>
          <p:cNvSpPr>
            <a:spLocks noGrp="1"/>
          </p:cNvSpPr>
          <p:nvPr/>
        </p:nvSpPr>
        <p:spPr>
          <a:xfrm>
            <a:off x="8595033" y="4511889"/>
            <a:ext cx="2857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类别与吞吐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测量：错分率、每小时处理量</a:t>
            </a:r>
          </a:p>
        </p:txBody>
      </p:sp>
      <p:sp>
        <p:nvSpPr>
          <p:cNvPr id="109" name="">
            <a:extLst>
              <a:ext uri="{FF2B5EF4-FFF2-40B4-BE49-F238E27FC236}">
                <a16:creationId id="{4D473892-12BA-4149-B81B-66A83FB9CA1C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H19 · 圆形案例簇｜AI场景示意；候选应用不表示真实客户覆盖或产品已验证能力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平台能力要能对应到具体交付物</a:t>
            </a:r>
          </a:p>
        </p:txBody>
      </p:sp>
      <p:sp>
        <p:nvSpPr>
          <p:cNvPr id="100" name="">
            <a:extLst>
              <a:ext uri="{FF2B5EF4-FFF2-40B4-BE49-F238E27FC236}">
                <a16:creationId id="{215FB270-7250-40F6-8A2E-8FB5C9DBA2E4}"/>
              </a:ext>
            </a:extLst>
          </p:cNvPr>
          <p:cNvSpPr>
            <a:spLocks noGrp="1"/>
          </p:cNvSpPr>
          <p:nvPr/>
        </p:nvSpPr>
        <p:spPr>
          <a:xfrm>
            <a:off x="851208" y="1673439"/>
            <a:ext cx="552450" cy="552450"/>
          </a:xfrm>
          <a:prstGeom prst="can">
            <a:avLst/>
          </a:prstGeom>
          <a:solidFill>
            <a:srgbClr val="EBEBEB"/>
          </a:solidFill>
          <a:ln w="14288">
            <a:solidFill>
              <a:srgbClr val="C7000A"/>
            </a:solidFill>
          </a:ln>
        </p:spPr>
      </p:sp>
      <p:sp>
        <p:nvSpPr>
          <p:cNvPr id="101" name="">
            <a:extLst>
              <a:ext uri="{FF2B5EF4-FFF2-40B4-BE49-F238E27FC236}">
                <a16:creationId id="{1AA31344-3A35-41DF-AC25-9757C7BCCBF9}"/>
              </a:ext>
            </a:extLst>
          </p:cNvPr>
          <p:cNvSpPr>
            <a:spLocks noGrp="1"/>
          </p:cNvSpPr>
          <p:nvPr/>
        </p:nvSpPr>
        <p:spPr>
          <a:xfrm>
            <a:off x="1546533" y="1740114"/>
            <a:ext cx="1657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数据接入</a:t>
            </a:r>
          </a:p>
        </p:txBody>
      </p:sp>
      <p:sp>
        <p:nvSpPr>
          <p:cNvPr id="102" name="">
            <a:extLst>
              <a:ext uri="{FF2B5EF4-FFF2-40B4-BE49-F238E27FC236}">
                <a16:creationId id="{AFBA345C-05D3-4550-93F8-2EFB319F4172}"/>
              </a:ext>
            </a:extLst>
          </p:cNvPr>
          <p:cNvSpPr>
            <a:spLocks noGrp="1"/>
          </p:cNvSpPr>
          <p:nvPr/>
        </p:nvSpPr>
        <p:spPr>
          <a:xfrm>
            <a:off x="851208" y="2492589"/>
            <a:ext cx="2362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格式、授权、增量同步</a:t>
            </a:r>
          </a:p>
        </p:txBody>
      </p:sp>
      <p:sp>
        <p:nvSpPr>
          <p:cNvPr id="103" name="">
            <a:extLst>
              <a:ext uri="{FF2B5EF4-FFF2-40B4-BE49-F238E27FC236}">
                <a16:creationId id="{C5B58721-B7EE-4E76-9ED8-394C6128AF11}"/>
              </a:ext>
            </a:extLst>
          </p:cNvPr>
          <p:cNvSpPr>
            <a:spLocks noGrp="1"/>
          </p:cNvSpPr>
          <p:nvPr/>
        </p:nvSpPr>
        <p:spPr>
          <a:xfrm>
            <a:off x="851208" y="3283164"/>
            <a:ext cx="2381250" cy="14288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4" name="">
            <a:extLst>
              <a:ext uri="{FF2B5EF4-FFF2-40B4-BE49-F238E27FC236}">
                <a16:creationId id="{01C80E64-CC22-45E0-96D6-CCB63F5B7816}"/>
              </a:ext>
            </a:extLst>
          </p:cNvPr>
          <p:cNvSpPr>
            <a:spLocks noGrp="1"/>
          </p:cNvSpPr>
          <p:nvPr/>
        </p:nvSpPr>
        <p:spPr>
          <a:xfrm>
            <a:off x="3594408" y="1673439"/>
            <a:ext cx="552450" cy="552450"/>
          </a:xfrm>
          <a:prstGeom prst="flowChartDecision">
            <a:avLst/>
          </a:prstGeom>
          <a:solidFill>
            <a:srgbClr val="EBEBEB"/>
          </a:solidFill>
          <a:ln w="14288">
            <a:solidFill>
              <a:srgbClr val="C7000A"/>
            </a:solidFill>
          </a:ln>
        </p:spPr>
      </p:sp>
      <p:sp>
        <p:nvSpPr>
          <p:cNvPr id="105" name="">
            <a:extLst>
              <a:ext uri="{FF2B5EF4-FFF2-40B4-BE49-F238E27FC236}">
                <a16:creationId id="{D0FD9F22-2516-4D3B-ACBB-B4874C073AA8}"/>
              </a:ext>
            </a:extLst>
          </p:cNvPr>
          <p:cNvSpPr>
            <a:spLocks noGrp="1"/>
          </p:cNvSpPr>
          <p:nvPr/>
        </p:nvSpPr>
        <p:spPr>
          <a:xfrm>
            <a:off x="4289733" y="1740114"/>
            <a:ext cx="1657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质量门禁</a:t>
            </a:r>
          </a:p>
        </p:txBody>
      </p:sp>
      <p:sp>
        <p:nvSpPr>
          <p:cNvPr id="106" name="">
            <a:extLst>
              <a:ext uri="{FF2B5EF4-FFF2-40B4-BE49-F238E27FC236}">
                <a16:creationId id="{96466868-D476-434B-B639-75BAE62329B6}"/>
              </a:ext>
            </a:extLst>
          </p:cNvPr>
          <p:cNvSpPr>
            <a:spLocks noGrp="1"/>
          </p:cNvSpPr>
          <p:nvPr/>
        </p:nvSpPr>
        <p:spPr>
          <a:xfrm>
            <a:off x="3594408" y="2492589"/>
            <a:ext cx="2362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完整性、一致性、异常</a:t>
            </a:r>
          </a:p>
        </p:txBody>
      </p:sp>
      <p:sp>
        <p:nvSpPr>
          <p:cNvPr id="107" name="">
            <a:extLst>
              <a:ext uri="{FF2B5EF4-FFF2-40B4-BE49-F238E27FC236}">
                <a16:creationId id="{C4A3A461-9C57-4033-99E8-6F8C3DBCE4CC}"/>
              </a:ext>
            </a:extLst>
          </p:cNvPr>
          <p:cNvSpPr>
            <a:spLocks noGrp="1"/>
          </p:cNvSpPr>
          <p:nvPr/>
        </p:nvSpPr>
        <p:spPr>
          <a:xfrm>
            <a:off x="3594408" y="3283164"/>
            <a:ext cx="2381250" cy="14288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8" name="">
            <a:extLst>
              <a:ext uri="{FF2B5EF4-FFF2-40B4-BE49-F238E27FC236}">
                <a16:creationId id="{E66083EF-A064-43C3-95EA-F3E546A23DF6}"/>
              </a:ext>
            </a:extLst>
          </p:cNvPr>
          <p:cNvSpPr>
            <a:spLocks noGrp="1"/>
          </p:cNvSpPr>
          <p:nvPr/>
        </p:nvSpPr>
        <p:spPr>
          <a:xfrm>
            <a:off x="6337608" y="1673439"/>
            <a:ext cx="552450" cy="552450"/>
          </a:xfrm>
          <a:prstGeom prst="cube">
            <a:avLst/>
          </a:prstGeom>
          <a:solidFill>
            <a:srgbClr val="EBEBEB"/>
          </a:solidFill>
          <a:ln w="14288">
            <a:solidFill>
              <a:srgbClr val="C7000A"/>
            </a:solidFill>
          </a:ln>
        </p:spPr>
      </p:sp>
      <p:sp>
        <p:nvSpPr>
          <p:cNvPr id="109" name="">
            <a:extLst>
              <a:ext uri="{FF2B5EF4-FFF2-40B4-BE49-F238E27FC236}">
                <a16:creationId id="{E87C9D06-C56B-484E-9B20-18DDCF5ED1EA}"/>
              </a:ext>
            </a:extLst>
          </p:cNvPr>
          <p:cNvSpPr>
            <a:spLocks noGrp="1"/>
          </p:cNvSpPr>
          <p:nvPr/>
        </p:nvSpPr>
        <p:spPr>
          <a:xfrm>
            <a:off x="7032933" y="1740114"/>
            <a:ext cx="1657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训练运行</a:t>
            </a:r>
          </a:p>
        </p:txBody>
      </p:sp>
      <p:sp>
        <p:nvSpPr>
          <p:cNvPr id="110" name="">
            <a:extLst>
              <a:ext uri="{FF2B5EF4-FFF2-40B4-BE49-F238E27FC236}">
                <a16:creationId id="{C23A4173-590C-4D61-AC07-AF565D7EEA2D}"/>
              </a:ext>
            </a:extLst>
          </p:cNvPr>
          <p:cNvSpPr>
            <a:spLocks noGrp="1"/>
          </p:cNvSpPr>
          <p:nvPr/>
        </p:nvSpPr>
        <p:spPr>
          <a:xfrm>
            <a:off x="6337608" y="2492589"/>
            <a:ext cx="2362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配方、环境、资源记录</a:t>
            </a:r>
          </a:p>
        </p:txBody>
      </p:sp>
      <p:sp>
        <p:nvSpPr>
          <p:cNvPr id="111" name="">
            <a:extLst>
              <a:ext uri="{FF2B5EF4-FFF2-40B4-BE49-F238E27FC236}">
                <a16:creationId id="{DEBC6353-EB61-4436-B10A-66EEF882CB4A}"/>
              </a:ext>
            </a:extLst>
          </p:cNvPr>
          <p:cNvSpPr>
            <a:spLocks noGrp="1"/>
          </p:cNvSpPr>
          <p:nvPr/>
        </p:nvSpPr>
        <p:spPr>
          <a:xfrm>
            <a:off x="6337608" y="3283164"/>
            <a:ext cx="2381250" cy="14288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2" name="">
            <a:extLst>
              <a:ext uri="{FF2B5EF4-FFF2-40B4-BE49-F238E27FC236}">
                <a16:creationId id="{B077B9AC-A5E7-43DF-B232-BDE477A30990}"/>
              </a:ext>
            </a:extLst>
          </p:cNvPr>
          <p:cNvSpPr>
            <a:spLocks noGrp="1"/>
          </p:cNvSpPr>
          <p:nvPr/>
        </p:nvSpPr>
        <p:spPr>
          <a:xfrm>
            <a:off x="9080808" y="1673439"/>
            <a:ext cx="552450" cy="552450"/>
          </a:xfrm>
          <a:prstGeom prst="hexagon">
            <a:avLst/>
          </a:prstGeom>
          <a:solidFill>
            <a:srgbClr val="EBEBEB"/>
          </a:solidFill>
          <a:ln w="14288">
            <a:solidFill>
              <a:srgbClr val="C7000A"/>
            </a:solidFill>
          </a:ln>
        </p:spPr>
      </p:sp>
      <p:sp>
        <p:nvSpPr>
          <p:cNvPr id="113" name="">
            <a:extLst>
              <a:ext uri="{FF2B5EF4-FFF2-40B4-BE49-F238E27FC236}">
                <a16:creationId id="{BEEC6966-8CD0-48FD-A0C7-559DF14B1658}"/>
              </a:ext>
            </a:extLst>
          </p:cNvPr>
          <p:cNvSpPr>
            <a:spLocks noGrp="1"/>
          </p:cNvSpPr>
          <p:nvPr/>
        </p:nvSpPr>
        <p:spPr>
          <a:xfrm>
            <a:off x="9776133" y="1740114"/>
            <a:ext cx="1657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模型管理</a:t>
            </a:r>
          </a:p>
        </p:txBody>
      </p:sp>
      <p:sp>
        <p:nvSpPr>
          <p:cNvPr id="114" name="">
            <a:extLst>
              <a:ext uri="{FF2B5EF4-FFF2-40B4-BE49-F238E27FC236}">
                <a16:creationId id="{A3130357-B460-4C26-A8A8-C20481990CBF}"/>
              </a:ext>
            </a:extLst>
          </p:cNvPr>
          <p:cNvSpPr>
            <a:spLocks noGrp="1"/>
          </p:cNvSpPr>
          <p:nvPr/>
        </p:nvSpPr>
        <p:spPr>
          <a:xfrm>
            <a:off x="9080808" y="2492589"/>
            <a:ext cx="2362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权重、版本、来源关系</a:t>
            </a:r>
          </a:p>
        </p:txBody>
      </p:sp>
      <p:sp>
        <p:nvSpPr>
          <p:cNvPr id="115" name="">
            <a:extLst>
              <a:ext uri="{FF2B5EF4-FFF2-40B4-BE49-F238E27FC236}">
                <a16:creationId id="{E7A6D8A9-3A8B-45F5-96F5-990B394D2956}"/>
              </a:ext>
            </a:extLst>
          </p:cNvPr>
          <p:cNvSpPr>
            <a:spLocks noGrp="1"/>
          </p:cNvSpPr>
          <p:nvPr/>
        </p:nvSpPr>
        <p:spPr>
          <a:xfrm>
            <a:off x="9080808" y="3283164"/>
            <a:ext cx="2381250" cy="14288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6" name="">
            <a:extLst>
              <a:ext uri="{FF2B5EF4-FFF2-40B4-BE49-F238E27FC236}">
                <a16:creationId id="{87E5C80B-18BD-4B31-8F64-D1A9EADC9795}"/>
              </a:ext>
            </a:extLst>
          </p:cNvPr>
          <p:cNvSpPr>
            <a:spLocks noGrp="1"/>
          </p:cNvSpPr>
          <p:nvPr/>
        </p:nvSpPr>
        <p:spPr>
          <a:xfrm>
            <a:off x="851208" y="3645114"/>
            <a:ext cx="552450" cy="552450"/>
          </a:xfrm>
          <a:prstGeom prst="gear6">
            <a:avLst/>
          </a:prstGeom>
          <a:solidFill>
            <a:srgbClr val="EBEBEB"/>
          </a:solidFill>
          <a:ln w="14288">
            <a:solidFill>
              <a:srgbClr val="C7000A"/>
            </a:solidFill>
          </a:ln>
        </p:spPr>
      </p:sp>
      <p:sp>
        <p:nvSpPr>
          <p:cNvPr id="117" name="">
            <a:extLst>
              <a:ext uri="{FF2B5EF4-FFF2-40B4-BE49-F238E27FC236}">
                <a16:creationId id="{AE115BB7-2EE4-4D57-9EF3-F57EAF46641B}"/>
              </a:ext>
            </a:extLst>
          </p:cNvPr>
          <p:cNvSpPr>
            <a:spLocks noGrp="1"/>
          </p:cNvSpPr>
          <p:nvPr/>
        </p:nvSpPr>
        <p:spPr>
          <a:xfrm>
            <a:off x="1546533" y="3711789"/>
            <a:ext cx="1657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推理优化</a:t>
            </a:r>
          </a:p>
        </p:txBody>
      </p:sp>
      <p:sp>
        <p:nvSpPr>
          <p:cNvPr id="118" name="">
            <a:extLst>
              <a:ext uri="{FF2B5EF4-FFF2-40B4-BE49-F238E27FC236}">
                <a16:creationId id="{87917D49-3E9E-4E91-AAFD-D01324FA9D0A}"/>
              </a:ext>
            </a:extLst>
          </p:cNvPr>
          <p:cNvSpPr>
            <a:spLocks noGrp="1"/>
          </p:cNvSpPr>
          <p:nvPr/>
        </p:nvSpPr>
        <p:spPr>
          <a:xfrm>
            <a:off x="851208" y="4464264"/>
            <a:ext cx="2362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精度、批量、尾延迟</a:t>
            </a:r>
          </a:p>
        </p:txBody>
      </p:sp>
      <p:sp>
        <p:nvSpPr>
          <p:cNvPr id="119" name="">
            <a:extLst>
              <a:ext uri="{FF2B5EF4-FFF2-40B4-BE49-F238E27FC236}">
                <a16:creationId id="{5B88F22F-53DA-49CC-B19F-1AC22E9732A7}"/>
              </a:ext>
            </a:extLst>
          </p:cNvPr>
          <p:cNvSpPr>
            <a:spLocks noGrp="1"/>
          </p:cNvSpPr>
          <p:nvPr/>
        </p:nvSpPr>
        <p:spPr>
          <a:xfrm>
            <a:off x="851208" y="5254839"/>
            <a:ext cx="2381250" cy="14288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20" name="">
            <a:extLst>
              <a:ext uri="{FF2B5EF4-FFF2-40B4-BE49-F238E27FC236}">
                <a16:creationId id="{C74F58FD-CCD6-4451-B14E-226D2DBF2568}"/>
              </a:ext>
            </a:extLst>
          </p:cNvPr>
          <p:cNvSpPr>
            <a:spLocks noGrp="1"/>
          </p:cNvSpPr>
          <p:nvPr/>
        </p:nvSpPr>
        <p:spPr>
          <a:xfrm>
            <a:off x="3594408" y="3645114"/>
            <a:ext cx="552450" cy="552450"/>
          </a:xfrm>
          <a:prstGeom prst="cloud">
            <a:avLst/>
          </a:prstGeom>
          <a:solidFill>
            <a:srgbClr val="EBEBEB"/>
          </a:solidFill>
          <a:ln w="14288">
            <a:solidFill>
              <a:srgbClr val="C7000A"/>
            </a:solidFill>
          </a:ln>
        </p:spPr>
      </p:sp>
      <p:sp>
        <p:nvSpPr>
          <p:cNvPr id="121" name="">
            <a:extLst>
              <a:ext uri="{FF2B5EF4-FFF2-40B4-BE49-F238E27FC236}">
                <a16:creationId id="{B60B41F8-D63D-4CBB-B3A7-5DB103AAB70C}"/>
              </a:ext>
            </a:extLst>
          </p:cNvPr>
          <p:cNvSpPr>
            <a:spLocks noGrp="1"/>
          </p:cNvSpPr>
          <p:nvPr/>
        </p:nvSpPr>
        <p:spPr>
          <a:xfrm>
            <a:off x="4289733" y="3711789"/>
            <a:ext cx="1657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任务调度</a:t>
            </a:r>
          </a:p>
        </p:txBody>
      </p:sp>
      <p:sp>
        <p:nvSpPr>
          <p:cNvPr id="122" name="">
            <a:extLst>
              <a:ext uri="{FF2B5EF4-FFF2-40B4-BE49-F238E27FC236}">
                <a16:creationId id="{8127B010-76FE-47CD-9FA3-DE64F4AD2561}"/>
              </a:ext>
            </a:extLst>
          </p:cNvPr>
          <p:cNvSpPr>
            <a:spLocks noGrp="1"/>
          </p:cNvSpPr>
          <p:nvPr/>
        </p:nvSpPr>
        <p:spPr>
          <a:xfrm>
            <a:off x="3594408" y="4464264"/>
            <a:ext cx="2362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优先级、配额与重试</a:t>
            </a:r>
          </a:p>
        </p:txBody>
      </p:sp>
      <p:sp>
        <p:nvSpPr>
          <p:cNvPr id="123" name="">
            <a:extLst>
              <a:ext uri="{FF2B5EF4-FFF2-40B4-BE49-F238E27FC236}">
                <a16:creationId id="{8D8C11D1-64CC-4BA1-8BF3-892C1845097A}"/>
              </a:ext>
            </a:extLst>
          </p:cNvPr>
          <p:cNvSpPr>
            <a:spLocks noGrp="1"/>
          </p:cNvSpPr>
          <p:nvPr/>
        </p:nvSpPr>
        <p:spPr>
          <a:xfrm>
            <a:off x="3594408" y="5254839"/>
            <a:ext cx="2381250" cy="14288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24" name="">
            <a:extLst>
              <a:ext uri="{FF2B5EF4-FFF2-40B4-BE49-F238E27FC236}">
                <a16:creationId id="{4C975357-3C7C-4CBC-9B54-26866EB2DE51}"/>
              </a:ext>
            </a:extLst>
          </p:cNvPr>
          <p:cNvSpPr>
            <a:spLocks noGrp="1"/>
          </p:cNvSpPr>
          <p:nvPr/>
        </p:nvSpPr>
        <p:spPr>
          <a:xfrm>
            <a:off x="6337608" y="3645114"/>
            <a:ext cx="552450" cy="552450"/>
          </a:xfrm>
          <a:prstGeom prst="flowChartDocument">
            <a:avLst/>
          </a:prstGeom>
          <a:solidFill>
            <a:srgbClr val="EBEBEB"/>
          </a:solidFill>
          <a:ln w="14288">
            <a:solidFill>
              <a:srgbClr val="C7000A"/>
            </a:solidFill>
          </a:ln>
        </p:spPr>
      </p:sp>
      <p:sp>
        <p:nvSpPr>
          <p:cNvPr id="125" name="">
            <a:extLst>
              <a:ext uri="{FF2B5EF4-FFF2-40B4-BE49-F238E27FC236}">
                <a16:creationId id="{226F2F50-5C87-4C7A-A5A6-3A4DBD023DC3}"/>
              </a:ext>
            </a:extLst>
          </p:cNvPr>
          <p:cNvSpPr>
            <a:spLocks noGrp="1"/>
          </p:cNvSpPr>
          <p:nvPr/>
        </p:nvSpPr>
        <p:spPr>
          <a:xfrm>
            <a:off x="7032933" y="3711789"/>
            <a:ext cx="1657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评测报告</a:t>
            </a:r>
          </a:p>
        </p:txBody>
      </p:sp>
      <p:sp>
        <p:nvSpPr>
          <p:cNvPr id="126" name="">
            <a:extLst>
              <a:ext uri="{FF2B5EF4-FFF2-40B4-BE49-F238E27FC236}">
                <a16:creationId id="{208C8F3B-FF1A-4AB3-800F-3C53B3449D9D}"/>
              </a:ext>
            </a:extLst>
          </p:cNvPr>
          <p:cNvSpPr>
            <a:spLocks noGrp="1"/>
          </p:cNvSpPr>
          <p:nvPr/>
        </p:nvSpPr>
        <p:spPr>
          <a:xfrm>
            <a:off x="6337608" y="4464264"/>
            <a:ext cx="2362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任务、口径、失败样本</a:t>
            </a:r>
          </a:p>
        </p:txBody>
      </p:sp>
      <p:sp>
        <p:nvSpPr>
          <p:cNvPr id="127" name="">
            <a:extLst>
              <a:ext uri="{FF2B5EF4-FFF2-40B4-BE49-F238E27FC236}">
                <a16:creationId id="{C5309A33-26F5-41C6-8CA9-9BD2FAD0E09F}"/>
              </a:ext>
            </a:extLst>
          </p:cNvPr>
          <p:cNvSpPr>
            <a:spLocks noGrp="1"/>
          </p:cNvSpPr>
          <p:nvPr/>
        </p:nvSpPr>
        <p:spPr>
          <a:xfrm>
            <a:off x="6337608" y="5254839"/>
            <a:ext cx="2381250" cy="14288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28" name="">
            <a:extLst>
              <a:ext uri="{FF2B5EF4-FFF2-40B4-BE49-F238E27FC236}">
                <a16:creationId id="{AA7EC8E1-F241-4C44-89D5-3D7849EB5995}"/>
              </a:ext>
            </a:extLst>
          </p:cNvPr>
          <p:cNvSpPr>
            <a:spLocks noGrp="1"/>
          </p:cNvSpPr>
          <p:nvPr/>
        </p:nvSpPr>
        <p:spPr>
          <a:xfrm>
            <a:off x="9080808" y="3645114"/>
            <a:ext cx="552450" cy="552450"/>
          </a:xfrm>
          <a:prstGeom prst="homePlate">
            <a:avLst/>
          </a:prstGeom>
          <a:solidFill>
            <a:srgbClr val="EBEBEB"/>
          </a:solidFill>
          <a:ln w="14288">
            <a:solidFill>
              <a:srgbClr val="C7000A"/>
            </a:solidFill>
          </a:ln>
        </p:spPr>
      </p:sp>
      <p:sp>
        <p:nvSpPr>
          <p:cNvPr id="129" name="">
            <a:extLst>
              <a:ext uri="{FF2B5EF4-FFF2-40B4-BE49-F238E27FC236}">
                <a16:creationId id="{F6AFA911-C27D-4F95-9C36-11AA1746815D}"/>
              </a:ext>
            </a:extLst>
          </p:cNvPr>
          <p:cNvSpPr>
            <a:spLocks noGrp="1"/>
          </p:cNvSpPr>
          <p:nvPr/>
        </p:nvSpPr>
        <p:spPr>
          <a:xfrm>
            <a:off x="9776133" y="3711789"/>
            <a:ext cx="1657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现场部署</a:t>
            </a:r>
          </a:p>
        </p:txBody>
      </p:sp>
      <p:sp>
        <p:nvSpPr>
          <p:cNvPr id="130" name="">
            <a:extLst>
              <a:ext uri="{FF2B5EF4-FFF2-40B4-BE49-F238E27FC236}">
                <a16:creationId id="{ABC5A2E5-7B19-4121-9848-202C1101269C}"/>
              </a:ext>
            </a:extLst>
          </p:cNvPr>
          <p:cNvSpPr>
            <a:spLocks noGrp="1"/>
          </p:cNvSpPr>
          <p:nvPr/>
        </p:nvSpPr>
        <p:spPr>
          <a:xfrm>
            <a:off x="9080808" y="4464264"/>
            <a:ext cx="2362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接口、监控、版本回滚</a:t>
            </a:r>
          </a:p>
        </p:txBody>
      </p:sp>
      <p:sp>
        <p:nvSpPr>
          <p:cNvPr id="131" name="">
            <a:extLst>
              <a:ext uri="{FF2B5EF4-FFF2-40B4-BE49-F238E27FC236}">
                <a16:creationId id="{2B63B5CA-9C9A-4BC9-B69B-EB26102A4BE1}"/>
              </a:ext>
            </a:extLst>
          </p:cNvPr>
          <p:cNvSpPr>
            <a:spLocks noGrp="1"/>
          </p:cNvSpPr>
          <p:nvPr/>
        </p:nvSpPr>
        <p:spPr>
          <a:xfrm>
            <a:off x="9080808" y="5254839"/>
            <a:ext cx="2381250" cy="14288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32" name="">
            <a:extLst>
              <a:ext uri="{FF2B5EF4-FFF2-40B4-BE49-F238E27FC236}">
                <a16:creationId id="{33CFA970-3B5E-4B5B-9AC5-2BB09CB80529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H20 · 能力图标矩阵｜建议能力清单；并非对某个现有平台实现状态的声明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园区试点采用分区采集与集中回传</a:t>
            </a:r>
          </a:p>
        </p:txBody>
      </p:sp>
      <p:pic>
        <p:nvPicPr>
          <p:cNvPr id="100" name=""/>
          <p:cNvPicPr>
            <a:picLocks noChangeAspect="1"/>
          </p:cNvPicPr>
          <p:nvPr/>
        </p:nvPicPr>
        <p:blipFill>
          <a:blip r:embed="lexRf2e0301e25a04405"/>
          <a:stretch/>
        </p:blipFill>
        <p:spPr>
          <a:xfrm>
            <a:off x="736908" y="1556009"/>
            <a:ext cx="7000875" cy="3940086"/>
          </a:xfrm>
          <a:prstGeom prst="rect">
            <a:avLst/>
          </a:prstGeom>
        </p:spPr>
      </p:pic>
      <p:sp>
        <p:nvSpPr>
          <p:cNvPr id="101" name="">
            <a:extLst>
              <a:ext uri="{FF2B5EF4-FFF2-40B4-BE49-F238E27FC236}">
                <a16:creationId id="{84C43392-8B79-4A5B-81D1-3914AFE484A8}"/>
              </a:ext>
            </a:extLst>
          </p:cNvPr>
          <p:cNvSpPr>
            <a:spLocks noGrp="1"/>
          </p:cNvSpPr>
          <p:nvPr/>
        </p:nvSpPr>
        <p:spPr>
          <a:xfrm>
            <a:off x="2499033" y="2692614"/>
            <a:ext cx="333375" cy="333375"/>
          </a:xfrm>
          <a:prstGeom prst="ellipse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2" name="">
            <a:extLst>
              <a:ext uri="{FF2B5EF4-FFF2-40B4-BE49-F238E27FC236}">
                <a16:creationId id="{B9FC90C8-8D62-455C-8159-DEFD802BEA70}"/>
              </a:ext>
            </a:extLst>
          </p:cNvPr>
          <p:cNvSpPr>
            <a:spLocks noGrp="1"/>
          </p:cNvSpPr>
          <p:nvPr/>
        </p:nvSpPr>
        <p:spPr>
          <a:xfrm>
            <a:off x="2499033" y="2730714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3" name="">
            <a:extLst>
              <a:ext uri="{FF2B5EF4-FFF2-40B4-BE49-F238E27FC236}">
                <a16:creationId id="{E41CDCEC-75F1-41CF-B2D7-BC6712DC5BE4}"/>
              </a:ext>
            </a:extLst>
          </p:cNvPr>
          <p:cNvSpPr>
            <a:spLocks noGrp="1"/>
          </p:cNvSpPr>
          <p:nvPr/>
        </p:nvSpPr>
        <p:spPr>
          <a:xfrm>
            <a:off x="2527608" y="4416639"/>
            <a:ext cx="333375" cy="333375"/>
          </a:xfrm>
          <a:prstGeom prst="ellipse">
            <a:avLst/>
          </a:prstGeom>
          <a:solidFill>
            <a:srgbClr val="666666"/>
          </a:solidFill>
          <a:ln w="0">
            <a:noFill/>
          </a:ln>
        </p:spPr>
      </p:sp>
      <p:sp>
        <p:nvSpPr>
          <p:cNvPr id="104" name="">
            <a:extLst>
              <a:ext uri="{FF2B5EF4-FFF2-40B4-BE49-F238E27FC236}">
                <a16:creationId id="{7246CE58-E8CF-4E86-B0E4-A31851304BF2}"/>
              </a:ext>
            </a:extLst>
          </p:cNvPr>
          <p:cNvSpPr>
            <a:spLocks noGrp="1"/>
          </p:cNvSpPr>
          <p:nvPr/>
        </p:nvSpPr>
        <p:spPr>
          <a:xfrm>
            <a:off x="2527608" y="4454739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05" name="">
            <a:extLst>
              <a:ext uri="{FF2B5EF4-FFF2-40B4-BE49-F238E27FC236}">
                <a16:creationId id="{DB249BB4-2DF4-40E7-922A-7343295A6000}"/>
              </a:ext>
            </a:extLst>
          </p:cNvPr>
          <p:cNvSpPr>
            <a:spLocks noGrp="1"/>
          </p:cNvSpPr>
          <p:nvPr/>
        </p:nvSpPr>
        <p:spPr>
          <a:xfrm>
            <a:off x="6004233" y="2511639"/>
            <a:ext cx="333375" cy="333375"/>
          </a:xfrm>
          <a:prstGeom prst="ellipse">
            <a:avLst/>
          </a:prstGeom>
          <a:solidFill>
            <a:srgbClr val="F4A100"/>
          </a:solidFill>
          <a:ln w="0">
            <a:noFill/>
          </a:ln>
        </p:spPr>
      </p:sp>
      <p:sp>
        <p:nvSpPr>
          <p:cNvPr id="106" name="">
            <a:extLst>
              <a:ext uri="{FF2B5EF4-FFF2-40B4-BE49-F238E27FC236}">
                <a16:creationId id="{FE4EC87A-95EB-4228-9DA4-E7978C32CFB8}"/>
              </a:ext>
            </a:extLst>
          </p:cNvPr>
          <p:cNvSpPr>
            <a:spLocks noGrp="1"/>
          </p:cNvSpPr>
          <p:nvPr/>
        </p:nvSpPr>
        <p:spPr>
          <a:xfrm>
            <a:off x="6004233" y="2549739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07" name="">
            <a:extLst>
              <a:ext uri="{FF2B5EF4-FFF2-40B4-BE49-F238E27FC236}">
                <a16:creationId id="{A1216F3B-918A-4EA7-BD11-D02B6C758886}"/>
              </a:ext>
            </a:extLst>
          </p:cNvPr>
          <p:cNvSpPr>
            <a:spLocks noGrp="1"/>
          </p:cNvSpPr>
          <p:nvPr/>
        </p:nvSpPr>
        <p:spPr>
          <a:xfrm>
            <a:off x="5651808" y="3797514"/>
            <a:ext cx="333375" cy="333375"/>
          </a:xfrm>
          <a:prstGeom prst="ellipse">
            <a:avLst/>
          </a:prstGeom>
          <a:solidFill>
            <a:srgbClr val="919191"/>
          </a:solidFill>
          <a:ln w="0">
            <a:noFill/>
          </a:ln>
        </p:spPr>
      </p:sp>
      <p:sp>
        <p:nvSpPr>
          <p:cNvPr id="108" name="">
            <a:extLst>
              <a:ext uri="{FF2B5EF4-FFF2-40B4-BE49-F238E27FC236}">
                <a16:creationId id="{4EB46DA2-4FB4-4E74-9C37-A2843D3FA15A}"/>
              </a:ext>
            </a:extLst>
          </p:cNvPr>
          <p:cNvSpPr>
            <a:spLocks noGrp="1"/>
          </p:cNvSpPr>
          <p:nvPr/>
        </p:nvSpPr>
        <p:spPr>
          <a:xfrm>
            <a:off x="5651808" y="3835614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109" name="">
            <a:extLst>
              <a:ext uri="{FF2B5EF4-FFF2-40B4-BE49-F238E27FC236}">
                <a16:creationId id="{BA581C4E-EB98-4FAA-B9FB-C972932EB1C2}"/>
              </a:ext>
            </a:extLst>
          </p:cNvPr>
          <p:cNvSpPr>
            <a:spLocks noGrp="1"/>
          </p:cNvSpPr>
          <p:nvPr/>
        </p:nvSpPr>
        <p:spPr>
          <a:xfrm>
            <a:off x="6499533" y="4702389"/>
            <a:ext cx="333375" cy="333375"/>
          </a:xfrm>
          <a:prstGeom prst="ellipse">
            <a:avLst/>
          </a:prstGeom>
          <a:solidFill>
            <a:srgbClr val="C4C4C4"/>
          </a:solidFill>
          <a:ln w="0">
            <a:noFill/>
          </a:ln>
        </p:spPr>
      </p:sp>
      <p:sp>
        <p:nvSpPr>
          <p:cNvPr id="110" name="">
            <a:extLst>
              <a:ext uri="{FF2B5EF4-FFF2-40B4-BE49-F238E27FC236}">
                <a16:creationId id="{DC16B965-6A98-48DB-B242-79CB2EB63380}"/>
              </a:ext>
            </a:extLst>
          </p:cNvPr>
          <p:cNvSpPr>
            <a:spLocks noGrp="1"/>
          </p:cNvSpPr>
          <p:nvPr/>
        </p:nvSpPr>
        <p:spPr>
          <a:xfrm>
            <a:off x="6499533" y="4740489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111" name="">
            <a:extLst>
              <a:ext uri="{FF2B5EF4-FFF2-40B4-BE49-F238E27FC236}">
                <a16:creationId id="{70C6E56B-E7ED-4BE1-8747-D2F9EA5A691C}"/>
              </a:ext>
            </a:extLst>
          </p:cNvPr>
          <p:cNvSpPr>
            <a:spLocks noGrp="1"/>
          </p:cNvSpPr>
          <p:nvPr/>
        </p:nvSpPr>
        <p:spPr>
          <a:xfrm>
            <a:off x="8204508" y="1759164"/>
            <a:ext cx="114300" cy="114300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2" name="">
            <a:extLst>
              <a:ext uri="{FF2B5EF4-FFF2-40B4-BE49-F238E27FC236}">
                <a16:creationId id="{9EED8A67-E437-4E0C-BEDF-9CE47FB5A535}"/>
              </a:ext>
            </a:extLst>
          </p:cNvPr>
          <p:cNvSpPr>
            <a:spLocks noGrp="1"/>
          </p:cNvSpPr>
          <p:nvPr/>
        </p:nvSpPr>
        <p:spPr>
          <a:xfrm>
            <a:off x="8433108" y="1692489"/>
            <a:ext cx="29813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 仓储区：移动与搬运采集</a:t>
            </a:r>
          </a:p>
        </p:txBody>
      </p:sp>
      <p:sp>
        <p:nvSpPr>
          <p:cNvPr id="113" name="">
            <a:extLst>
              <a:ext uri="{FF2B5EF4-FFF2-40B4-BE49-F238E27FC236}">
                <a16:creationId id="{5AC0A3A8-2FC1-4D22-AC72-A680A89915A9}"/>
              </a:ext>
            </a:extLst>
          </p:cNvPr>
          <p:cNvSpPr>
            <a:spLocks noGrp="1"/>
          </p:cNvSpPr>
          <p:nvPr/>
        </p:nvSpPr>
        <p:spPr>
          <a:xfrm>
            <a:off x="8204508" y="2454489"/>
            <a:ext cx="114300" cy="11430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</p:sp>
      <p:sp>
        <p:nvSpPr>
          <p:cNvPr id="114" name="">
            <a:extLst>
              <a:ext uri="{FF2B5EF4-FFF2-40B4-BE49-F238E27FC236}">
                <a16:creationId id="{101203A7-C419-4263-BD3F-AC6717DFCF61}"/>
              </a:ext>
            </a:extLst>
          </p:cNvPr>
          <p:cNvSpPr>
            <a:spLocks noGrp="1"/>
          </p:cNvSpPr>
          <p:nvPr/>
        </p:nvSpPr>
        <p:spPr>
          <a:xfrm>
            <a:off x="8433108" y="2387814"/>
            <a:ext cx="29813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B 测试区：操作任务与回归</a:t>
            </a:r>
          </a:p>
        </p:txBody>
      </p:sp>
      <p:sp>
        <p:nvSpPr>
          <p:cNvPr id="115" name="">
            <a:extLst>
              <a:ext uri="{FF2B5EF4-FFF2-40B4-BE49-F238E27FC236}">
                <a16:creationId id="{FBB60F56-119A-437C-BAC2-20F9FAECD5C6}"/>
              </a:ext>
            </a:extLst>
          </p:cNvPr>
          <p:cNvSpPr>
            <a:spLocks noGrp="1"/>
          </p:cNvSpPr>
          <p:nvPr/>
        </p:nvSpPr>
        <p:spPr>
          <a:xfrm>
            <a:off x="8204508" y="3149814"/>
            <a:ext cx="114300" cy="114300"/>
          </a:xfrm>
          <a:prstGeom prst="rect">
            <a:avLst/>
          </a:prstGeom>
          <a:solidFill>
            <a:srgbClr val="F4A100"/>
          </a:solidFill>
          <a:ln w="0">
            <a:noFill/>
          </a:ln>
        </p:spPr>
      </p:sp>
      <p:sp>
        <p:nvSpPr>
          <p:cNvPr id="116" name="">
            <a:extLst>
              <a:ext uri="{FF2B5EF4-FFF2-40B4-BE49-F238E27FC236}">
                <a16:creationId id="{8325930F-8D3D-486A-B58B-FCA81704E169}"/>
              </a:ext>
            </a:extLst>
          </p:cNvPr>
          <p:cNvSpPr>
            <a:spLocks noGrp="1"/>
          </p:cNvSpPr>
          <p:nvPr/>
        </p:nvSpPr>
        <p:spPr>
          <a:xfrm>
            <a:off x="8433108" y="3083139"/>
            <a:ext cx="29813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 管理区：任务与授权管理</a:t>
            </a:r>
          </a:p>
        </p:txBody>
      </p:sp>
      <p:sp>
        <p:nvSpPr>
          <p:cNvPr id="117" name="">
            <a:extLst>
              <a:ext uri="{FF2B5EF4-FFF2-40B4-BE49-F238E27FC236}">
                <a16:creationId id="{45134BD3-CB58-4871-85FA-EB23D02D2DA1}"/>
              </a:ext>
            </a:extLst>
          </p:cNvPr>
          <p:cNvSpPr>
            <a:spLocks noGrp="1"/>
          </p:cNvSpPr>
          <p:nvPr/>
        </p:nvSpPr>
        <p:spPr>
          <a:xfrm>
            <a:off x="8204508" y="3845139"/>
            <a:ext cx="114300" cy="114300"/>
          </a:xfrm>
          <a:prstGeom prst="rect">
            <a:avLst/>
          </a:prstGeom>
          <a:solidFill>
            <a:srgbClr val="919191"/>
          </a:solidFill>
          <a:ln w="0">
            <a:noFill/>
          </a:ln>
        </p:spPr>
      </p:sp>
      <p:sp>
        <p:nvSpPr>
          <p:cNvPr id="118" name="">
            <a:extLst>
              <a:ext uri="{FF2B5EF4-FFF2-40B4-BE49-F238E27FC236}">
                <a16:creationId id="{34E2D6A7-6D96-49B5-845F-BDC1ADE6FC9B}"/>
              </a:ext>
            </a:extLst>
          </p:cNvPr>
          <p:cNvSpPr>
            <a:spLocks noGrp="1"/>
          </p:cNvSpPr>
          <p:nvPr/>
        </p:nvSpPr>
        <p:spPr>
          <a:xfrm>
            <a:off x="8433108" y="3778464"/>
            <a:ext cx="29813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D 数据区：处理、存储与训练</a:t>
            </a:r>
          </a:p>
        </p:txBody>
      </p:sp>
      <p:sp>
        <p:nvSpPr>
          <p:cNvPr id="119" name="">
            <a:extLst>
              <a:ext uri="{FF2B5EF4-FFF2-40B4-BE49-F238E27FC236}">
                <a16:creationId id="{6D78FAE5-078E-4A1A-B547-D9E67A497A3E}"/>
              </a:ext>
            </a:extLst>
          </p:cNvPr>
          <p:cNvSpPr>
            <a:spLocks noGrp="1"/>
          </p:cNvSpPr>
          <p:nvPr/>
        </p:nvSpPr>
        <p:spPr>
          <a:xfrm>
            <a:off x="8204508" y="4540464"/>
            <a:ext cx="114300" cy="114300"/>
          </a:xfrm>
          <a:prstGeom prst="rect">
            <a:avLst/>
          </a:prstGeom>
          <a:solidFill>
            <a:srgbClr val="C4C4C4"/>
          </a:solidFill>
          <a:ln w="0">
            <a:noFill/>
          </a:ln>
        </p:spPr>
      </p:sp>
      <p:sp>
        <p:nvSpPr>
          <p:cNvPr id="120" name="">
            <a:extLst>
              <a:ext uri="{FF2B5EF4-FFF2-40B4-BE49-F238E27FC236}">
                <a16:creationId id="{CB0BE6C2-C3FB-4215-9CEC-48BF57C99B67}"/>
              </a:ext>
            </a:extLst>
          </p:cNvPr>
          <p:cNvSpPr>
            <a:spLocks noGrp="1"/>
          </p:cNvSpPr>
          <p:nvPr/>
        </p:nvSpPr>
        <p:spPr>
          <a:xfrm>
            <a:off x="8433108" y="4473789"/>
            <a:ext cx="29813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E 交付区：设备维护与出入库</a:t>
            </a:r>
          </a:p>
        </p:txBody>
      </p:sp>
      <p:sp>
        <p:nvSpPr>
          <p:cNvPr id="121" name="">
            <a:extLst>
              <a:ext uri="{FF2B5EF4-FFF2-40B4-BE49-F238E27FC236}">
                <a16:creationId id="{DF78CAFE-43DC-42F5-A58E-EF21D9A161EA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H21 · 地图点位｜AI生成虚构园区地图；点位用于示例，不对应实际客户或真实地理布局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复制增长建立在交付标准化之上</a:t>
            </a:r>
          </a:p>
        </p:txBody>
      </p:sp>
      <p:sp>
        <p:nvSpPr>
          <p:cNvPr id="100" name="">
            <a:extLst>
              <a:ext uri="{FF2B5EF4-FFF2-40B4-BE49-F238E27FC236}">
                <a16:creationId id="{CDDE463E-F912-4636-9381-7DAB24213393}"/>
              </a:ext>
            </a:extLst>
          </p:cNvPr>
          <p:cNvSpPr>
            <a:spLocks noGrp="1"/>
          </p:cNvSpPr>
          <p:nvPr/>
        </p:nvSpPr>
        <p:spPr>
          <a:xfrm>
            <a:off x="879783" y="4359489"/>
            <a:ext cx="2381250" cy="8572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1" name="">
            <a:extLst>
              <a:ext uri="{FF2B5EF4-FFF2-40B4-BE49-F238E27FC236}">
                <a16:creationId id="{C63EBFA5-7987-4F1A-B2DC-395FCDB16A3F}"/>
              </a:ext>
            </a:extLst>
          </p:cNvPr>
          <p:cNvSpPr>
            <a:spLocks noGrp="1"/>
          </p:cNvSpPr>
          <p:nvPr/>
        </p:nvSpPr>
        <p:spPr>
          <a:xfrm>
            <a:off x="1032183" y="4511889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1个试点</a:t>
            </a:r>
          </a:p>
        </p:txBody>
      </p:sp>
      <p:sp>
        <p:nvSpPr>
          <p:cNvPr id="102" name="">
            <a:extLst>
              <a:ext uri="{FF2B5EF4-FFF2-40B4-BE49-F238E27FC236}">
                <a16:creationId id="{288F1FE8-A211-4CFA-A18B-9E8FE1B2D241}"/>
              </a:ext>
            </a:extLst>
          </p:cNvPr>
          <p:cNvSpPr>
            <a:spLocks noGrp="1"/>
          </p:cNvSpPr>
          <p:nvPr/>
        </p:nvSpPr>
        <p:spPr>
          <a:xfrm>
            <a:off x="1032183" y="4969089"/>
            <a:ext cx="20764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证明任务可完成</a:t>
            </a:r>
          </a:p>
        </p:txBody>
      </p:sp>
      <p:sp>
        <p:nvSpPr>
          <p:cNvPr id="103" name="">
            <a:extLst>
              <a:ext uri="{FF2B5EF4-FFF2-40B4-BE49-F238E27FC236}">
                <a16:creationId id="{AB0FD1DA-2329-4FC5-979C-73016F483FB5}"/>
              </a:ext>
            </a:extLst>
          </p:cNvPr>
          <p:cNvSpPr>
            <a:spLocks noGrp="1"/>
          </p:cNvSpPr>
          <p:nvPr/>
        </p:nvSpPr>
        <p:spPr>
          <a:xfrm>
            <a:off x="3518208" y="3807039"/>
            <a:ext cx="2381250" cy="140970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4" name="">
            <a:extLst>
              <a:ext uri="{FF2B5EF4-FFF2-40B4-BE49-F238E27FC236}">
                <a16:creationId id="{A7CCB5EC-F779-4C91-B0FE-EA2E12CECE76}"/>
              </a:ext>
            </a:extLst>
          </p:cNvPr>
          <p:cNvSpPr>
            <a:spLocks noGrp="1"/>
          </p:cNvSpPr>
          <p:nvPr/>
        </p:nvSpPr>
        <p:spPr>
          <a:xfrm>
            <a:off x="3670608" y="3959439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3类场景</a:t>
            </a:r>
          </a:p>
        </p:txBody>
      </p:sp>
      <p:sp>
        <p:nvSpPr>
          <p:cNvPr id="105" name="">
            <a:extLst>
              <a:ext uri="{FF2B5EF4-FFF2-40B4-BE49-F238E27FC236}">
                <a16:creationId id="{63667633-374D-4EED-A198-9005063DFBA4}"/>
              </a:ext>
            </a:extLst>
          </p:cNvPr>
          <p:cNvSpPr>
            <a:spLocks noGrp="1"/>
          </p:cNvSpPr>
          <p:nvPr/>
        </p:nvSpPr>
        <p:spPr>
          <a:xfrm>
            <a:off x="3670608" y="4416639"/>
            <a:ext cx="20764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形成验收与回归</a:t>
            </a:r>
          </a:p>
        </p:txBody>
      </p:sp>
      <p:sp>
        <p:nvSpPr>
          <p:cNvPr id="106" name="">
            <a:extLst>
              <a:ext uri="{FF2B5EF4-FFF2-40B4-BE49-F238E27FC236}">
                <a16:creationId id="{1EDB7389-E27A-486A-B7B7-497697CE6BE9}"/>
              </a:ext>
            </a:extLst>
          </p:cNvPr>
          <p:cNvSpPr>
            <a:spLocks noGrp="1"/>
          </p:cNvSpPr>
          <p:nvPr/>
        </p:nvSpPr>
        <p:spPr>
          <a:xfrm>
            <a:off x="6156633" y="3254589"/>
            <a:ext cx="2381250" cy="19621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7" name="">
            <a:extLst>
              <a:ext uri="{FF2B5EF4-FFF2-40B4-BE49-F238E27FC236}">
                <a16:creationId id="{FC932827-48DF-4C79-87DC-0559DEA0CF61}"/>
              </a:ext>
            </a:extLst>
          </p:cNvPr>
          <p:cNvSpPr>
            <a:spLocks noGrp="1"/>
          </p:cNvSpPr>
          <p:nvPr/>
        </p:nvSpPr>
        <p:spPr>
          <a:xfrm>
            <a:off x="6309033" y="3406989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6个项目</a:t>
            </a:r>
          </a:p>
        </p:txBody>
      </p:sp>
      <p:sp>
        <p:nvSpPr>
          <p:cNvPr id="108" name="">
            <a:extLst>
              <a:ext uri="{FF2B5EF4-FFF2-40B4-BE49-F238E27FC236}">
                <a16:creationId id="{CCDC9E4D-31A6-4330-9ACE-16E40916E119}"/>
              </a:ext>
            </a:extLst>
          </p:cNvPr>
          <p:cNvSpPr>
            <a:spLocks noGrp="1"/>
          </p:cNvSpPr>
          <p:nvPr/>
        </p:nvSpPr>
        <p:spPr>
          <a:xfrm>
            <a:off x="6309033" y="3864189"/>
            <a:ext cx="20764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复用数据与工具</a:t>
            </a:r>
          </a:p>
        </p:txBody>
      </p:sp>
      <p:sp>
        <p:nvSpPr>
          <p:cNvPr id="109" name="">
            <a:extLst>
              <a:ext uri="{FF2B5EF4-FFF2-40B4-BE49-F238E27FC236}">
                <a16:creationId id="{BE4ACDB7-6BD8-45CE-9DD9-5A692345E854}"/>
              </a:ext>
            </a:extLst>
          </p:cNvPr>
          <p:cNvSpPr>
            <a:spLocks noGrp="1"/>
          </p:cNvSpPr>
          <p:nvPr/>
        </p:nvSpPr>
        <p:spPr>
          <a:xfrm>
            <a:off x="8795058" y="2702139"/>
            <a:ext cx="2381250" cy="2514600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0" name="">
            <a:extLst>
              <a:ext uri="{FF2B5EF4-FFF2-40B4-BE49-F238E27FC236}">
                <a16:creationId id="{F0BA8A93-BF99-443D-9452-BC61163C722A}"/>
              </a:ext>
            </a:extLst>
          </p:cNvPr>
          <p:cNvSpPr>
            <a:spLocks noGrp="1"/>
          </p:cNvSpPr>
          <p:nvPr/>
        </p:nvSpPr>
        <p:spPr>
          <a:xfrm>
            <a:off x="8947458" y="2854539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12个项目</a:t>
            </a:r>
          </a:p>
        </p:txBody>
      </p:sp>
      <p:sp>
        <p:nvSpPr>
          <p:cNvPr id="111" name="">
            <a:extLst>
              <a:ext uri="{FF2B5EF4-FFF2-40B4-BE49-F238E27FC236}">
                <a16:creationId id="{26F6AEAE-7C6D-408D-89DD-795F2CC754AD}"/>
              </a:ext>
            </a:extLst>
          </p:cNvPr>
          <p:cNvSpPr>
            <a:spLocks noGrp="1"/>
          </p:cNvSpPr>
          <p:nvPr/>
        </p:nvSpPr>
        <p:spPr>
          <a:xfrm>
            <a:off x="8947458" y="3311739"/>
            <a:ext cx="20764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建立交付标准包</a:t>
            </a:r>
          </a:p>
        </p:txBody>
      </p:sp>
      <p:sp>
        <p:nvSpPr>
          <p:cNvPr id="112" name="">
            <a:extLst>
              <a:ext uri="{FF2B5EF4-FFF2-40B4-BE49-F238E27FC236}">
                <a16:creationId id="{0307C3C0-1233-478A-8AF0-7F0FD1231E5D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H22 · 增长阶梯｜演示规划数；非经营预测，新增项目须先验证客户需求与交付能力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数据、模型与部署通过反馈协同</a:t>
            </a:r>
          </a:p>
        </p:txBody>
      </p:sp>
      <p:sp>
        <p:nvSpPr>
          <p:cNvPr id="100" name="">
            <a:extLst>
              <a:ext uri="{FF2B5EF4-FFF2-40B4-BE49-F238E27FC236}">
                <a16:creationId id="{AC5BC3FC-3EC3-4C49-A3F5-393A46F39D09}"/>
              </a:ext>
            </a:extLst>
          </p:cNvPr>
          <p:cNvSpPr>
            <a:spLocks noGrp="1"/>
          </p:cNvSpPr>
          <p:nvPr/>
        </p:nvSpPr>
        <p:spPr>
          <a:xfrm>
            <a:off x="1365558" y="2121114"/>
            <a:ext cx="2381250" cy="2381250"/>
          </a:xfrm>
          <a:prstGeom prst="gear6">
            <a:avLst/>
          </a:prstGeom>
          <a:solidFill>
            <a:srgbClr val="EBEBEB"/>
          </a:solidFill>
          <a:ln w="17145">
            <a:solidFill>
              <a:srgbClr val="C7000A"/>
            </a:solidFill>
          </a:ln>
        </p:spPr>
      </p:sp>
      <p:sp>
        <p:nvSpPr>
          <p:cNvPr id="101" name="">
            <a:extLst>
              <a:ext uri="{FF2B5EF4-FFF2-40B4-BE49-F238E27FC236}">
                <a16:creationId id="{CC140E37-130C-47E6-AB2E-4D570F9440E1}"/>
              </a:ext>
            </a:extLst>
          </p:cNvPr>
          <p:cNvSpPr>
            <a:spLocks noGrp="1"/>
          </p:cNvSpPr>
          <p:nvPr/>
        </p:nvSpPr>
        <p:spPr>
          <a:xfrm>
            <a:off x="1803708" y="2911689"/>
            <a:ext cx="15049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02" name="">
            <a:extLst>
              <a:ext uri="{FF2B5EF4-FFF2-40B4-BE49-F238E27FC236}">
                <a16:creationId id="{17CE7B05-8B00-49B1-8C8F-AB1AE6C5DE95}"/>
              </a:ext>
            </a:extLst>
          </p:cNvPr>
          <p:cNvSpPr>
            <a:spLocks noGrp="1"/>
          </p:cNvSpPr>
          <p:nvPr/>
        </p:nvSpPr>
        <p:spPr>
          <a:xfrm>
            <a:off x="1022658" y="4769064"/>
            <a:ext cx="30861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失败样本→训练资产</a:t>
            </a:r>
          </a:p>
        </p:txBody>
      </p:sp>
      <p:sp>
        <p:nvSpPr>
          <p:cNvPr id="103" name="">
            <a:extLst>
              <a:ext uri="{FF2B5EF4-FFF2-40B4-BE49-F238E27FC236}">
                <a16:creationId id="{C8922A33-6EA0-4B8E-9C79-D6482C73D045}"/>
              </a:ext>
            </a:extLst>
          </p:cNvPr>
          <p:cNvSpPr>
            <a:spLocks noGrp="1"/>
          </p:cNvSpPr>
          <p:nvPr/>
        </p:nvSpPr>
        <p:spPr>
          <a:xfrm>
            <a:off x="4908858" y="2121114"/>
            <a:ext cx="2381250" cy="2381250"/>
          </a:xfrm>
          <a:prstGeom prst="gear6">
            <a:avLst/>
          </a:prstGeom>
          <a:solidFill>
            <a:srgbClr val="EBEBEB"/>
          </a:solidFill>
          <a:ln w="17145">
            <a:solidFill>
              <a:srgbClr val="C7000A"/>
            </a:solidFill>
          </a:ln>
        </p:spPr>
      </p:sp>
      <p:sp>
        <p:nvSpPr>
          <p:cNvPr id="104" name="">
            <a:extLst>
              <a:ext uri="{FF2B5EF4-FFF2-40B4-BE49-F238E27FC236}">
                <a16:creationId id="{4D331BC2-37DB-4A8E-B13E-176E64D87A94}"/>
              </a:ext>
            </a:extLst>
          </p:cNvPr>
          <p:cNvSpPr>
            <a:spLocks noGrp="1"/>
          </p:cNvSpPr>
          <p:nvPr/>
        </p:nvSpPr>
        <p:spPr>
          <a:xfrm>
            <a:off x="5347008" y="2911689"/>
            <a:ext cx="15049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105" name="">
            <a:extLst>
              <a:ext uri="{FF2B5EF4-FFF2-40B4-BE49-F238E27FC236}">
                <a16:creationId id="{3EB35A5C-329D-4E2F-AD5F-4E65E98C6159}"/>
              </a:ext>
            </a:extLst>
          </p:cNvPr>
          <p:cNvSpPr>
            <a:spLocks noGrp="1"/>
          </p:cNvSpPr>
          <p:nvPr/>
        </p:nvSpPr>
        <p:spPr>
          <a:xfrm>
            <a:off x="4565958" y="4769064"/>
            <a:ext cx="30861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配方迭代→策略版本</a:t>
            </a:r>
          </a:p>
        </p:txBody>
      </p:sp>
      <p:sp>
        <p:nvSpPr>
          <p:cNvPr id="106" name="">
            <a:extLst>
              <a:ext uri="{FF2B5EF4-FFF2-40B4-BE49-F238E27FC236}">
                <a16:creationId id="{55C8EC2A-4ACF-4404-A1B1-0AF9E23432F7}"/>
              </a:ext>
            </a:extLst>
          </p:cNvPr>
          <p:cNvSpPr>
            <a:spLocks noGrp="1"/>
          </p:cNvSpPr>
          <p:nvPr/>
        </p:nvSpPr>
        <p:spPr>
          <a:xfrm>
            <a:off x="8452158" y="2121114"/>
            <a:ext cx="2381250" cy="2381250"/>
          </a:xfrm>
          <a:prstGeom prst="gear6">
            <a:avLst/>
          </a:prstGeom>
          <a:solidFill>
            <a:srgbClr val="EBEBEB"/>
          </a:solidFill>
          <a:ln w="17145">
            <a:solidFill>
              <a:srgbClr val="C7000A"/>
            </a:solidFill>
          </a:ln>
        </p:spPr>
      </p:sp>
      <p:sp>
        <p:nvSpPr>
          <p:cNvPr id="107" name="">
            <a:extLst>
              <a:ext uri="{FF2B5EF4-FFF2-40B4-BE49-F238E27FC236}">
                <a16:creationId id="{90355CE2-6E3E-4D91-87F8-AA38AF0F5725}"/>
              </a:ext>
            </a:extLst>
          </p:cNvPr>
          <p:cNvSpPr>
            <a:spLocks noGrp="1"/>
          </p:cNvSpPr>
          <p:nvPr/>
        </p:nvSpPr>
        <p:spPr>
          <a:xfrm>
            <a:off x="8890308" y="2911689"/>
            <a:ext cx="15049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部署</a:t>
            </a:r>
          </a:p>
        </p:txBody>
      </p:sp>
      <p:sp>
        <p:nvSpPr>
          <p:cNvPr id="108" name="">
            <a:extLst>
              <a:ext uri="{FF2B5EF4-FFF2-40B4-BE49-F238E27FC236}">
                <a16:creationId id="{15C1D528-1714-4470-A381-1A3A115F1168}"/>
              </a:ext>
            </a:extLst>
          </p:cNvPr>
          <p:cNvSpPr>
            <a:spLocks noGrp="1"/>
          </p:cNvSpPr>
          <p:nvPr/>
        </p:nvSpPr>
        <p:spPr>
          <a:xfrm>
            <a:off x="8109258" y="4769064"/>
            <a:ext cx="30861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运行问题→回归用例</a:t>
            </a:r>
          </a:p>
        </p:txBody>
      </p:sp>
      <p:sp>
        <p:nvSpPr>
          <p:cNvPr id="109" name="">
            <a:extLst>
              <a:ext uri="{FF2B5EF4-FFF2-40B4-BE49-F238E27FC236}">
                <a16:creationId id="{C33C71AF-80B3-4BDF-BB82-5D3F92F5BEB5}"/>
              </a:ext>
            </a:extLst>
          </p:cNvPr>
          <p:cNvSpPr>
            <a:spLocks noGrp="1"/>
          </p:cNvSpPr>
          <p:nvPr/>
        </p:nvSpPr>
        <p:spPr>
          <a:xfrm>
            <a:off x="3803958" y="3216489"/>
            <a:ext cx="628650" cy="190500"/>
          </a:xfrm>
          <a:prstGeom prst="right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0" name="">
            <a:extLst>
              <a:ext uri="{FF2B5EF4-FFF2-40B4-BE49-F238E27FC236}">
                <a16:creationId id="{CC75F3C2-4F29-47CE-98E5-44E13C8D140B}"/>
              </a:ext>
            </a:extLst>
          </p:cNvPr>
          <p:cNvSpPr>
            <a:spLocks noGrp="1"/>
          </p:cNvSpPr>
          <p:nvPr/>
        </p:nvSpPr>
        <p:spPr>
          <a:xfrm>
            <a:off x="7347258" y="3216489"/>
            <a:ext cx="628650" cy="190500"/>
          </a:xfrm>
          <a:prstGeom prst="right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1" name="">
            <a:extLst>
              <a:ext uri="{FF2B5EF4-FFF2-40B4-BE49-F238E27FC236}">
                <a16:creationId id="{8B47E995-7B22-4341-85CB-5D4944F5E57F}"/>
              </a:ext>
            </a:extLst>
          </p:cNvPr>
          <p:cNvSpPr>
            <a:spLocks noGrp="1"/>
          </p:cNvSpPr>
          <p:nvPr/>
        </p:nvSpPr>
        <p:spPr>
          <a:xfrm>
            <a:off x="2384733" y="5264364"/>
            <a:ext cx="7229475" cy="0"/>
          </a:xfrm>
          <a:prstGeom prst="line">
            <a:avLst/>
          </a:prstGeom>
          <a:noFill/>
          <a:ln w="19050">
            <a:solidFill>
              <a:srgbClr val="C7000A"/>
            </a:solidFill>
          </a:ln>
        </p:spPr>
      </p:sp>
      <p:sp>
        <p:nvSpPr>
          <p:cNvPr id="112" name="">
            <a:extLst>
              <a:ext uri="{FF2B5EF4-FFF2-40B4-BE49-F238E27FC236}">
                <a16:creationId id="{7C65104D-3215-4897-B4CA-25A0C0DBC4FF}"/>
              </a:ext>
            </a:extLst>
          </p:cNvPr>
          <p:cNvSpPr>
            <a:spLocks noGrp="1"/>
          </p:cNvSpPr>
          <p:nvPr/>
        </p:nvSpPr>
        <p:spPr>
          <a:xfrm>
            <a:off x="2289483" y="5197689"/>
            <a:ext cx="285750" cy="133350"/>
          </a:xfrm>
          <a:prstGeom prst="left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3" name="">
            <a:extLst>
              <a:ext uri="{FF2B5EF4-FFF2-40B4-BE49-F238E27FC236}">
                <a16:creationId id="{2A925DDB-E543-4F82-9078-2160D7A7F0D3}"/>
              </a:ext>
            </a:extLst>
          </p:cNvPr>
          <p:cNvSpPr>
            <a:spLocks noGrp="1"/>
          </p:cNvSpPr>
          <p:nvPr/>
        </p:nvSpPr>
        <p:spPr>
          <a:xfrm>
            <a:off x="3442008" y="5302464"/>
            <a:ext cx="6477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共享条件：样本授权、实验标识、质量阈值、可复现记录</a:t>
            </a:r>
          </a:p>
        </p:txBody>
      </p:sp>
      <p:sp>
        <p:nvSpPr>
          <p:cNvPr id="114" name="">
            <a:extLst>
              <a:ext uri="{FF2B5EF4-FFF2-40B4-BE49-F238E27FC236}">
                <a16:creationId id="{5E88D92C-A442-41DE-B84C-8B9448191F10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H23 · 齿轮协同｜原创分析示例；未对应真实项目承诺或平台实测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关键节点同时记录产出与退出条件</a:t>
            </a:r>
          </a:p>
        </p:txBody>
      </p:sp>
      <p:sp>
        <p:nvSpPr>
          <p:cNvPr id="100" name="">
            <a:extLst>
              <a:ext uri="{FF2B5EF4-FFF2-40B4-BE49-F238E27FC236}">
                <a16:creationId id="{2308AAB5-D8F6-4B38-A543-6C903B2F5A3B}"/>
              </a:ext>
            </a:extLst>
          </p:cNvPr>
          <p:cNvSpPr>
            <a:spLocks noGrp="1"/>
          </p:cNvSpPr>
          <p:nvPr/>
        </p:nvSpPr>
        <p:spPr>
          <a:xfrm>
            <a:off x="908358" y="3359364"/>
            <a:ext cx="10390657" cy="428625"/>
          </a:xfrm>
          <a:prstGeom prst="right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1" name="">
            <a:extLst>
              <a:ext uri="{FF2B5EF4-FFF2-40B4-BE49-F238E27FC236}">
                <a16:creationId id="{5F19FFF3-49E1-4770-95B2-6711E77C4F13}"/>
              </a:ext>
            </a:extLst>
          </p:cNvPr>
          <p:cNvSpPr>
            <a:spLocks noGrp="1"/>
          </p:cNvSpPr>
          <p:nvPr/>
        </p:nvSpPr>
        <p:spPr>
          <a:xfrm>
            <a:off x="736908" y="1549614"/>
            <a:ext cx="24479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任务定义</a:t>
            </a:r>
          </a:p>
        </p:txBody>
      </p:sp>
      <p:sp>
        <p:nvSpPr>
          <p:cNvPr id="102" name="">
            <a:extLst>
              <a:ext uri="{FF2B5EF4-FFF2-40B4-BE49-F238E27FC236}">
                <a16:creationId id="{30219EC4-F9B1-4CE6-B019-4B9B730EC9B9}"/>
              </a:ext>
            </a:extLst>
          </p:cNvPr>
          <p:cNvSpPr>
            <a:spLocks noGrp="1"/>
          </p:cNvSpPr>
          <p:nvPr/>
        </p:nvSpPr>
        <p:spPr>
          <a:xfrm>
            <a:off x="736908" y="1959189"/>
            <a:ext cx="24479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任务边界与质量阈值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产出：验收规格</a:t>
            </a:r>
          </a:p>
        </p:txBody>
      </p:sp>
      <p:sp>
        <p:nvSpPr>
          <p:cNvPr id="103" name="">
            <a:extLst>
              <a:ext uri="{FF2B5EF4-FFF2-40B4-BE49-F238E27FC236}">
                <a16:creationId id="{CDC60655-07BC-4DC2-BFD0-C03293FEDABD}"/>
              </a:ext>
            </a:extLst>
          </p:cNvPr>
          <p:cNvSpPr>
            <a:spLocks noGrp="1"/>
          </p:cNvSpPr>
          <p:nvPr/>
        </p:nvSpPr>
        <p:spPr>
          <a:xfrm>
            <a:off x="1784658" y="2911689"/>
            <a:ext cx="0" cy="447675"/>
          </a:xfrm>
          <a:prstGeom prst="line">
            <a:avLst/>
          </a:prstGeom>
          <a:noFill/>
          <a:ln w="14288">
            <a:solidFill>
              <a:srgbClr val="C7000A"/>
            </a:solidFill>
          </a:ln>
        </p:spPr>
      </p:sp>
      <p:sp>
        <p:nvSpPr>
          <p:cNvPr id="104" name="">
            <a:extLst>
              <a:ext uri="{FF2B5EF4-FFF2-40B4-BE49-F238E27FC236}">
                <a16:creationId id="{4714C96F-9C54-4DD5-B063-7B4B6F1B4939}"/>
              </a:ext>
            </a:extLst>
          </p:cNvPr>
          <p:cNvSpPr>
            <a:spLocks noGrp="1"/>
          </p:cNvSpPr>
          <p:nvPr/>
        </p:nvSpPr>
        <p:spPr>
          <a:xfrm>
            <a:off x="3461058" y="4130889"/>
            <a:ext cx="24479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数据就绪</a:t>
            </a:r>
          </a:p>
        </p:txBody>
      </p:sp>
      <p:sp>
        <p:nvSpPr>
          <p:cNvPr id="105" name="">
            <a:extLst>
              <a:ext uri="{FF2B5EF4-FFF2-40B4-BE49-F238E27FC236}">
                <a16:creationId id="{9D527E52-56C7-4884-88AA-82458F97399B}"/>
              </a:ext>
            </a:extLst>
          </p:cNvPr>
          <p:cNvSpPr>
            <a:spLocks noGrp="1"/>
          </p:cNvSpPr>
          <p:nvPr/>
        </p:nvSpPr>
        <p:spPr>
          <a:xfrm>
            <a:off x="3461058" y="4540464"/>
            <a:ext cx="24479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授权、覆盖、同步与质检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产出：数据清单</a:t>
            </a:r>
          </a:p>
        </p:txBody>
      </p:sp>
      <p:sp>
        <p:nvSpPr>
          <p:cNvPr id="106" name="">
            <a:extLst>
              <a:ext uri="{FF2B5EF4-FFF2-40B4-BE49-F238E27FC236}">
                <a16:creationId id="{22D09F78-0B67-4E95-936C-316B258AC424}"/>
              </a:ext>
            </a:extLst>
          </p:cNvPr>
          <p:cNvSpPr>
            <a:spLocks noGrp="1"/>
          </p:cNvSpPr>
          <p:nvPr/>
        </p:nvSpPr>
        <p:spPr>
          <a:xfrm>
            <a:off x="4508808" y="3797514"/>
            <a:ext cx="0" cy="295275"/>
          </a:xfrm>
          <a:prstGeom prst="line">
            <a:avLst/>
          </a:prstGeom>
          <a:noFill/>
          <a:ln w="14288">
            <a:solidFill>
              <a:srgbClr val="C7000A"/>
            </a:solidFill>
          </a:ln>
        </p:spPr>
      </p:sp>
      <p:sp>
        <p:nvSpPr>
          <p:cNvPr id="107" name="">
            <a:extLst>
              <a:ext uri="{FF2B5EF4-FFF2-40B4-BE49-F238E27FC236}">
                <a16:creationId id="{8F43030F-F354-43DF-9222-2086F4802336}"/>
              </a:ext>
            </a:extLst>
          </p:cNvPr>
          <p:cNvSpPr>
            <a:spLocks noGrp="1"/>
          </p:cNvSpPr>
          <p:nvPr/>
        </p:nvSpPr>
        <p:spPr>
          <a:xfrm>
            <a:off x="6185208" y="1549614"/>
            <a:ext cx="24479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基线冻结</a:t>
            </a:r>
          </a:p>
        </p:txBody>
      </p:sp>
      <p:sp>
        <p:nvSpPr>
          <p:cNvPr id="108" name="">
            <a:extLst>
              <a:ext uri="{FF2B5EF4-FFF2-40B4-BE49-F238E27FC236}">
                <a16:creationId id="{F6217495-748D-4499-BBF1-5DD5F6ACFD8E}"/>
              </a:ext>
            </a:extLst>
          </p:cNvPr>
          <p:cNvSpPr>
            <a:spLocks noGrp="1"/>
          </p:cNvSpPr>
          <p:nvPr/>
        </p:nvSpPr>
        <p:spPr>
          <a:xfrm>
            <a:off x="6185208" y="1959189"/>
            <a:ext cx="24479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固定模型、配方与环境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产出：复现记录</a:t>
            </a:r>
          </a:p>
        </p:txBody>
      </p:sp>
      <p:sp>
        <p:nvSpPr>
          <p:cNvPr id="109" name="">
            <a:extLst>
              <a:ext uri="{FF2B5EF4-FFF2-40B4-BE49-F238E27FC236}">
                <a16:creationId id="{454C988C-997C-4E76-BC0B-D4243E5BA050}"/>
              </a:ext>
            </a:extLst>
          </p:cNvPr>
          <p:cNvSpPr>
            <a:spLocks noGrp="1"/>
          </p:cNvSpPr>
          <p:nvPr/>
        </p:nvSpPr>
        <p:spPr>
          <a:xfrm>
            <a:off x="7232958" y="2911689"/>
            <a:ext cx="0" cy="447675"/>
          </a:xfrm>
          <a:prstGeom prst="line">
            <a:avLst/>
          </a:prstGeom>
          <a:noFill/>
          <a:ln w="14288">
            <a:solidFill>
              <a:srgbClr val="C7000A"/>
            </a:solidFill>
          </a:ln>
        </p:spPr>
      </p:sp>
      <p:sp>
        <p:nvSpPr>
          <p:cNvPr id="110" name="">
            <a:extLst>
              <a:ext uri="{FF2B5EF4-FFF2-40B4-BE49-F238E27FC236}">
                <a16:creationId id="{366B233A-2A54-4506-9FB7-F09313F37087}"/>
              </a:ext>
            </a:extLst>
          </p:cNvPr>
          <p:cNvSpPr>
            <a:spLocks noGrp="1"/>
          </p:cNvSpPr>
          <p:nvPr/>
        </p:nvSpPr>
        <p:spPr>
          <a:xfrm>
            <a:off x="8909358" y="4130889"/>
            <a:ext cx="24479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交付验收</a:t>
            </a:r>
          </a:p>
        </p:txBody>
      </p:sp>
      <p:sp>
        <p:nvSpPr>
          <p:cNvPr id="111" name="">
            <a:extLst>
              <a:ext uri="{FF2B5EF4-FFF2-40B4-BE49-F238E27FC236}">
                <a16:creationId id="{A5197EC3-CE26-4EFE-A746-9061080F2B4D}"/>
              </a:ext>
            </a:extLst>
          </p:cNvPr>
          <p:cNvSpPr>
            <a:spLocks noGrp="1"/>
          </p:cNvSpPr>
          <p:nvPr/>
        </p:nvSpPr>
        <p:spPr>
          <a:xfrm>
            <a:off x="8909358" y="4540464"/>
            <a:ext cx="24479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回归、回滚与已知限制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产出：交付包</a:t>
            </a:r>
          </a:p>
        </p:txBody>
      </p:sp>
      <p:sp>
        <p:nvSpPr>
          <p:cNvPr id="112" name="">
            <a:extLst>
              <a:ext uri="{FF2B5EF4-FFF2-40B4-BE49-F238E27FC236}">
                <a16:creationId id="{02BE41E3-26A3-4888-A0FF-08817A0EAAA2}"/>
              </a:ext>
            </a:extLst>
          </p:cNvPr>
          <p:cNvSpPr>
            <a:spLocks noGrp="1"/>
          </p:cNvSpPr>
          <p:nvPr/>
        </p:nvSpPr>
        <p:spPr>
          <a:xfrm>
            <a:off x="9957108" y="3797514"/>
            <a:ext cx="0" cy="295275"/>
          </a:xfrm>
          <a:prstGeom prst="line">
            <a:avLst/>
          </a:prstGeom>
          <a:noFill/>
          <a:ln w="14288">
            <a:solidFill>
              <a:srgbClr val="C7000A"/>
            </a:solidFill>
          </a:ln>
        </p:spPr>
      </p:sp>
      <p:sp>
        <p:nvSpPr>
          <p:cNvPr id="113" name="">
            <a:extLst>
              <a:ext uri="{FF2B5EF4-FFF2-40B4-BE49-F238E27FC236}">
                <a16:creationId id="{7CE3DFCB-6B73-46DF-B90B-798ADB15559C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H24 · 箭头时间线｜建议推进路径；以完成条件推进，不预设合同或已承诺日期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从现场失败样本寻找优化入口</a:t>
            </a:r>
          </a:p>
        </p:txBody>
      </p:sp>
      <p:pic>
        <p:nvPicPr>
          <p:cNvPr id="100" name=""/>
          <p:cNvPicPr>
            <a:picLocks noChangeAspect="1"/>
          </p:cNvPicPr>
          <p:nvPr/>
        </p:nvPicPr>
        <p:blipFill>
          <a:blip r:embed="lexRcce4550c08c24e01"/>
          <a:srcRect l="75000" t="79419" r="0" b="4419"/>
          <a:stretch>
            <a:fillRect l="0" t="0" r="0" b="0"/>
          </a:stretch>
        </p:blipFill>
        <p:spPr>
          <a:xfrm>
            <a:off x="736908" y="1549614"/>
            <a:ext cx="10733557" cy="3905250"/>
          </a:xfrm>
          <a:prstGeom prst="rect">
            <a:avLst/>
          </a:prstGeom>
        </p:spPr>
      </p:pic>
      <p:sp>
        <p:nvSpPr>
          <p:cNvPr id="101" name="">
            <a:extLst>
              <a:ext uri="{FF2B5EF4-FFF2-40B4-BE49-F238E27FC236}">
                <a16:creationId id="{9218FE03-5899-4041-8168-9D5539202DD0}"/>
              </a:ext>
            </a:extLst>
          </p:cNvPr>
          <p:cNvSpPr>
            <a:spLocks noGrp="1"/>
          </p:cNvSpPr>
          <p:nvPr/>
        </p:nvSpPr>
        <p:spPr>
          <a:xfrm>
            <a:off x="736908" y="3626064"/>
            <a:ext cx="5334000" cy="1828800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2" name="">
            <a:extLst>
              <a:ext uri="{FF2B5EF4-FFF2-40B4-BE49-F238E27FC236}">
                <a16:creationId id="{A874F704-2A98-4958-A15E-2D889A35A76D}"/>
              </a:ext>
            </a:extLst>
          </p:cNvPr>
          <p:cNvSpPr>
            <a:spLocks noGrp="1"/>
          </p:cNvSpPr>
          <p:nvPr/>
        </p:nvSpPr>
        <p:spPr>
          <a:xfrm>
            <a:off x="965508" y="3864189"/>
            <a:ext cx="49149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一次成功，还不足以交付</a:t>
            </a:r>
          </a:p>
        </p:txBody>
      </p:sp>
      <p:sp>
        <p:nvSpPr>
          <p:cNvPr id="103" name="">
            <a:extLst>
              <a:ext uri="{FF2B5EF4-FFF2-40B4-BE49-F238E27FC236}">
                <a16:creationId id="{F492930C-AA94-4393-B914-602C979F6F6B}"/>
              </a:ext>
            </a:extLst>
          </p:cNvPr>
          <p:cNvSpPr>
            <a:spLocks noGrp="1"/>
          </p:cNvSpPr>
          <p:nvPr/>
        </p:nvSpPr>
        <p:spPr>
          <a:xfrm>
            <a:off x="965508" y="4407114"/>
            <a:ext cx="4914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要记录失败发生的条件，</a:t>
            </a:r>
          </a:p>
          <a:p>
            <a: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并验证同类问题能否稳定恢复。</a:t>
            </a:r>
          </a:p>
        </p:txBody>
      </p:sp>
      <p:sp>
        <p:nvSpPr>
          <p:cNvPr id="104" name="">
            <a:extLst>
              <a:ext uri="{FF2B5EF4-FFF2-40B4-BE49-F238E27FC236}">
                <a16:creationId id="{DCF2A8CE-FB17-469D-9A73-1FAAF0539ABA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H25 · 现场引语｜AI场景示意；文字为原创情景表达，不是真实客户引语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交付价值取决于数据基础与系统能力</a:t>
            </a:r>
          </a:p>
        </p:txBody>
      </p:sp>
      <p:sp>
        <p:nvSpPr>
          <p:cNvPr id="100" name="">
            <a:extLst>
              <a:ext uri="{FF2B5EF4-FFF2-40B4-BE49-F238E27FC236}">
                <a16:creationId id="{E00D7B9B-A93F-4564-B8D4-FB058F6D418D}"/>
              </a:ext>
            </a:extLst>
          </p:cNvPr>
          <p:cNvSpPr>
            <a:spLocks noGrp="1"/>
          </p:cNvSpPr>
          <p:nvPr/>
        </p:nvSpPr>
        <p:spPr>
          <a:xfrm>
            <a:off x="736908" y="1540089"/>
            <a:ext cx="48101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薄基础：模型演示先行</a:t>
            </a:r>
          </a:p>
        </p:txBody>
      </p:sp>
      <p:sp>
        <p:nvSpPr>
          <p:cNvPr id="101" name="">
            <a:extLst>
              <a:ext uri="{FF2B5EF4-FFF2-40B4-BE49-F238E27FC236}">
                <a16:creationId id="{86533274-AFF9-4BCA-9B73-D31A8415E642}"/>
              </a:ext>
            </a:extLst>
          </p:cNvPr>
          <p:cNvSpPr>
            <a:spLocks noGrp="1"/>
          </p:cNvSpPr>
          <p:nvPr/>
        </p:nvSpPr>
        <p:spPr>
          <a:xfrm>
            <a:off x="736908" y="1949664"/>
            <a:ext cx="4810125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数据边界不清、测试条件变化，增加模型能力后，仍难解释现场表现。</a:t>
            </a:r>
          </a:p>
        </p:txBody>
      </p:sp>
      <p:sp>
        <p:nvSpPr>
          <p:cNvPr id="102" name="">
            <a:extLst>
              <a:ext uri="{FF2B5EF4-FFF2-40B4-BE49-F238E27FC236}">
                <a16:creationId id="{6780F279-A3EC-4F8D-BF96-CB8AF7A4C1EC}"/>
              </a:ext>
            </a:extLst>
          </p:cNvPr>
          <p:cNvSpPr>
            <a:spLocks noGrp="1"/>
          </p:cNvSpPr>
          <p:nvPr/>
        </p:nvSpPr>
        <p:spPr>
          <a:xfrm>
            <a:off x="6642408" y="1540089"/>
            <a:ext cx="48101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厚基础：数据与验证先行</a:t>
            </a:r>
          </a:p>
        </p:txBody>
      </p:sp>
      <p:sp>
        <p:nvSpPr>
          <p:cNvPr id="103" name="">
            <a:extLst>
              <a:ext uri="{FF2B5EF4-FFF2-40B4-BE49-F238E27FC236}">
                <a16:creationId id="{9F301A7E-069A-4D8F-8F2D-9AE04D00AE8E}"/>
              </a:ext>
            </a:extLst>
          </p:cNvPr>
          <p:cNvSpPr>
            <a:spLocks noGrp="1"/>
          </p:cNvSpPr>
          <p:nvPr/>
        </p:nvSpPr>
        <p:spPr>
          <a:xfrm>
            <a:off x="6642408" y="1949664"/>
            <a:ext cx="4810125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固化样本来源、任务集和基线，模型迭代的收益才能被记录和复用。</a:t>
            </a:r>
          </a:p>
        </p:txBody>
      </p:sp>
      <p:sp>
        <p:nvSpPr>
          <p:cNvPr id="104" name="">
            <a:extLst>
              <a:ext uri="{FF2B5EF4-FFF2-40B4-BE49-F238E27FC236}">
                <a16:creationId id="{2DE6E028-C1E6-4E04-8D0D-E67CC8C975F9}"/>
              </a:ext>
            </a:extLst>
          </p:cNvPr>
          <p:cNvSpPr>
            <a:spLocks noGrp="1"/>
          </p:cNvSpPr>
          <p:nvPr/>
        </p:nvSpPr>
        <p:spPr>
          <a:xfrm>
            <a:off x="1879908" y="2787864"/>
            <a:ext cx="2667000" cy="600075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5" name="">
            <a:extLst>
              <a:ext uri="{FF2B5EF4-FFF2-40B4-BE49-F238E27FC236}">
                <a16:creationId id="{261FA64A-C778-40F5-BE50-B9A8F53611BC}"/>
              </a:ext>
            </a:extLst>
          </p:cNvPr>
          <p:cNvSpPr>
            <a:spLocks noGrp="1"/>
          </p:cNvSpPr>
          <p:nvPr/>
        </p:nvSpPr>
        <p:spPr>
          <a:xfrm>
            <a:off x="1975158" y="2940264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场景结果</a:t>
            </a:r>
          </a:p>
        </p:txBody>
      </p:sp>
      <p:sp>
        <p:nvSpPr>
          <p:cNvPr id="106" name="">
            <a:extLst>
              <a:ext uri="{FF2B5EF4-FFF2-40B4-BE49-F238E27FC236}">
                <a16:creationId id="{C7AFB1D5-E71C-4F29-AAC4-54EEC4ACDF24}"/>
              </a:ext>
            </a:extLst>
          </p:cNvPr>
          <p:cNvSpPr>
            <a:spLocks noGrp="1"/>
          </p:cNvSpPr>
          <p:nvPr/>
        </p:nvSpPr>
        <p:spPr>
          <a:xfrm>
            <a:off x="1498908" y="3607014"/>
            <a:ext cx="3429000" cy="600075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7" name="">
            <a:extLst>
              <a:ext uri="{FF2B5EF4-FFF2-40B4-BE49-F238E27FC236}">
                <a16:creationId id="{3D0BFA1A-F5D8-48B5-B9A9-7327C4F989E1}"/>
              </a:ext>
            </a:extLst>
          </p:cNvPr>
          <p:cNvSpPr>
            <a:spLocks noGrp="1"/>
          </p:cNvSpPr>
          <p:nvPr/>
        </p:nvSpPr>
        <p:spPr>
          <a:xfrm>
            <a:off x="1594158" y="3759414"/>
            <a:ext cx="3238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模型与策略</a:t>
            </a:r>
          </a:p>
        </p:txBody>
      </p:sp>
      <p:sp>
        <p:nvSpPr>
          <p:cNvPr id="108" name="">
            <a:extLst>
              <a:ext uri="{FF2B5EF4-FFF2-40B4-BE49-F238E27FC236}">
                <a16:creationId id="{ACCD15E7-6406-41DB-A747-6105F53B8D0A}"/>
              </a:ext>
            </a:extLst>
          </p:cNvPr>
          <p:cNvSpPr>
            <a:spLocks noGrp="1"/>
          </p:cNvSpPr>
          <p:nvPr/>
        </p:nvSpPr>
        <p:spPr>
          <a:xfrm>
            <a:off x="2070408" y="4426164"/>
            <a:ext cx="2286000" cy="600075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9" name="">
            <a:extLst>
              <a:ext uri="{FF2B5EF4-FFF2-40B4-BE49-F238E27FC236}">
                <a16:creationId id="{24C75A08-291F-40F7-90CD-DFE9B3201C9B}"/>
              </a:ext>
            </a:extLst>
          </p:cNvPr>
          <p:cNvSpPr>
            <a:spLocks noGrp="1"/>
          </p:cNvSpPr>
          <p:nvPr/>
        </p:nvSpPr>
        <p:spPr>
          <a:xfrm>
            <a:off x="2165658" y="4578564"/>
            <a:ext cx="2095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数据与验证</a:t>
            </a:r>
          </a:p>
        </p:txBody>
      </p:sp>
      <p:sp>
        <p:nvSpPr>
          <p:cNvPr id="110" name="">
            <a:extLst>
              <a:ext uri="{FF2B5EF4-FFF2-40B4-BE49-F238E27FC236}">
                <a16:creationId id="{9A1435F6-D273-43E2-A0D9-6668872849F1}"/>
              </a:ext>
            </a:extLst>
          </p:cNvPr>
          <p:cNvSpPr>
            <a:spLocks noGrp="1"/>
          </p:cNvSpPr>
          <p:nvPr/>
        </p:nvSpPr>
        <p:spPr>
          <a:xfrm>
            <a:off x="7994958" y="2787864"/>
            <a:ext cx="2476500" cy="600075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1" name="">
            <a:extLst>
              <a:ext uri="{FF2B5EF4-FFF2-40B4-BE49-F238E27FC236}">
                <a16:creationId id="{9166E461-F682-4AFC-B219-AFDB44A74933}"/>
              </a:ext>
            </a:extLst>
          </p:cNvPr>
          <p:cNvSpPr>
            <a:spLocks noGrp="1"/>
          </p:cNvSpPr>
          <p:nvPr/>
        </p:nvSpPr>
        <p:spPr>
          <a:xfrm>
            <a:off x="8090208" y="2940264"/>
            <a:ext cx="2286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场景结果</a:t>
            </a:r>
          </a:p>
        </p:txBody>
      </p:sp>
      <p:sp>
        <p:nvSpPr>
          <p:cNvPr id="112" name="">
            <a:extLst>
              <a:ext uri="{FF2B5EF4-FFF2-40B4-BE49-F238E27FC236}">
                <a16:creationId id="{05954DA4-9097-485C-AB5B-7DC53451FA09}"/>
              </a:ext>
            </a:extLst>
          </p:cNvPr>
          <p:cNvSpPr>
            <a:spLocks noGrp="1"/>
          </p:cNvSpPr>
          <p:nvPr/>
        </p:nvSpPr>
        <p:spPr>
          <a:xfrm>
            <a:off x="7461558" y="3607014"/>
            <a:ext cx="3543300" cy="600075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3" name="">
            <a:extLst>
              <a:ext uri="{FF2B5EF4-FFF2-40B4-BE49-F238E27FC236}">
                <a16:creationId id="{87688323-AE96-4313-BE5E-0416D9220FB0}"/>
              </a:ext>
            </a:extLst>
          </p:cNvPr>
          <p:cNvSpPr>
            <a:spLocks noGrp="1"/>
          </p:cNvSpPr>
          <p:nvPr/>
        </p:nvSpPr>
        <p:spPr>
          <a:xfrm>
            <a:off x="7556808" y="3759414"/>
            <a:ext cx="3352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模型与策略</a:t>
            </a:r>
          </a:p>
        </p:txBody>
      </p:sp>
      <p:sp>
        <p:nvSpPr>
          <p:cNvPr id="114" name="">
            <a:extLst>
              <a:ext uri="{FF2B5EF4-FFF2-40B4-BE49-F238E27FC236}">
                <a16:creationId id="{9149520D-9A25-4488-B5D1-55EB22585548}"/>
              </a:ext>
            </a:extLst>
          </p:cNvPr>
          <p:cNvSpPr>
            <a:spLocks noGrp="1"/>
          </p:cNvSpPr>
          <p:nvPr/>
        </p:nvSpPr>
        <p:spPr>
          <a:xfrm>
            <a:off x="6737658" y="4426164"/>
            <a:ext cx="4732807" cy="60007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5" name="">
            <a:extLst>
              <a:ext uri="{FF2B5EF4-FFF2-40B4-BE49-F238E27FC236}">
                <a16:creationId id="{7F0B975B-779C-4E35-8FB1-D508F9C22386}"/>
              </a:ext>
            </a:extLst>
          </p:cNvPr>
          <p:cNvSpPr>
            <a:spLocks noGrp="1"/>
          </p:cNvSpPr>
          <p:nvPr/>
        </p:nvSpPr>
        <p:spPr>
          <a:xfrm>
            <a:off x="6832908" y="4578564"/>
            <a:ext cx="4542307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数据与验证</a:t>
            </a:r>
          </a:p>
        </p:txBody>
      </p:sp>
      <p:sp>
        <p:nvSpPr>
          <p:cNvPr id="116" name="">
            <a:extLst>
              <a:ext uri="{FF2B5EF4-FFF2-40B4-BE49-F238E27FC236}">
                <a16:creationId id="{8FDB358B-8BD6-4AFD-8C74-9C12199D0DD4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H26 · 战略隐喻对比｜结构隐喻：基础宽度表达依赖关系，不表示资源或性能数值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试点先解决数据、复现和现场三类问题</a:t>
            </a:r>
          </a:p>
        </p:txBody>
      </p:sp>
      <p:sp>
        <p:nvSpPr>
          <p:cNvPr id="100" name="">
            <a:extLst>
              <a:ext uri="{FF2B5EF4-FFF2-40B4-BE49-F238E27FC236}">
                <a16:creationId id="{9A77D5FB-EBEE-4DD9-B928-80E308E7E7D4}"/>
              </a:ext>
            </a:extLst>
          </p:cNvPr>
          <p:cNvSpPr>
            <a:spLocks noGrp="1"/>
          </p:cNvSpPr>
          <p:nvPr/>
        </p:nvSpPr>
        <p:spPr>
          <a:xfrm>
            <a:off x="736908" y="1540089"/>
            <a:ext cx="3412752" cy="3857625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</p:sp>
      <p:sp>
        <p:nvSpPr>
          <p:cNvPr id="101" name="">
            <a:extLst>
              <a:ext uri="{FF2B5EF4-FFF2-40B4-BE49-F238E27FC236}">
                <a16:creationId id="{DC0DB940-3B0A-4005-925A-D6F9C2F653DF}"/>
              </a:ext>
            </a:extLst>
          </p:cNvPr>
          <p:cNvSpPr>
            <a:spLocks noGrp="1"/>
          </p:cNvSpPr>
          <p:nvPr/>
        </p:nvSpPr>
        <p:spPr>
          <a:xfrm>
            <a:off x="736908" y="1540089"/>
            <a:ext cx="38100" cy="385762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2" name="">
            <a:extLst>
              <a:ext uri="{FF2B5EF4-FFF2-40B4-BE49-F238E27FC236}">
                <a16:creationId id="{9207CB33-6043-486A-ABC5-2F1AC29A83A8}"/>
              </a:ext>
            </a:extLst>
          </p:cNvPr>
          <p:cNvSpPr>
            <a:spLocks noGrp="1"/>
          </p:cNvSpPr>
          <p:nvPr/>
        </p:nvSpPr>
        <p:spPr>
          <a:xfrm>
            <a:off x="927408" y="1721064"/>
            <a:ext cx="303175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问题一｜数据不可追溯</a:t>
            </a:r>
          </a:p>
        </p:txBody>
      </p:sp>
      <p:sp>
        <p:nvSpPr>
          <p:cNvPr id="103" name="">
            <a:extLst>
              <a:ext uri="{FF2B5EF4-FFF2-40B4-BE49-F238E27FC236}">
                <a16:creationId id="{89081752-C626-4CFD-87A1-00C9F44D0A7C}"/>
              </a:ext>
            </a:extLst>
          </p:cNvPr>
          <p:cNvSpPr>
            <a:spLocks noGrp="1"/>
          </p:cNvSpPr>
          <p:nvPr/>
        </p:nvSpPr>
        <p:spPr>
          <a:xfrm>
            <a:off x="927408" y="2130639"/>
            <a:ext cx="3031752" cy="3114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表现：样本来源、授权和版本散落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影响：训练结果难定位到数据变化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根因假设：没有统一资产标识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验证：抽查一批数据的完整血缘</a:t>
            </a:r>
          </a:p>
        </p:txBody>
      </p:sp>
      <p:sp>
        <p:nvSpPr>
          <p:cNvPr id="104" name="">
            <a:extLst>
              <a:ext uri="{FF2B5EF4-FFF2-40B4-BE49-F238E27FC236}">
                <a16:creationId id="{EBE4EFAA-4FB5-4234-BAA4-FCDDE9AB258F}"/>
              </a:ext>
            </a:extLst>
          </p:cNvPr>
          <p:cNvSpPr>
            <a:spLocks noGrp="1"/>
          </p:cNvSpPr>
          <p:nvPr/>
        </p:nvSpPr>
        <p:spPr>
          <a:xfrm>
            <a:off x="4397310" y="1540089"/>
            <a:ext cx="3412752" cy="3857625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</p:sp>
      <p:sp>
        <p:nvSpPr>
          <p:cNvPr id="105" name="">
            <a:extLst>
              <a:ext uri="{FF2B5EF4-FFF2-40B4-BE49-F238E27FC236}">
                <a16:creationId id="{1388494D-2983-4C4E-A6E6-BD1DBD67C460}"/>
              </a:ext>
            </a:extLst>
          </p:cNvPr>
          <p:cNvSpPr>
            <a:spLocks noGrp="1"/>
          </p:cNvSpPr>
          <p:nvPr/>
        </p:nvSpPr>
        <p:spPr>
          <a:xfrm>
            <a:off x="4397310" y="1540089"/>
            <a:ext cx="38100" cy="385762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6" name="">
            <a:extLst>
              <a:ext uri="{FF2B5EF4-FFF2-40B4-BE49-F238E27FC236}">
                <a16:creationId id="{754A7B2D-7C78-4063-8BDF-847EEFEA4F05}"/>
              </a:ext>
            </a:extLst>
          </p:cNvPr>
          <p:cNvSpPr>
            <a:spLocks noGrp="1"/>
          </p:cNvSpPr>
          <p:nvPr/>
        </p:nvSpPr>
        <p:spPr>
          <a:xfrm>
            <a:off x="4587810" y="1721064"/>
            <a:ext cx="303175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问题二｜实验不可复现</a:t>
            </a:r>
          </a:p>
        </p:txBody>
      </p:sp>
      <p:sp>
        <p:nvSpPr>
          <p:cNvPr id="107" name="">
            <a:extLst>
              <a:ext uri="{FF2B5EF4-FFF2-40B4-BE49-F238E27FC236}">
                <a16:creationId id="{B7D3223D-9172-43F2-95B8-E8B61D1BD86C}"/>
              </a:ext>
            </a:extLst>
          </p:cNvPr>
          <p:cNvSpPr>
            <a:spLocks noGrp="1"/>
          </p:cNvSpPr>
          <p:nvPr/>
        </p:nvSpPr>
        <p:spPr>
          <a:xfrm>
            <a:off x="4587810" y="2130639"/>
            <a:ext cx="3031752" cy="3114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表现：配方、环境和日志记录缺失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影响：优化收益难被稳定重现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根因假设：交付物不包含运行条件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验证：由另一名工程师独立复跑</a:t>
            </a:r>
          </a:p>
        </p:txBody>
      </p:sp>
      <p:sp>
        <p:nvSpPr>
          <p:cNvPr id="108" name="">
            <a:extLst>
              <a:ext uri="{FF2B5EF4-FFF2-40B4-BE49-F238E27FC236}">
                <a16:creationId id="{1F86FA85-AA2A-46CB-B52B-45A8956A6595}"/>
              </a:ext>
            </a:extLst>
          </p:cNvPr>
          <p:cNvSpPr>
            <a:spLocks noGrp="1"/>
          </p:cNvSpPr>
          <p:nvPr/>
        </p:nvSpPr>
        <p:spPr>
          <a:xfrm>
            <a:off x="8057713" y="1540089"/>
            <a:ext cx="3412752" cy="3857625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</p:sp>
      <p:sp>
        <p:nvSpPr>
          <p:cNvPr id="109" name="">
            <a:extLst>
              <a:ext uri="{FF2B5EF4-FFF2-40B4-BE49-F238E27FC236}">
                <a16:creationId id="{900E895C-CF33-43D3-A95F-3F43EB84847C}"/>
              </a:ext>
            </a:extLst>
          </p:cNvPr>
          <p:cNvSpPr>
            <a:spLocks noGrp="1"/>
          </p:cNvSpPr>
          <p:nvPr/>
        </p:nvSpPr>
        <p:spPr>
          <a:xfrm>
            <a:off x="8057713" y="1540089"/>
            <a:ext cx="38100" cy="385762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0" name="">
            <a:extLst>
              <a:ext uri="{FF2B5EF4-FFF2-40B4-BE49-F238E27FC236}">
                <a16:creationId id="{DC34AA86-CA61-456B-B913-BB7E56678270}"/>
              </a:ext>
            </a:extLst>
          </p:cNvPr>
          <p:cNvSpPr>
            <a:spLocks noGrp="1"/>
          </p:cNvSpPr>
          <p:nvPr/>
        </p:nvSpPr>
        <p:spPr>
          <a:xfrm>
            <a:off x="8248213" y="1721064"/>
            <a:ext cx="303175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问题三｜现场反馈断裂</a:t>
            </a:r>
          </a:p>
        </p:txBody>
      </p:sp>
      <p:sp>
        <p:nvSpPr>
          <p:cNvPr id="111" name="">
            <a:extLst>
              <a:ext uri="{FF2B5EF4-FFF2-40B4-BE49-F238E27FC236}">
                <a16:creationId id="{076DF7AE-7E17-45DB-BE22-78CBC6E6C431}"/>
              </a:ext>
            </a:extLst>
          </p:cNvPr>
          <p:cNvSpPr>
            <a:spLocks noGrp="1"/>
          </p:cNvSpPr>
          <p:nvPr/>
        </p:nvSpPr>
        <p:spPr>
          <a:xfrm>
            <a:off x="8248213" y="2130639"/>
            <a:ext cx="3031752" cy="3114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表现：失败只有视频，没有条件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影响：问题难转成回归与训练样本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根因假设：数据与现场工单脱节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验证：抽查失败到回归的闭环记录</a:t>
            </a:r>
          </a:p>
        </p:txBody>
      </p:sp>
      <p:sp>
        <p:nvSpPr>
          <p:cNvPr id="112" name="">
            <a:extLst>
              <a:ext uri="{FF2B5EF4-FFF2-40B4-BE49-F238E27FC236}">
                <a16:creationId id="{D65C850C-828C-453D-8CD2-522BCE2730D4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H27 · 问题拆解｜原创分析示例；未对应真实项目承诺或平台实测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a16="http://schemas.microsoft.com/office/drawing/2014/main" xmlns:mc="http://schemas.openxmlformats.org/markup-compatibility/2006" xmlns:ns3="http://schemas.openxmlformats.org/drawingml/2006/chart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市场空间按可服务客户逐层收敛</a:t>
            </a:r>
          </a:p>
        </p:txBody>
      </p:sp>
      <p:graphicFrame>
        <p:nvGraphicFramePr>
          <p:cNvPr id="100" name="Chart"/>
          <p:cNvGraphicFramePr/>
          <p:nvPr/>
        </p:nvGraphicFramePr>
        <p:xfrm>
          <a:off x="736908" y="1597239"/>
          <a:ext cx="4333875" cy="3190875"/>
        </p:xfrm>
        <a:graphic>
          <a:graphicData uri="http://schemas.openxmlformats.org/drawingml/2006/chart">
            <ns3:chart r:id="lexR7ac2efd3d917471a"/>
          </a:graphicData>
        </a:graphic>
      </p:graphicFrame>
      <p:sp>
        <p:nvSpPr>
          <p:cNvPr id="101" name="">
            <a:extLst>
              <a:ext uri="{FF2B5EF4-FFF2-40B4-BE49-F238E27FC236}">
                <a16:creationId id="{5A216328-72C6-4047-877B-76CBC6AF0845}"/>
              </a:ext>
            </a:extLst>
          </p:cNvPr>
          <p:cNvSpPr>
            <a:spLocks noGrp="1"/>
          </p:cNvSpPr>
          <p:nvPr/>
        </p:nvSpPr>
        <p:spPr>
          <a:xfrm>
            <a:off x="955983" y="4835739"/>
            <a:ext cx="114300" cy="114300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2" name="">
            <a:extLst>
              <a:ext uri="{FF2B5EF4-FFF2-40B4-BE49-F238E27FC236}">
                <a16:creationId id="{5C87D320-9ACC-400D-B938-E388B8CE103D}"/>
              </a:ext>
            </a:extLst>
          </p:cNvPr>
          <p:cNvSpPr>
            <a:spLocks noGrp="1"/>
          </p:cNvSpPr>
          <p:nvPr/>
        </p:nvSpPr>
        <p:spPr>
          <a:xfrm>
            <a:off x="1184583" y="4769064"/>
            <a:ext cx="3867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SOM：200万元</a:t>
            </a:r>
          </a:p>
        </p:txBody>
      </p:sp>
      <p:sp>
        <p:nvSpPr>
          <p:cNvPr id="103" name="">
            <a:extLst>
              <a:ext uri="{FF2B5EF4-FFF2-40B4-BE49-F238E27FC236}">
                <a16:creationId id="{48DC84CF-8F41-45FA-918B-E6958DE4971A}"/>
              </a:ext>
            </a:extLst>
          </p:cNvPr>
          <p:cNvSpPr>
            <a:spLocks noGrp="1"/>
          </p:cNvSpPr>
          <p:nvPr/>
        </p:nvSpPr>
        <p:spPr>
          <a:xfrm>
            <a:off x="955983" y="5111964"/>
            <a:ext cx="114300" cy="11430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</p:sp>
      <p:sp>
        <p:nvSpPr>
          <p:cNvPr id="104" name="">
            <a:extLst>
              <a:ext uri="{FF2B5EF4-FFF2-40B4-BE49-F238E27FC236}">
                <a16:creationId id="{D9A36416-A4BA-4ECD-BF13-A8AA2248EEEB}"/>
              </a:ext>
            </a:extLst>
          </p:cNvPr>
          <p:cNvSpPr>
            <a:spLocks noGrp="1"/>
          </p:cNvSpPr>
          <p:nvPr/>
        </p:nvSpPr>
        <p:spPr>
          <a:xfrm>
            <a:off x="1184583" y="5045289"/>
            <a:ext cx="3867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SAM其余：600万元</a:t>
            </a:r>
          </a:p>
        </p:txBody>
      </p:sp>
      <p:sp>
        <p:nvSpPr>
          <p:cNvPr id="105" name="">
            <a:extLst>
              <a:ext uri="{FF2B5EF4-FFF2-40B4-BE49-F238E27FC236}">
                <a16:creationId id="{4A2B4F91-1F79-49D3-854B-4EEB380506BB}"/>
              </a:ext>
            </a:extLst>
          </p:cNvPr>
          <p:cNvSpPr>
            <a:spLocks noGrp="1"/>
          </p:cNvSpPr>
          <p:nvPr/>
        </p:nvSpPr>
        <p:spPr>
          <a:xfrm>
            <a:off x="955983" y="5388189"/>
            <a:ext cx="114300" cy="114300"/>
          </a:xfrm>
          <a:prstGeom prst="rect">
            <a:avLst/>
          </a:prstGeom>
          <a:solidFill>
            <a:srgbClr val="F4A100"/>
          </a:solidFill>
          <a:ln w="0">
            <a:noFill/>
          </a:ln>
        </p:spPr>
      </p:sp>
      <p:sp>
        <p:nvSpPr>
          <p:cNvPr id="106" name="">
            <a:extLst>
              <a:ext uri="{FF2B5EF4-FFF2-40B4-BE49-F238E27FC236}">
                <a16:creationId id="{563F6210-27CE-4C54-904F-D72A7660FCEA}"/>
              </a:ext>
            </a:extLst>
          </p:cNvPr>
          <p:cNvSpPr>
            <a:spLocks noGrp="1"/>
          </p:cNvSpPr>
          <p:nvPr/>
        </p:nvSpPr>
        <p:spPr>
          <a:xfrm>
            <a:off x="1184583" y="5321514"/>
            <a:ext cx="3867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TAM其余：1,600万元</a:t>
            </a:r>
          </a:p>
        </p:txBody>
      </p:sp>
      <p:graphicFrame>
        <p:nvGraphicFramePr>
          <p:cNvPr id="107" name=""/>
          <p:cNvGraphicFramePr/>
          <p:nvPr/>
        </p:nvGraphicFramePr>
        <p:xfrm>
          <a:off x="5594658" y="1702014"/>
          <a:ext cx="5848350" cy="2895600"/>
        </p:xfrm>
        <a:graphic>
          <a:graphicData uri="http://schemas.openxmlformats.org/drawingml/2006/table">
            <a:tbl>
              <a:tblPr firstRow="0" bandRow="0"/>
              <a:tblGrid>
                <a:gridCol w="1052703"/>
                <a:gridCol w="3099626"/>
                <a:gridCol w="1696021"/>
              </a:tblGrid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114300" marR="114300" marT="95250" marB="76200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演算假设</a:t>
                      </a:r>
                    </a:p>
                  </a:txBody>
                  <a:tcPr marL="114300" marR="114300" marT="95250" marB="76200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年收入空间</a:t>
                      </a:r>
                    </a:p>
                  </a:txBody>
                  <a:tcPr marL="114300" marR="114300" marT="95250" marB="76200" anchor="ctr">
                    <a:solidFill>
                      <a:srgbClr val="EBEBEB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TAM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120家 × 20万元/年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2,400万元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40家 × 20万元/年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800万元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SOM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10家 × 20万元/年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200万元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8" name="">
            <a:extLst>
              <a:ext uri="{FF2B5EF4-FFF2-40B4-BE49-F238E27FC236}">
                <a16:creationId id="{B2AF67CF-850B-433E-8A37-F174253EFEEB}"/>
              </a:ext>
            </a:extLst>
          </p:cNvPr>
          <p:cNvSpPr>
            <a:spLocks noGrp="1"/>
          </p:cNvSpPr>
          <p:nvPr/>
        </p:nvSpPr>
        <p:spPr>
          <a:xfrm>
            <a:off x="5594658" y="4911939"/>
            <a:ext cx="58293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SOM ⊂ SAM ⊂ TAM。圆环按互斥区域拆分，三者总量不能直接相加。</a:t>
            </a:r>
          </a:p>
        </p:txBody>
      </p:sp>
      <p:sp>
        <p:nvSpPr>
          <p:cNvPr id="109" name="">
            <a:extLst>
              <a:ext uri="{FF2B5EF4-FFF2-40B4-BE49-F238E27FC236}">
                <a16:creationId id="{E7E7FB02-4242-47A9-B521-17B069116DDC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H28 · 市场空间圆环｜纯演算假设，不是市场调查、收入预测或投资建议；需验证客户数与付费意愿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a16="http://schemas.microsoft.com/office/drawing/2014/main" xmlns:mc="http://schemas.openxmlformats.org/markup-compatibility/2006" xmlns:ns3="http://schemas.openxmlformats.org/drawingml/2006/chart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预算围绕数据资产与工程验证分配</a:t>
            </a:r>
          </a:p>
        </p:txBody>
      </p:sp>
      <p:graphicFrame>
        <p:nvGraphicFramePr>
          <p:cNvPr id="100" name="Chart"/>
          <p:cNvGraphicFramePr/>
          <p:nvPr/>
        </p:nvGraphicFramePr>
        <p:xfrm>
          <a:off x="736908" y="1749639"/>
          <a:ext cx="4857750" cy="3476625"/>
        </p:xfrm>
        <a:graphic>
          <a:graphicData uri="http://schemas.openxmlformats.org/drawingml/2006/chart">
            <ns3:chart r:id="lexR4884b628c1294bd0"/>
          </a:graphicData>
        </a:graphic>
      </p:graphicFrame>
      <p:sp>
        <p:nvSpPr>
          <p:cNvPr id="101" name="">
            <a:extLst>
              <a:ext uri="{FF2B5EF4-FFF2-40B4-BE49-F238E27FC236}">
                <a16:creationId id="{4F9BCA65-BB5E-45A1-8732-93D7C4642FA9}"/>
              </a:ext>
            </a:extLst>
          </p:cNvPr>
          <p:cNvSpPr>
            <a:spLocks noGrp="1"/>
          </p:cNvSpPr>
          <p:nvPr/>
        </p:nvSpPr>
        <p:spPr>
          <a:xfrm>
            <a:off x="6356658" y="1721064"/>
            <a:ext cx="114300" cy="114300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2" name="">
            <a:extLst>
              <a:ext uri="{FF2B5EF4-FFF2-40B4-BE49-F238E27FC236}">
                <a16:creationId id="{AFF0B209-10DB-4B36-ACEF-55A5D526010F}"/>
              </a:ext>
            </a:extLst>
          </p:cNvPr>
          <p:cNvSpPr>
            <a:spLocks noGrp="1"/>
          </p:cNvSpPr>
          <p:nvPr/>
        </p:nvSpPr>
        <p:spPr>
          <a:xfrm>
            <a:off x="6585258" y="1654389"/>
            <a:ext cx="48196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采集与质检｜240万元 · 40%</a:t>
            </a:r>
          </a:p>
        </p:txBody>
      </p:sp>
      <p:sp>
        <p:nvSpPr>
          <p:cNvPr id="103" name="">
            <a:extLst>
              <a:ext uri="{FF2B5EF4-FFF2-40B4-BE49-F238E27FC236}">
                <a16:creationId id="{83660119-69A0-40CB-8FBA-7330962EA0A6}"/>
              </a:ext>
            </a:extLst>
          </p:cNvPr>
          <p:cNvSpPr>
            <a:spLocks noGrp="1"/>
          </p:cNvSpPr>
          <p:nvPr/>
        </p:nvSpPr>
        <p:spPr>
          <a:xfrm>
            <a:off x="6356658" y="2349714"/>
            <a:ext cx="114300" cy="11430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</p:sp>
      <p:sp>
        <p:nvSpPr>
          <p:cNvPr id="104" name="">
            <a:extLst>
              <a:ext uri="{FF2B5EF4-FFF2-40B4-BE49-F238E27FC236}">
                <a16:creationId id="{15E08E8C-B2D6-4C7E-855C-F8A014B76981}"/>
              </a:ext>
            </a:extLst>
          </p:cNvPr>
          <p:cNvSpPr>
            <a:spLocks noGrp="1"/>
          </p:cNvSpPr>
          <p:nvPr/>
        </p:nvSpPr>
        <p:spPr>
          <a:xfrm>
            <a:off x="6585258" y="2283039"/>
            <a:ext cx="48196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训练与算力｜150万元 · 25%</a:t>
            </a:r>
          </a:p>
        </p:txBody>
      </p:sp>
      <p:sp>
        <p:nvSpPr>
          <p:cNvPr id="105" name="">
            <a:extLst>
              <a:ext uri="{FF2B5EF4-FFF2-40B4-BE49-F238E27FC236}">
                <a16:creationId id="{D7913D71-E3CD-440C-AD06-4F0EE490D4A4}"/>
              </a:ext>
            </a:extLst>
          </p:cNvPr>
          <p:cNvSpPr>
            <a:spLocks noGrp="1"/>
          </p:cNvSpPr>
          <p:nvPr/>
        </p:nvSpPr>
        <p:spPr>
          <a:xfrm>
            <a:off x="6356658" y="2978364"/>
            <a:ext cx="114300" cy="114300"/>
          </a:xfrm>
          <a:prstGeom prst="rect">
            <a:avLst/>
          </a:prstGeom>
          <a:solidFill>
            <a:srgbClr val="F4A100"/>
          </a:solidFill>
          <a:ln w="0">
            <a:noFill/>
          </a:ln>
        </p:spPr>
      </p:sp>
      <p:sp>
        <p:nvSpPr>
          <p:cNvPr id="106" name="">
            <a:extLst>
              <a:ext uri="{FF2B5EF4-FFF2-40B4-BE49-F238E27FC236}">
                <a16:creationId id="{70C84E1D-44B8-4AF0-ADA2-242EB856BF27}"/>
              </a:ext>
            </a:extLst>
          </p:cNvPr>
          <p:cNvSpPr>
            <a:spLocks noGrp="1"/>
          </p:cNvSpPr>
          <p:nvPr/>
        </p:nvSpPr>
        <p:spPr>
          <a:xfrm>
            <a:off x="6585258" y="2911689"/>
            <a:ext cx="48196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工程集成｜90万元 · 15%</a:t>
            </a:r>
          </a:p>
        </p:txBody>
      </p:sp>
      <p:sp>
        <p:nvSpPr>
          <p:cNvPr id="107" name="">
            <a:extLst>
              <a:ext uri="{FF2B5EF4-FFF2-40B4-BE49-F238E27FC236}">
                <a16:creationId id="{32156F18-6E87-454C-8A8B-0E4E0704948D}"/>
              </a:ext>
            </a:extLst>
          </p:cNvPr>
          <p:cNvSpPr>
            <a:spLocks noGrp="1"/>
          </p:cNvSpPr>
          <p:nvPr/>
        </p:nvSpPr>
        <p:spPr>
          <a:xfrm>
            <a:off x="6356658" y="3607014"/>
            <a:ext cx="114300" cy="114300"/>
          </a:xfrm>
          <a:prstGeom prst="rect">
            <a:avLst/>
          </a:prstGeom>
          <a:solidFill>
            <a:srgbClr val="919191"/>
          </a:solidFill>
          <a:ln w="0">
            <a:noFill/>
          </a:ln>
        </p:spPr>
      </p:sp>
      <p:sp>
        <p:nvSpPr>
          <p:cNvPr id="108" name="">
            <a:extLst>
              <a:ext uri="{FF2B5EF4-FFF2-40B4-BE49-F238E27FC236}">
                <a16:creationId id="{E4BC0A4C-147C-43CC-BB4A-7854C7B82CB1}"/>
              </a:ext>
            </a:extLst>
          </p:cNvPr>
          <p:cNvSpPr>
            <a:spLocks noGrp="1"/>
          </p:cNvSpPr>
          <p:nvPr/>
        </p:nvSpPr>
        <p:spPr>
          <a:xfrm>
            <a:off x="6585258" y="3540339"/>
            <a:ext cx="48196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评测与现场｜60万元 · 10%</a:t>
            </a:r>
          </a:p>
        </p:txBody>
      </p:sp>
      <p:sp>
        <p:nvSpPr>
          <p:cNvPr id="109" name="">
            <a:extLst>
              <a:ext uri="{FF2B5EF4-FFF2-40B4-BE49-F238E27FC236}">
                <a16:creationId id="{E82CA3CA-7208-485F-B151-F4E85C9874F9}"/>
              </a:ext>
            </a:extLst>
          </p:cNvPr>
          <p:cNvSpPr>
            <a:spLocks noGrp="1"/>
          </p:cNvSpPr>
          <p:nvPr/>
        </p:nvSpPr>
        <p:spPr>
          <a:xfrm>
            <a:off x="6356658" y="4235664"/>
            <a:ext cx="114300" cy="114300"/>
          </a:xfrm>
          <a:prstGeom prst="rect">
            <a:avLst/>
          </a:prstGeom>
          <a:solidFill>
            <a:srgbClr val="C4C4C4"/>
          </a:solidFill>
          <a:ln w="0">
            <a:noFill/>
          </a:ln>
        </p:spPr>
      </p:sp>
      <p:sp>
        <p:nvSpPr>
          <p:cNvPr id="110" name="">
            <a:extLst>
              <a:ext uri="{FF2B5EF4-FFF2-40B4-BE49-F238E27FC236}">
                <a16:creationId id="{D9C75ADC-7792-4D4B-BBD2-6EDFD83982BB}"/>
              </a:ext>
            </a:extLst>
          </p:cNvPr>
          <p:cNvSpPr>
            <a:spLocks noGrp="1"/>
          </p:cNvSpPr>
          <p:nvPr/>
        </p:nvSpPr>
        <p:spPr>
          <a:xfrm>
            <a:off x="6585258" y="4168989"/>
            <a:ext cx="48196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项目预备｜60万元 · 10%</a:t>
            </a:r>
          </a:p>
        </p:txBody>
      </p:sp>
      <p:sp>
        <p:nvSpPr>
          <p:cNvPr id="111" name="">
            <a:extLst>
              <a:ext uri="{FF2B5EF4-FFF2-40B4-BE49-F238E27FC236}">
                <a16:creationId id="{2F20F228-E234-44B9-B077-9865352BA571}"/>
              </a:ext>
            </a:extLst>
          </p:cNvPr>
          <p:cNvSpPr>
            <a:spLocks noGrp="1"/>
          </p:cNvSpPr>
          <p:nvPr/>
        </p:nvSpPr>
        <p:spPr>
          <a:xfrm>
            <a:off x="6356658" y="5007189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演示预算总额：600万元</a:t>
            </a:r>
          </a:p>
        </p:txBody>
      </p:sp>
      <p:sp>
        <p:nvSpPr>
          <p:cNvPr id="112" name="">
            <a:extLst>
              <a:ext uri="{FF2B5EF4-FFF2-40B4-BE49-F238E27FC236}">
                <a16:creationId id="{90FB657F-A02A-461D-861B-B1CDADFD189B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H29 · 预算分配圆环｜假设预算，不代表实际融资或资源申请；金额合计600万元，占比合计100%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a16="http://schemas.microsoft.com/office/drawing/2014/main" xmlns:mc="http://schemas.openxmlformats.org/markup-compatibility/2006" xmlns:ns3="http://schemas.openxmlformats.org/drawingml/2006/chart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三个场景的方案占比应分别比较</a:t>
            </a:r>
          </a:p>
        </p:txBody>
      </p:sp>
      <p:sp>
        <p:nvSpPr>
          <p:cNvPr id="100" name="">
            <a:extLst>
              <a:ext uri="{FF2B5EF4-FFF2-40B4-BE49-F238E27FC236}">
                <a16:creationId id="{E42268E3-7F86-4846-9A4E-297CDBA38EAB}"/>
              </a:ext>
            </a:extLst>
          </p:cNvPr>
          <p:cNvSpPr>
            <a:spLocks noGrp="1"/>
          </p:cNvSpPr>
          <p:nvPr/>
        </p:nvSpPr>
        <p:spPr>
          <a:xfrm>
            <a:off x="736908" y="1501989"/>
            <a:ext cx="340640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仓储场景</a:t>
            </a:r>
          </a:p>
        </p:txBody>
      </p:sp>
      <p:graphicFrame>
        <p:nvGraphicFramePr>
          <p:cNvPr id="101" name="Chart"/>
          <p:cNvGraphicFramePr/>
          <p:nvPr/>
        </p:nvGraphicFramePr>
        <p:xfrm>
          <a:off x="736908" y="2006814"/>
          <a:ext cx="3406402" cy="2705100"/>
        </p:xfrm>
        <a:graphic>
          <a:graphicData uri="http://schemas.openxmlformats.org/drawingml/2006/chart">
            <ns3:chart r:id="lexRa2b431a6d4e24a3b"/>
          </a:graphicData>
        </a:graphic>
      </p:graphicFrame>
      <p:sp>
        <p:nvSpPr>
          <p:cNvPr id="102" name="">
            <a:extLst>
              <a:ext uri="{FF2B5EF4-FFF2-40B4-BE49-F238E27FC236}">
                <a16:creationId id="{ED875021-865E-464C-AB16-A268091DC838}"/>
              </a:ext>
            </a:extLst>
          </p:cNvPr>
          <p:cNvSpPr>
            <a:spLocks noGrp="1"/>
          </p:cNvSpPr>
          <p:nvPr/>
        </p:nvSpPr>
        <p:spPr>
          <a:xfrm>
            <a:off x="736908" y="4892889"/>
            <a:ext cx="3406402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成熟方案集中，关注替换成本</a:t>
            </a:r>
          </a:p>
        </p:txBody>
      </p:sp>
      <p:sp>
        <p:nvSpPr>
          <p:cNvPr id="103" name="">
            <a:extLst>
              <a:ext uri="{FF2B5EF4-FFF2-40B4-BE49-F238E27FC236}">
                <a16:creationId id="{B7153DB3-53E4-410B-A706-E97EFA87E60D}"/>
              </a:ext>
            </a:extLst>
          </p:cNvPr>
          <p:cNvSpPr>
            <a:spLocks noGrp="1"/>
          </p:cNvSpPr>
          <p:nvPr/>
        </p:nvSpPr>
        <p:spPr>
          <a:xfrm>
            <a:off x="4400485" y="1501989"/>
            <a:ext cx="340640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柔性操作</a:t>
            </a:r>
          </a:p>
        </p:txBody>
      </p:sp>
      <p:graphicFrame>
        <p:nvGraphicFramePr>
          <p:cNvPr id="104" name="Chart"/>
          <p:cNvGraphicFramePr/>
          <p:nvPr/>
        </p:nvGraphicFramePr>
        <p:xfrm>
          <a:off x="4400485" y="2006814"/>
          <a:ext cx="3406402" cy="2705100"/>
        </p:xfrm>
        <a:graphic>
          <a:graphicData uri="http://schemas.openxmlformats.org/drawingml/2006/chart">
            <ns3:chart r:id="lexR4ce1769c3c30456b"/>
          </a:graphicData>
        </a:graphic>
      </p:graphicFrame>
      <p:sp>
        <p:nvSpPr>
          <p:cNvPr id="105" name="">
            <a:extLst>
              <a:ext uri="{FF2B5EF4-FFF2-40B4-BE49-F238E27FC236}">
                <a16:creationId id="{AF4F4A55-B84C-44AA-87F0-E4362E21FCC1}"/>
              </a:ext>
            </a:extLst>
          </p:cNvPr>
          <p:cNvSpPr>
            <a:spLocks noGrp="1"/>
          </p:cNvSpPr>
          <p:nvPr/>
        </p:nvSpPr>
        <p:spPr>
          <a:xfrm>
            <a:off x="4400485" y="4892889"/>
            <a:ext cx="3406402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任务差异大，先固定评测集</a:t>
            </a:r>
          </a:p>
        </p:txBody>
      </p:sp>
      <p:sp>
        <p:nvSpPr>
          <p:cNvPr id="106" name="">
            <a:extLst>
              <a:ext uri="{FF2B5EF4-FFF2-40B4-BE49-F238E27FC236}">
                <a16:creationId id="{B4465CA6-7BB6-4E6F-BF51-D375EAB55A8E}"/>
              </a:ext>
            </a:extLst>
          </p:cNvPr>
          <p:cNvSpPr>
            <a:spLocks noGrp="1"/>
          </p:cNvSpPr>
          <p:nvPr/>
        </p:nvSpPr>
        <p:spPr>
          <a:xfrm>
            <a:off x="8064063" y="1501989"/>
            <a:ext cx="340640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工业分拣</a:t>
            </a:r>
          </a:p>
        </p:txBody>
      </p:sp>
      <p:graphicFrame>
        <p:nvGraphicFramePr>
          <p:cNvPr id="107" name="Chart"/>
          <p:cNvGraphicFramePr/>
          <p:nvPr/>
        </p:nvGraphicFramePr>
        <p:xfrm>
          <a:off x="8064063" y="2006814"/>
          <a:ext cx="3406402" cy="2705100"/>
        </p:xfrm>
        <a:graphic>
          <a:graphicData uri="http://schemas.openxmlformats.org/drawingml/2006/chart">
            <ns3:chart r:id="lexRedc6e934df344d20"/>
          </a:graphicData>
        </a:graphic>
      </p:graphicFrame>
      <p:sp>
        <p:nvSpPr>
          <p:cNvPr id="108" name="">
            <a:extLst>
              <a:ext uri="{FF2B5EF4-FFF2-40B4-BE49-F238E27FC236}">
                <a16:creationId id="{8825199C-94C3-4525-B40A-1287C43DD025}"/>
              </a:ext>
            </a:extLst>
          </p:cNvPr>
          <p:cNvSpPr>
            <a:spLocks noGrp="1"/>
          </p:cNvSpPr>
          <p:nvPr/>
        </p:nvSpPr>
        <p:spPr>
          <a:xfrm>
            <a:off x="8064063" y="4892889"/>
            <a:ext cx="3406402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多方案并存，比较集成成本</a:t>
            </a:r>
          </a:p>
        </p:txBody>
      </p:sp>
      <p:sp>
        <p:nvSpPr>
          <p:cNvPr id="109" name="">
            <a:extLst>
              <a:ext uri="{FF2B5EF4-FFF2-40B4-BE49-F238E27FC236}">
                <a16:creationId id="{B20CE39A-6579-4475-88B6-6E354171C536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H30 · 三组份额图｜合成份额数据；每个场景A/B/C合计100%，不代表真实厂商或市场份额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服务收入从项目交付逐步走向复用</a:t>
            </a:r>
          </a:p>
        </p:txBody>
      </p:sp>
      <p:sp>
        <p:nvSpPr>
          <p:cNvPr id="100" name="">
            <a:extLst>
              <a:ext uri="{FF2B5EF4-FFF2-40B4-BE49-F238E27FC236}">
                <a16:creationId id="{FDAA8395-CA9C-4BAE-B5F0-848F5766A32F}"/>
              </a:ext>
            </a:extLst>
          </p:cNvPr>
          <p:cNvSpPr>
            <a:spLocks noGrp="1"/>
          </p:cNvSpPr>
          <p:nvPr/>
        </p:nvSpPr>
        <p:spPr>
          <a:xfrm>
            <a:off x="736908" y="1530564"/>
            <a:ext cx="3412752" cy="3857625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</p:sp>
      <p:sp>
        <p:nvSpPr>
          <p:cNvPr id="101" name="">
            <a:extLst>
              <a:ext uri="{FF2B5EF4-FFF2-40B4-BE49-F238E27FC236}">
                <a16:creationId id="{FB5140F2-6897-4CC5-B44E-1762DD9F278A}"/>
              </a:ext>
            </a:extLst>
          </p:cNvPr>
          <p:cNvSpPr>
            <a:spLocks noGrp="1"/>
          </p:cNvSpPr>
          <p:nvPr/>
        </p:nvSpPr>
        <p:spPr>
          <a:xfrm>
            <a:off x="736908" y="1530564"/>
            <a:ext cx="38100" cy="385762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2" name="">
            <a:extLst>
              <a:ext uri="{FF2B5EF4-FFF2-40B4-BE49-F238E27FC236}">
                <a16:creationId id="{3A1F9241-5B41-47AE-A11E-878AE1583190}"/>
              </a:ext>
            </a:extLst>
          </p:cNvPr>
          <p:cNvSpPr>
            <a:spLocks noGrp="1"/>
          </p:cNvSpPr>
          <p:nvPr/>
        </p:nvSpPr>
        <p:spPr>
          <a:xfrm>
            <a:off x="927408" y="1711539"/>
            <a:ext cx="303175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项目交付</a:t>
            </a:r>
          </a:p>
        </p:txBody>
      </p:sp>
      <p:sp>
        <p:nvSpPr>
          <p:cNvPr id="103" name="">
            <a:extLst>
              <a:ext uri="{FF2B5EF4-FFF2-40B4-BE49-F238E27FC236}">
                <a16:creationId id="{583323D8-ED39-4948-8292-60FF06444314}"/>
              </a:ext>
            </a:extLst>
          </p:cNvPr>
          <p:cNvSpPr>
            <a:spLocks noGrp="1"/>
          </p:cNvSpPr>
          <p:nvPr/>
        </p:nvSpPr>
        <p:spPr>
          <a:xfrm>
            <a:off x="927408" y="2121114"/>
            <a:ext cx="3031752" cy="3114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客户入口：明确任务与现场边界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收费对象：一次性集成与验收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核心成本：采集、工程与现场人力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复用资产：测试集、脚本、接口规范</a:t>
            </a:r>
          </a:p>
        </p:txBody>
      </p:sp>
      <p:sp>
        <p:nvSpPr>
          <p:cNvPr id="104" name="">
            <a:extLst>
              <a:ext uri="{FF2B5EF4-FFF2-40B4-BE49-F238E27FC236}">
                <a16:creationId id="{9E97CEA2-C2B7-418A-B9E8-B8E405428188}"/>
              </a:ext>
            </a:extLst>
          </p:cNvPr>
          <p:cNvSpPr>
            <a:spLocks noGrp="1"/>
          </p:cNvSpPr>
          <p:nvPr/>
        </p:nvSpPr>
        <p:spPr>
          <a:xfrm>
            <a:off x="4397310" y="1530564"/>
            <a:ext cx="3412752" cy="3857625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</p:sp>
      <p:sp>
        <p:nvSpPr>
          <p:cNvPr id="105" name="">
            <a:extLst>
              <a:ext uri="{FF2B5EF4-FFF2-40B4-BE49-F238E27FC236}">
                <a16:creationId id="{606C08FB-AA0C-4871-90B3-6AF75C627018}"/>
              </a:ext>
            </a:extLst>
          </p:cNvPr>
          <p:cNvSpPr>
            <a:spLocks noGrp="1"/>
          </p:cNvSpPr>
          <p:nvPr/>
        </p:nvSpPr>
        <p:spPr>
          <a:xfrm>
            <a:off x="4397310" y="1530564"/>
            <a:ext cx="38100" cy="385762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6" name="">
            <a:extLst>
              <a:ext uri="{FF2B5EF4-FFF2-40B4-BE49-F238E27FC236}">
                <a16:creationId id="{AC182735-2297-4F62-ABED-4F40DE916A89}"/>
              </a:ext>
            </a:extLst>
          </p:cNvPr>
          <p:cNvSpPr>
            <a:spLocks noGrp="1"/>
          </p:cNvSpPr>
          <p:nvPr/>
        </p:nvSpPr>
        <p:spPr>
          <a:xfrm>
            <a:off x="4587810" y="1711539"/>
            <a:ext cx="303175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持续服务</a:t>
            </a:r>
          </a:p>
        </p:txBody>
      </p:sp>
      <p:sp>
        <p:nvSpPr>
          <p:cNvPr id="107" name="">
            <a:extLst>
              <a:ext uri="{FF2B5EF4-FFF2-40B4-BE49-F238E27FC236}">
                <a16:creationId id="{B545091F-899D-4014-BDD2-8695E2118250}"/>
              </a:ext>
            </a:extLst>
          </p:cNvPr>
          <p:cNvSpPr>
            <a:spLocks noGrp="1"/>
          </p:cNvSpPr>
          <p:nvPr/>
        </p:nvSpPr>
        <p:spPr>
          <a:xfrm>
            <a:off x="4587810" y="2121114"/>
            <a:ext cx="3031752" cy="3114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客户入口：上线后的质量与迭代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收费对象：约定周期的维护服务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核心成本：回归、支持与版本维护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复用资产：监控、回滚、运维工具</a:t>
            </a:r>
          </a:p>
        </p:txBody>
      </p:sp>
      <p:sp>
        <p:nvSpPr>
          <p:cNvPr id="108" name="">
            <a:extLst>
              <a:ext uri="{FF2B5EF4-FFF2-40B4-BE49-F238E27FC236}">
                <a16:creationId id="{EA4DCEC1-C157-4BA5-91D5-95FFEA812B35}"/>
              </a:ext>
            </a:extLst>
          </p:cNvPr>
          <p:cNvSpPr>
            <a:spLocks noGrp="1"/>
          </p:cNvSpPr>
          <p:nvPr/>
        </p:nvSpPr>
        <p:spPr>
          <a:xfrm>
            <a:off x="8057713" y="1530564"/>
            <a:ext cx="3412752" cy="3857625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</p:sp>
      <p:sp>
        <p:nvSpPr>
          <p:cNvPr id="109" name="">
            <a:extLst>
              <a:ext uri="{FF2B5EF4-FFF2-40B4-BE49-F238E27FC236}">
                <a16:creationId id="{B181D014-7875-4B66-A976-09D51CB42097}"/>
              </a:ext>
            </a:extLst>
          </p:cNvPr>
          <p:cNvSpPr>
            <a:spLocks noGrp="1"/>
          </p:cNvSpPr>
          <p:nvPr/>
        </p:nvSpPr>
        <p:spPr>
          <a:xfrm>
            <a:off x="8057713" y="1530564"/>
            <a:ext cx="38100" cy="385762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0" name="">
            <a:extLst>
              <a:ext uri="{FF2B5EF4-FFF2-40B4-BE49-F238E27FC236}">
                <a16:creationId id="{6B457A4B-1617-4275-BC99-46BDB67E98E9}"/>
              </a:ext>
            </a:extLst>
          </p:cNvPr>
          <p:cNvSpPr>
            <a:spLocks noGrp="1"/>
          </p:cNvSpPr>
          <p:nvPr/>
        </p:nvSpPr>
        <p:spPr>
          <a:xfrm>
            <a:off x="8248213" y="1711539"/>
            <a:ext cx="303175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数据产品</a:t>
            </a:r>
          </a:p>
        </p:txBody>
      </p:sp>
      <p:sp>
        <p:nvSpPr>
          <p:cNvPr id="111" name="">
            <a:extLst>
              <a:ext uri="{FF2B5EF4-FFF2-40B4-BE49-F238E27FC236}">
                <a16:creationId id="{4E61AAD6-2FD2-42F3-BCDB-F005977BE502}"/>
              </a:ext>
            </a:extLst>
          </p:cNvPr>
          <p:cNvSpPr>
            <a:spLocks noGrp="1"/>
          </p:cNvSpPr>
          <p:nvPr/>
        </p:nvSpPr>
        <p:spPr>
          <a:xfrm>
            <a:off x="8248213" y="2121114"/>
            <a:ext cx="3031752" cy="3114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客户入口：有明确授权的标准数据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收费对象：许可范围与更新服务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核心成本：授权、质检与持续更新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边界：不默认客户数据可再销售</a:t>
            </a:r>
          </a:p>
        </p:txBody>
      </p:sp>
      <p:sp>
        <p:nvSpPr>
          <p:cNvPr id="112" name="">
            <a:extLst>
              <a:ext uri="{FF2B5EF4-FFF2-40B4-BE49-F238E27FC236}">
                <a16:creationId id="{57779A55-8D80-4B8C-BC91-4754DFA35AF8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H31 · 商业模式｜商业模式假设；价格、授权、需求和毛利均需另行验证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四个指标构成数据交付改进循环</a:t>
            </a:r>
          </a:p>
        </p:txBody>
      </p:sp>
      <p:sp>
        <p:nvSpPr>
          <p:cNvPr id="100" name="">
            <a:extLst>
              <a:ext uri="{FF2B5EF4-FFF2-40B4-BE49-F238E27FC236}">
                <a16:creationId id="{9B865E88-26B0-4FDE-961E-3A2ADF758D49}"/>
              </a:ext>
            </a:extLst>
          </p:cNvPr>
          <p:cNvSpPr>
            <a:spLocks noGrp="1"/>
          </p:cNvSpPr>
          <p:nvPr/>
        </p:nvSpPr>
        <p:spPr>
          <a:xfrm>
            <a:off x="1403658" y="1578189"/>
            <a:ext cx="3143250" cy="14287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1" name="">
            <a:extLst>
              <a:ext uri="{FF2B5EF4-FFF2-40B4-BE49-F238E27FC236}">
                <a16:creationId id="{685E3C68-EBF4-4240-8044-9128B090E5DA}"/>
              </a:ext>
            </a:extLst>
          </p:cNvPr>
          <p:cNvSpPr>
            <a:spLocks noGrp="1"/>
          </p:cNvSpPr>
          <p:nvPr/>
        </p:nvSpPr>
        <p:spPr>
          <a:xfrm>
            <a:off x="1594158" y="1730589"/>
            <a:ext cx="2762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 覆盖率</a:t>
            </a:r>
          </a:p>
        </p:txBody>
      </p:sp>
      <p:sp>
        <p:nvSpPr>
          <p:cNvPr id="102" name="">
            <a:extLst>
              <a:ext uri="{FF2B5EF4-FFF2-40B4-BE49-F238E27FC236}">
                <a16:creationId id="{7BBC08DD-B36D-45CD-AA9C-E3E8D2D73B32}"/>
              </a:ext>
            </a:extLst>
          </p:cNvPr>
          <p:cNvSpPr>
            <a:spLocks noGrp="1"/>
          </p:cNvSpPr>
          <p:nvPr/>
        </p:nvSpPr>
        <p:spPr>
          <a:xfrm>
            <a:off x="1594158" y="2140164"/>
            <a:ext cx="14287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103" name="">
            <a:extLst>
              <a:ext uri="{FF2B5EF4-FFF2-40B4-BE49-F238E27FC236}">
                <a16:creationId id="{70E519AC-948F-43BF-94CF-B032DE7F56A5}"/>
              </a:ext>
            </a:extLst>
          </p:cNvPr>
          <p:cNvSpPr>
            <a:spLocks noGrp="1"/>
          </p:cNvSpPr>
          <p:nvPr/>
        </p:nvSpPr>
        <p:spPr>
          <a:xfrm>
            <a:off x="1594158" y="2664039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已覆盖任务/目标任务</a:t>
            </a:r>
          </a:p>
        </p:txBody>
      </p:sp>
      <p:sp>
        <p:nvSpPr>
          <p:cNvPr id="104" name="">
            <a:extLst>
              <a:ext uri="{FF2B5EF4-FFF2-40B4-BE49-F238E27FC236}">
                <a16:creationId id="{4579ECCD-7452-4F47-935E-93AEC7277A3D}"/>
              </a:ext>
            </a:extLst>
          </p:cNvPr>
          <p:cNvSpPr>
            <a:spLocks noGrp="1"/>
          </p:cNvSpPr>
          <p:nvPr/>
        </p:nvSpPr>
        <p:spPr>
          <a:xfrm>
            <a:off x="7337733" y="1578189"/>
            <a:ext cx="3143250" cy="14287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5" name="">
            <a:extLst>
              <a:ext uri="{FF2B5EF4-FFF2-40B4-BE49-F238E27FC236}">
                <a16:creationId id="{773BF186-A9D8-4F24-93A4-5AE456456716}"/>
              </a:ext>
            </a:extLst>
          </p:cNvPr>
          <p:cNvSpPr>
            <a:spLocks noGrp="1"/>
          </p:cNvSpPr>
          <p:nvPr/>
        </p:nvSpPr>
        <p:spPr>
          <a:xfrm>
            <a:off x="7528233" y="1730589"/>
            <a:ext cx="2762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 通过率</a:t>
            </a:r>
          </a:p>
        </p:txBody>
      </p:sp>
      <p:sp>
        <p:nvSpPr>
          <p:cNvPr id="106" name="">
            <a:extLst>
              <a:ext uri="{FF2B5EF4-FFF2-40B4-BE49-F238E27FC236}">
                <a16:creationId id="{7FECB011-FE08-4476-A8D9-27F0D1909AD0}"/>
              </a:ext>
            </a:extLst>
          </p:cNvPr>
          <p:cNvSpPr>
            <a:spLocks noGrp="1"/>
          </p:cNvSpPr>
          <p:nvPr/>
        </p:nvSpPr>
        <p:spPr>
          <a:xfrm>
            <a:off x="7528233" y="2140164"/>
            <a:ext cx="14287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85%</a:t>
            </a:r>
          </a:p>
        </p:txBody>
      </p:sp>
      <p:sp>
        <p:nvSpPr>
          <p:cNvPr id="107" name="">
            <a:extLst>
              <a:ext uri="{FF2B5EF4-FFF2-40B4-BE49-F238E27FC236}">
                <a16:creationId id="{CF18923C-1619-418D-91D5-FE5701512A45}"/>
              </a:ext>
            </a:extLst>
          </p:cNvPr>
          <p:cNvSpPr>
            <a:spLocks noGrp="1"/>
          </p:cNvSpPr>
          <p:nvPr/>
        </p:nvSpPr>
        <p:spPr>
          <a:xfrm>
            <a:off x="7528233" y="2664039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质检通过批次/送检批次</a:t>
            </a:r>
          </a:p>
        </p:txBody>
      </p:sp>
      <p:sp>
        <p:nvSpPr>
          <p:cNvPr id="108" name="">
            <a:extLst>
              <a:ext uri="{FF2B5EF4-FFF2-40B4-BE49-F238E27FC236}">
                <a16:creationId id="{AE08A100-A69E-4649-87C1-139A393A66CD}"/>
              </a:ext>
            </a:extLst>
          </p:cNvPr>
          <p:cNvSpPr>
            <a:spLocks noGrp="1"/>
          </p:cNvSpPr>
          <p:nvPr/>
        </p:nvSpPr>
        <p:spPr>
          <a:xfrm>
            <a:off x="7337733" y="3892764"/>
            <a:ext cx="3143250" cy="14287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9" name="">
            <a:extLst>
              <a:ext uri="{FF2B5EF4-FFF2-40B4-BE49-F238E27FC236}">
                <a16:creationId id="{9D102A54-062F-42B8-BB0C-6BB283E801AB}"/>
              </a:ext>
            </a:extLst>
          </p:cNvPr>
          <p:cNvSpPr>
            <a:spLocks noGrp="1"/>
          </p:cNvSpPr>
          <p:nvPr/>
        </p:nvSpPr>
        <p:spPr>
          <a:xfrm>
            <a:off x="7528233" y="4045164"/>
            <a:ext cx="2762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 使用率</a:t>
            </a:r>
          </a:p>
        </p:txBody>
      </p:sp>
      <p:sp>
        <p:nvSpPr>
          <p:cNvPr id="110" name="">
            <a:extLst>
              <a:ext uri="{FF2B5EF4-FFF2-40B4-BE49-F238E27FC236}">
                <a16:creationId id="{345D0E4D-E417-4E0E-8E67-E1B8FB845010}"/>
              </a:ext>
            </a:extLst>
          </p:cNvPr>
          <p:cNvSpPr>
            <a:spLocks noGrp="1"/>
          </p:cNvSpPr>
          <p:nvPr/>
        </p:nvSpPr>
        <p:spPr>
          <a:xfrm>
            <a:off x="7528233" y="4454739"/>
            <a:ext cx="14287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70%</a:t>
            </a:r>
          </a:p>
        </p:txBody>
      </p:sp>
      <p:sp>
        <p:nvSpPr>
          <p:cNvPr id="111" name="">
            <a:extLst>
              <a:ext uri="{FF2B5EF4-FFF2-40B4-BE49-F238E27FC236}">
                <a16:creationId id="{45D0E1CF-817D-433C-B5B7-0AB6FEE7B976}"/>
              </a:ext>
            </a:extLst>
          </p:cNvPr>
          <p:cNvSpPr>
            <a:spLocks noGrp="1"/>
          </p:cNvSpPr>
          <p:nvPr/>
        </p:nvSpPr>
        <p:spPr>
          <a:xfrm>
            <a:off x="7528233" y="4978614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进入训练样本/合格样本</a:t>
            </a:r>
          </a:p>
        </p:txBody>
      </p:sp>
      <p:sp>
        <p:nvSpPr>
          <p:cNvPr id="112" name="">
            <a:extLst>
              <a:ext uri="{FF2B5EF4-FFF2-40B4-BE49-F238E27FC236}">
                <a16:creationId id="{EB276FCF-5B33-4E15-9041-2FCE7CE734BE}"/>
              </a:ext>
            </a:extLst>
          </p:cNvPr>
          <p:cNvSpPr>
            <a:spLocks noGrp="1"/>
          </p:cNvSpPr>
          <p:nvPr/>
        </p:nvSpPr>
        <p:spPr>
          <a:xfrm>
            <a:off x="1403658" y="3892764"/>
            <a:ext cx="3143250" cy="14287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3" name="">
            <a:extLst>
              <a:ext uri="{FF2B5EF4-FFF2-40B4-BE49-F238E27FC236}">
                <a16:creationId id="{E4C98A92-D406-4C09-8520-B4FCB9608BF7}"/>
              </a:ext>
            </a:extLst>
          </p:cNvPr>
          <p:cNvSpPr>
            <a:spLocks noGrp="1"/>
          </p:cNvSpPr>
          <p:nvPr/>
        </p:nvSpPr>
        <p:spPr>
          <a:xfrm>
            <a:off x="1594158" y="4045164"/>
            <a:ext cx="2762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 闭环率</a:t>
            </a:r>
          </a:p>
        </p:txBody>
      </p:sp>
      <p:sp>
        <p:nvSpPr>
          <p:cNvPr id="114" name="">
            <a:extLst>
              <a:ext uri="{FF2B5EF4-FFF2-40B4-BE49-F238E27FC236}">
                <a16:creationId id="{8B6185E9-AB35-4787-9F88-F806886B7D67}"/>
              </a:ext>
            </a:extLst>
          </p:cNvPr>
          <p:cNvSpPr>
            <a:spLocks noGrp="1"/>
          </p:cNvSpPr>
          <p:nvPr/>
        </p:nvSpPr>
        <p:spPr>
          <a:xfrm>
            <a:off x="1594158" y="4454739"/>
            <a:ext cx="14287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90%</a:t>
            </a:r>
          </a:p>
        </p:txBody>
      </p:sp>
      <p:sp>
        <p:nvSpPr>
          <p:cNvPr id="115" name="">
            <a:extLst>
              <a:ext uri="{FF2B5EF4-FFF2-40B4-BE49-F238E27FC236}">
                <a16:creationId id="{650D394A-C644-4C4A-A227-A9B53F0B9A14}"/>
              </a:ext>
            </a:extLst>
          </p:cNvPr>
          <p:cNvSpPr>
            <a:spLocks noGrp="1"/>
          </p:cNvSpPr>
          <p:nvPr/>
        </p:nvSpPr>
        <p:spPr>
          <a:xfrm>
            <a:off x="1594158" y="4978614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完成回归问题/有效问题</a:t>
            </a:r>
          </a:p>
        </p:txBody>
      </p:sp>
      <p:sp>
        <p:nvSpPr>
          <p:cNvPr id="116" name="">
            <a:extLst>
              <a:ext uri="{FF2B5EF4-FFF2-40B4-BE49-F238E27FC236}">
                <a16:creationId id="{74BC73B7-E913-431E-A6CB-EB8D29A92B43}"/>
              </a:ext>
            </a:extLst>
          </p:cNvPr>
          <p:cNvSpPr>
            <a:spLocks noGrp="1"/>
          </p:cNvSpPr>
          <p:nvPr/>
        </p:nvSpPr>
        <p:spPr>
          <a:xfrm>
            <a:off x="4908858" y="2140164"/>
            <a:ext cx="1924050" cy="209550"/>
          </a:xfrm>
          <a:prstGeom prst="right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7" name="">
            <a:extLst>
              <a:ext uri="{FF2B5EF4-FFF2-40B4-BE49-F238E27FC236}">
                <a16:creationId id="{55F714DA-403B-49A7-8E03-21ED205160BD}"/>
              </a:ext>
            </a:extLst>
          </p:cNvPr>
          <p:cNvSpPr>
            <a:spLocks noGrp="1"/>
          </p:cNvSpPr>
          <p:nvPr/>
        </p:nvSpPr>
        <p:spPr>
          <a:xfrm>
            <a:off x="8718858" y="3178389"/>
            <a:ext cx="209550" cy="447675"/>
          </a:xfrm>
          <a:prstGeom prst="down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8" name="">
            <a:extLst>
              <a:ext uri="{FF2B5EF4-FFF2-40B4-BE49-F238E27FC236}">
                <a16:creationId id="{3CF93A2E-0965-4D2D-99CA-DCB2A6FFA80E}"/>
              </a:ext>
            </a:extLst>
          </p:cNvPr>
          <p:cNvSpPr>
            <a:spLocks noGrp="1"/>
          </p:cNvSpPr>
          <p:nvPr/>
        </p:nvSpPr>
        <p:spPr>
          <a:xfrm>
            <a:off x="4908858" y="4492839"/>
            <a:ext cx="1924050" cy="209550"/>
          </a:xfrm>
          <a:prstGeom prst="left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9" name="">
            <a:extLst>
              <a:ext uri="{FF2B5EF4-FFF2-40B4-BE49-F238E27FC236}">
                <a16:creationId id="{1CE15983-13C0-48D9-9096-3F67065DED7D}"/>
              </a:ext>
            </a:extLst>
          </p:cNvPr>
          <p:cNvSpPr>
            <a:spLocks noGrp="1"/>
          </p:cNvSpPr>
          <p:nvPr/>
        </p:nvSpPr>
        <p:spPr>
          <a:xfrm>
            <a:off x="2870508" y="3178389"/>
            <a:ext cx="209550" cy="447675"/>
          </a:xfrm>
          <a:prstGeom prst="up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20" name="">
            <a:extLst>
              <a:ext uri="{FF2B5EF4-FFF2-40B4-BE49-F238E27FC236}">
                <a16:creationId id="{99EA3DFA-0B96-43A2-B5D3-00328E96473C}"/>
              </a:ext>
            </a:extLst>
          </p:cNvPr>
          <p:cNvSpPr>
            <a:spLocks noGrp="1"/>
          </p:cNvSpPr>
          <p:nvPr/>
        </p:nvSpPr>
        <p:spPr>
          <a:xfrm>
            <a:off x="4927908" y="3321264"/>
            <a:ext cx="1905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反馈推动</a:t>
            </a:r>
          </a:p>
          <a:p>
            <a:pPr algn="ctr">
              <a:def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下一轮采集</a:t>
            </a:r>
          </a:p>
        </p:txBody>
      </p:sp>
      <p:sp>
        <p:nvSpPr>
          <p:cNvPr id="121" name="">
            <a:extLst>
              <a:ext uri="{FF2B5EF4-FFF2-40B4-BE49-F238E27FC236}">
                <a16:creationId id="{3FED0A5F-1AD9-4DA7-A43C-C62044D69DE4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H32 · KPI循环｜指标与数值均为示例；四项分母不同，不可相乘得到整体成功率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服务档位按交付范围和责任定价</a:t>
            </a:r>
          </a:p>
        </p:txBody>
      </p:sp>
      <p:graphicFrame>
        <p:nvGraphicFramePr>
          <p:cNvPr id="100" name=""/>
          <p:cNvGraphicFramePr/>
          <p:nvPr/>
        </p:nvGraphicFramePr>
        <p:xfrm>
          <a:off x="736908" y="1644864"/>
          <a:ext cx="10733557" cy="3762375"/>
        </p:xfrm>
        <a:graphic>
          <a:graphicData uri="http://schemas.openxmlformats.org/drawingml/2006/table">
            <a:tbl>
              <a:tblPr firstRow="0" bandRow="0"/>
              <a:tblGrid>
                <a:gridCol w="2039376"/>
                <a:gridCol w="2898060"/>
                <a:gridCol w="2898060"/>
                <a:gridCol w="2898060"/>
              </a:tblGrid>
              <a:tr h="627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交付范围</a:t>
                      </a:r>
                    </a:p>
                  </a:txBody>
                  <a:tcPr marL="114300" marR="114300" marT="95250" marB="76200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探索包</a:t>
                      </a:r>
                    </a:p>
                  </a:txBody>
                  <a:tcPr marL="114300" marR="114300" marT="95250" marB="76200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试点包</a:t>
                      </a:r>
                    </a:p>
                  </a:txBody>
                  <a:tcPr marL="114300" marR="114300" marT="95250" marB="76200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规模包</a:t>
                      </a:r>
                    </a:p>
                  </a:txBody>
                  <a:tcPr marL="114300" marR="114300" marT="95250" marB="76200" anchor="ctr">
                    <a:solidFill>
                      <a:srgbClr val="EBEBEB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示例价格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10万元/次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30万元/次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60万元起/次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任务范围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单任务、单环境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约定任务集、固定现场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多任务与多现场，另定边界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核心交付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可行性记录与风险清单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数据/模型/基线与验收记录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标准包、运维与复制手册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验收方式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复现流程与问题明确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按约定质量和稳定性验收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按场景分批验收与回归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范围外费用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设备、差旅、算力另计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额外采集和变更另计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新增现场与持续服务另计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" name="">
            <a:extLst>
              <a:ext uri="{FF2B5EF4-FFF2-40B4-BE49-F238E27FC236}">
                <a16:creationId id="{82BD8284-FAAF-44C9-A397-F6AA1B310BEC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H33 · 服务定价｜虚构服务报价示例；税费、授权、算力和变更范围须在合同中另行确认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技术服务试点的优势与风险并存</a:t>
            </a:r>
          </a:p>
        </p:txBody>
      </p:sp>
      <p:sp>
        <p:nvSpPr>
          <p:cNvPr id="100" name="">
            <a:extLst>
              <a:ext uri="{FF2B5EF4-FFF2-40B4-BE49-F238E27FC236}">
                <a16:creationId id="{042A4D67-4C91-43B8-9A40-DA56BD8993D9}"/>
              </a:ext>
            </a:extLst>
          </p:cNvPr>
          <p:cNvSpPr>
            <a:spLocks noGrp="1"/>
          </p:cNvSpPr>
          <p:nvPr/>
        </p:nvSpPr>
        <p:spPr>
          <a:xfrm>
            <a:off x="736908" y="1530564"/>
            <a:ext cx="10733557" cy="4010025"/>
          </a:xfrm>
          <a:prstGeom prst="rect">
            <a:avLst/>
          </a:prstGeom>
          <a:solidFill>
            <a:srgbClr val="232323"/>
          </a:solidFill>
          <a:ln w="0">
            <a:noFill/>
          </a:ln>
        </p:spPr>
      </p:sp>
      <p:sp>
        <p:nvSpPr>
          <p:cNvPr id="101" name="">
            <a:extLst>
              <a:ext uri="{FF2B5EF4-FFF2-40B4-BE49-F238E27FC236}">
                <a16:creationId id="{509F6627-6ABA-4626-9D4D-21E279579690}"/>
              </a:ext>
            </a:extLst>
          </p:cNvPr>
          <p:cNvSpPr>
            <a:spLocks noGrp="1"/>
          </p:cNvSpPr>
          <p:nvPr/>
        </p:nvSpPr>
        <p:spPr>
          <a:xfrm>
            <a:off x="965508" y="1673439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F4A1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4A100"/>
                </a:solidFill>
                <a:latin typeface="Microsoft YaHei"/>
                <a:ea typeface="Microsoft YaHei"/>
                <a:cs typeface="Microsoft YaHei"/>
              </a:rPr>
              <a:t>S｜优势</a:t>
            </a:r>
          </a:p>
        </p:txBody>
      </p:sp>
      <p:sp>
        <p:nvSpPr>
          <p:cNvPr id="102" name="">
            <a:extLst>
              <a:ext uri="{FF2B5EF4-FFF2-40B4-BE49-F238E27FC236}">
                <a16:creationId id="{0E0BD791-7242-42FD-9955-281B1960DC39}"/>
              </a:ext>
            </a:extLst>
          </p:cNvPr>
          <p:cNvSpPr>
            <a:spLocks noGrp="1"/>
          </p:cNvSpPr>
          <p:nvPr/>
        </p:nvSpPr>
        <p:spPr>
          <a:xfrm>
            <a:off x="965508" y="2111589"/>
            <a:ext cx="4857750" cy="1390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研究与工程衔接</a:t>
            </a:r>
          </a:p>
          <a:p>
            <a:pPr algn="l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能把技术机制转成可复现实验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行动：把验证材料纳入标准交付</a:t>
            </a:r>
          </a:p>
        </p:txBody>
      </p:sp>
      <p:sp>
        <p:nvSpPr>
          <p:cNvPr id="103" name="">
            <a:extLst>
              <a:ext uri="{FF2B5EF4-FFF2-40B4-BE49-F238E27FC236}">
                <a16:creationId id="{A23D7A52-CFBB-4886-905B-CFEFD64B8A7D}"/>
              </a:ext>
            </a:extLst>
          </p:cNvPr>
          <p:cNvSpPr>
            <a:spLocks noGrp="1"/>
          </p:cNvSpPr>
          <p:nvPr/>
        </p:nvSpPr>
        <p:spPr>
          <a:xfrm>
            <a:off x="6328083" y="1673439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F4A1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4A100"/>
                </a:solidFill>
                <a:latin typeface="Microsoft YaHei"/>
                <a:ea typeface="Microsoft YaHei"/>
                <a:cs typeface="Microsoft YaHei"/>
              </a:rPr>
              <a:t>W｜短板</a:t>
            </a:r>
          </a:p>
        </p:txBody>
      </p:sp>
      <p:sp>
        <p:nvSpPr>
          <p:cNvPr id="104" name="">
            <a:extLst>
              <a:ext uri="{FF2B5EF4-FFF2-40B4-BE49-F238E27FC236}">
                <a16:creationId id="{A529BFDE-2D34-4464-9726-96E4A2375BEE}"/>
              </a:ext>
            </a:extLst>
          </p:cNvPr>
          <p:cNvSpPr>
            <a:spLocks noGrp="1"/>
          </p:cNvSpPr>
          <p:nvPr/>
        </p:nvSpPr>
        <p:spPr>
          <a:xfrm>
            <a:off x="6328083" y="2111589"/>
            <a:ext cx="4857750" cy="1390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现场经验和交付带宽有限</a:t>
            </a:r>
          </a:p>
          <a:p>
            <a:pPr algn="l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定制任务容易消耗核心人员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行动：限定首批任务与服务范围</a:t>
            </a:r>
          </a:p>
        </p:txBody>
      </p:sp>
      <p:sp>
        <p:nvSpPr>
          <p:cNvPr id="105" name="">
            <a:extLst>
              <a:ext uri="{FF2B5EF4-FFF2-40B4-BE49-F238E27FC236}">
                <a16:creationId id="{4A528319-F2FF-4E25-8754-A23B869F5098}"/>
              </a:ext>
            </a:extLst>
          </p:cNvPr>
          <p:cNvSpPr>
            <a:spLocks noGrp="1"/>
          </p:cNvSpPr>
          <p:nvPr/>
        </p:nvSpPr>
        <p:spPr>
          <a:xfrm>
            <a:off x="965508" y="3664164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O｜机会</a:t>
            </a:r>
          </a:p>
        </p:txBody>
      </p:sp>
      <p:sp>
        <p:nvSpPr>
          <p:cNvPr id="106" name="">
            <a:extLst>
              <a:ext uri="{FF2B5EF4-FFF2-40B4-BE49-F238E27FC236}">
                <a16:creationId id="{55CADDAA-61E8-40A8-BE5A-06071397FE74}"/>
              </a:ext>
            </a:extLst>
          </p:cNvPr>
          <p:cNvSpPr>
            <a:spLocks noGrp="1"/>
          </p:cNvSpPr>
          <p:nvPr/>
        </p:nvSpPr>
        <p:spPr>
          <a:xfrm>
            <a:off x="965508" y="4102314"/>
            <a:ext cx="4857750" cy="1390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模型迭代带来复测与迁移需求</a:t>
            </a:r>
          </a:p>
          <a:p>
            <a:pPr algn="l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数据治理和质量保证可形成复用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行动：先验证客户付费痛点</a:t>
            </a:r>
          </a:p>
        </p:txBody>
      </p:sp>
      <p:sp>
        <p:nvSpPr>
          <p:cNvPr id="107" name="">
            <a:extLst>
              <a:ext uri="{FF2B5EF4-FFF2-40B4-BE49-F238E27FC236}">
                <a16:creationId id="{5DD3B1D4-36F5-46F4-8278-19C7EC1BE5C2}"/>
              </a:ext>
            </a:extLst>
          </p:cNvPr>
          <p:cNvSpPr>
            <a:spLocks noGrp="1"/>
          </p:cNvSpPr>
          <p:nvPr/>
        </p:nvSpPr>
        <p:spPr>
          <a:xfrm>
            <a:off x="6328083" y="3664164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T｜威胁</a:t>
            </a:r>
          </a:p>
        </p:txBody>
      </p:sp>
      <p:sp>
        <p:nvSpPr>
          <p:cNvPr id="108" name="">
            <a:extLst>
              <a:ext uri="{FF2B5EF4-FFF2-40B4-BE49-F238E27FC236}">
                <a16:creationId id="{7FC2D8C7-34C4-4E4E-AAFF-6FA5A621809F}"/>
              </a:ext>
            </a:extLst>
          </p:cNvPr>
          <p:cNvSpPr>
            <a:spLocks noGrp="1"/>
          </p:cNvSpPr>
          <p:nvPr/>
        </p:nvSpPr>
        <p:spPr>
          <a:xfrm>
            <a:off x="6328083" y="4102314"/>
            <a:ext cx="4857750" cy="1390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客户自建、工具成熟与价格竞争</a:t>
            </a:r>
          </a:p>
          <a:p>
            <a:pPr algn="l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数据授权和设备责任增加成本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行动：明确资产边界与责任上限</a:t>
            </a:r>
          </a:p>
        </p:txBody>
      </p:sp>
      <p:sp>
        <p:nvSpPr>
          <p:cNvPr id="109" name="">
            <a:extLst>
              <a:ext uri="{FF2B5EF4-FFF2-40B4-BE49-F238E27FC236}">
                <a16:creationId id="{B6CB38AD-93E5-432F-B366-73F0550AB84C}"/>
              </a:ext>
            </a:extLst>
          </p:cNvPr>
          <p:cNvSpPr>
            <a:spLocks noGrp="1"/>
          </p:cNvSpPr>
          <p:nvPr/>
        </p:nvSpPr>
        <p:spPr>
          <a:xfrm>
            <a:off x="6089958" y="1740114"/>
            <a:ext cx="0" cy="3571875"/>
          </a:xfrm>
          <a:prstGeom prst="line">
            <a:avLst/>
          </a:prstGeom>
          <a:noFill/>
          <a:ln w="9525">
            <a:solidFill>
              <a:srgbClr val="666666"/>
            </a:solidFill>
          </a:ln>
        </p:spPr>
      </p:sp>
      <p:sp>
        <p:nvSpPr>
          <p:cNvPr id="110" name="">
            <a:extLst>
              <a:ext uri="{FF2B5EF4-FFF2-40B4-BE49-F238E27FC236}">
                <a16:creationId id="{2F6EE2BD-C04B-4317-9B92-E8AE7CA79EBD}"/>
              </a:ext>
            </a:extLst>
          </p:cNvPr>
          <p:cNvSpPr>
            <a:spLocks noGrp="1"/>
          </p:cNvSpPr>
          <p:nvPr/>
        </p:nvSpPr>
        <p:spPr>
          <a:xfrm>
            <a:off x="975033" y="3540339"/>
            <a:ext cx="10220325" cy="0"/>
          </a:xfrm>
          <a:prstGeom prst="line">
            <a:avLst/>
          </a:prstGeom>
          <a:noFill/>
          <a:ln w="9525">
            <a:solidFill>
              <a:srgbClr val="666666"/>
            </a:solidFill>
          </a:ln>
        </p:spPr>
      </p:sp>
      <p:sp>
        <p:nvSpPr>
          <p:cNvPr id="111" name="">
            <a:extLst>
              <a:ext uri="{FF2B5EF4-FFF2-40B4-BE49-F238E27FC236}">
                <a16:creationId id="{395A174F-8DAE-4C80-A83F-E6A05C0D348D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H34 · SWOT分析｜针对虚构试点的战略分析示例；深色仅用于正文面板，保留官方白色页壳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十二周计划以验收节点约束并行任务</a:t>
            </a:r>
          </a:p>
        </p:txBody>
      </p:sp>
      <p:sp>
        <p:nvSpPr>
          <p:cNvPr id="100" name="">
            <a:extLst>
              <a:ext uri="{FF2B5EF4-FFF2-40B4-BE49-F238E27FC236}">
                <a16:creationId id="{8D521109-BB72-4DFA-B022-4605AAC9D45E}"/>
              </a:ext>
            </a:extLst>
          </p:cNvPr>
          <p:cNvSpPr>
            <a:spLocks noGrp="1"/>
          </p:cNvSpPr>
          <p:nvPr/>
        </p:nvSpPr>
        <p:spPr>
          <a:xfrm>
            <a:off x="3070533" y="1521039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1" name="">
            <a:extLst>
              <a:ext uri="{FF2B5EF4-FFF2-40B4-BE49-F238E27FC236}">
                <a16:creationId id="{839ED84D-2C17-4671-B4F9-EF01685EFE8F}"/>
              </a:ext>
            </a:extLst>
          </p:cNvPr>
          <p:cNvSpPr>
            <a:spLocks noGrp="1"/>
          </p:cNvSpPr>
          <p:nvPr/>
        </p:nvSpPr>
        <p:spPr>
          <a:xfrm>
            <a:off x="3070533" y="1902039"/>
            <a:ext cx="0" cy="3171825"/>
          </a:xfrm>
          <a:prstGeom prst="line">
            <a:avLst/>
          </a:prstGeom>
          <a:noFill/>
          <a:ln w="9525">
            <a:solidFill>
              <a:srgbClr val="EBEBEB"/>
            </a:solidFill>
          </a:ln>
        </p:spPr>
      </p:sp>
      <p:sp>
        <p:nvSpPr>
          <p:cNvPr id="102" name="">
            <a:extLst>
              <a:ext uri="{FF2B5EF4-FFF2-40B4-BE49-F238E27FC236}">
                <a16:creationId id="{0E9651FD-E88A-4DDC-97E0-EB6580950841}"/>
              </a:ext>
            </a:extLst>
          </p:cNvPr>
          <p:cNvSpPr>
            <a:spLocks noGrp="1"/>
          </p:cNvSpPr>
          <p:nvPr/>
        </p:nvSpPr>
        <p:spPr>
          <a:xfrm>
            <a:off x="3718233" y="1521039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3" name="">
            <a:extLst>
              <a:ext uri="{FF2B5EF4-FFF2-40B4-BE49-F238E27FC236}">
                <a16:creationId id="{281C4D4E-EC6A-4579-95E0-E9C604FEA6FB}"/>
              </a:ext>
            </a:extLst>
          </p:cNvPr>
          <p:cNvSpPr>
            <a:spLocks noGrp="1"/>
          </p:cNvSpPr>
          <p:nvPr/>
        </p:nvSpPr>
        <p:spPr>
          <a:xfrm>
            <a:off x="3718233" y="1902039"/>
            <a:ext cx="0" cy="3171825"/>
          </a:xfrm>
          <a:prstGeom prst="line">
            <a:avLst/>
          </a:prstGeom>
          <a:noFill/>
          <a:ln w="9525">
            <a:solidFill>
              <a:srgbClr val="EBEBEB"/>
            </a:solidFill>
          </a:ln>
        </p:spPr>
      </p:sp>
      <p:sp>
        <p:nvSpPr>
          <p:cNvPr id="104" name="">
            <a:extLst>
              <a:ext uri="{FF2B5EF4-FFF2-40B4-BE49-F238E27FC236}">
                <a16:creationId id="{8AFEB14C-AB93-4D57-8D22-3A3B72F5533F}"/>
              </a:ext>
            </a:extLst>
          </p:cNvPr>
          <p:cNvSpPr>
            <a:spLocks noGrp="1"/>
          </p:cNvSpPr>
          <p:nvPr/>
        </p:nvSpPr>
        <p:spPr>
          <a:xfrm>
            <a:off x="4365933" y="1521039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5" name="">
            <a:extLst>
              <a:ext uri="{FF2B5EF4-FFF2-40B4-BE49-F238E27FC236}">
                <a16:creationId id="{0FAD8B14-DAC7-4BFF-929D-EB658D69C6E5}"/>
              </a:ext>
            </a:extLst>
          </p:cNvPr>
          <p:cNvSpPr>
            <a:spLocks noGrp="1"/>
          </p:cNvSpPr>
          <p:nvPr/>
        </p:nvSpPr>
        <p:spPr>
          <a:xfrm>
            <a:off x="4365933" y="1902039"/>
            <a:ext cx="0" cy="3171825"/>
          </a:xfrm>
          <a:prstGeom prst="line">
            <a:avLst/>
          </a:prstGeom>
          <a:noFill/>
          <a:ln w="9525">
            <a:solidFill>
              <a:srgbClr val="EBEBEB"/>
            </a:solidFill>
          </a:ln>
        </p:spPr>
      </p:sp>
      <p:sp>
        <p:nvSpPr>
          <p:cNvPr id="106" name="">
            <a:extLst>
              <a:ext uri="{FF2B5EF4-FFF2-40B4-BE49-F238E27FC236}">
                <a16:creationId id="{AA10B132-A696-449F-B74C-62E63F57D2C5}"/>
              </a:ext>
            </a:extLst>
          </p:cNvPr>
          <p:cNvSpPr>
            <a:spLocks noGrp="1"/>
          </p:cNvSpPr>
          <p:nvPr/>
        </p:nvSpPr>
        <p:spPr>
          <a:xfrm>
            <a:off x="5013633" y="1521039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7" name="">
            <a:extLst>
              <a:ext uri="{FF2B5EF4-FFF2-40B4-BE49-F238E27FC236}">
                <a16:creationId id="{83144E3E-62EB-4375-9719-36C0B7056296}"/>
              </a:ext>
            </a:extLst>
          </p:cNvPr>
          <p:cNvSpPr>
            <a:spLocks noGrp="1"/>
          </p:cNvSpPr>
          <p:nvPr/>
        </p:nvSpPr>
        <p:spPr>
          <a:xfrm>
            <a:off x="5013633" y="1902039"/>
            <a:ext cx="0" cy="3171825"/>
          </a:xfrm>
          <a:prstGeom prst="line">
            <a:avLst/>
          </a:prstGeom>
          <a:noFill/>
          <a:ln w="9525">
            <a:solidFill>
              <a:srgbClr val="EBEBEB"/>
            </a:solidFill>
          </a:ln>
        </p:spPr>
      </p:sp>
      <p:sp>
        <p:nvSpPr>
          <p:cNvPr id="108" name="">
            <a:extLst>
              <a:ext uri="{FF2B5EF4-FFF2-40B4-BE49-F238E27FC236}">
                <a16:creationId id="{7F141502-0BF8-4807-9211-3586DE7954AC}"/>
              </a:ext>
            </a:extLst>
          </p:cNvPr>
          <p:cNvSpPr>
            <a:spLocks noGrp="1"/>
          </p:cNvSpPr>
          <p:nvPr/>
        </p:nvSpPr>
        <p:spPr>
          <a:xfrm>
            <a:off x="5661333" y="1521039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09" name="">
            <a:extLst>
              <a:ext uri="{FF2B5EF4-FFF2-40B4-BE49-F238E27FC236}">
                <a16:creationId id="{305B0E47-07EE-4E14-97AB-FDE8D59D726D}"/>
              </a:ext>
            </a:extLst>
          </p:cNvPr>
          <p:cNvSpPr>
            <a:spLocks noGrp="1"/>
          </p:cNvSpPr>
          <p:nvPr/>
        </p:nvSpPr>
        <p:spPr>
          <a:xfrm>
            <a:off x="5661333" y="1902039"/>
            <a:ext cx="0" cy="3171825"/>
          </a:xfrm>
          <a:prstGeom prst="line">
            <a:avLst/>
          </a:prstGeom>
          <a:noFill/>
          <a:ln w="9525">
            <a:solidFill>
              <a:srgbClr val="EBEBEB"/>
            </a:solidFill>
          </a:ln>
        </p:spPr>
      </p:sp>
      <p:sp>
        <p:nvSpPr>
          <p:cNvPr id="110" name="">
            <a:extLst>
              <a:ext uri="{FF2B5EF4-FFF2-40B4-BE49-F238E27FC236}">
                <a16:creationId id="{A33F0A99-18E3-4584-AA18-2B1AEC9EAC01}"/>
              </a:ext>
            </a:extLst>
          </p:cNvPr>
          <p:cNvSpPr>
            <a:spLocks noGrp="1"/>
          </p:cNvSpPr>
          <p:nvPr/>
        </p:nvSpPr>
        <p:spPr>
          <a:xfrm>
            <a:off x="6309033" y="1521039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11" name="">
            <a:extLst>
              <a:ext uri="{FF2B5EF4-FFF2-40B4-BE49-F238E27FC236}">
                <a16:creationId id="{91F8FAC6-F373-45D9-8F13-B5F7F43BBFBD}"/>
              </a:ext>
            </a:extLst>
          </p:cNvPr>
          <p:cNvSpPr>
            <a:spLocks noGrp="1"/>
          </p:cNvSpPr>
          <p:nvPr/>
        </p:nvSpPr>
        <p:spPr>
          <a:xfrm>
            <a:off x="6309033" y="1902039"/>
            <a:ext cx="0" cy="3171825"/>
          </a:xfrm>
          <a:prstGeom prst="line">
            <a:avLst/>
          </a:prstGeom>
          <a:noFill/>
          <a:ln w="9525">
            <a:solidFill>
              <a:srgbClr val="EBEBEB"/>
            </a:solidFill>
          </a:ln>
        </p:spPr>
      </p:sp>
      <p:sp>
        <p:nvSpPr>
          <p:cNvPr id="112" name="">
            <a:extLst>
              <a:ext uri="{FF2B5EF4-FFF2-40B4-BE49-F238E27FC236}">
                <a16:creationId id="{BCA1A9D8-D531-44C4-8226-8FB0D1A3E5CD}"/>
              </a:ext>
            </a:extLst>
          </p:cNvPr>
          <p:cNvSpPr>
            <a:spLocks noGrp="1"/>
          </p:cNvSpPr>
          <p:nvPr/>
        </p:nvSpPr>
        <p:spPr>
          <a:xfrm>
            <a:off x="6956733" y="1521039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13" name="">
            <a:extLst>
              <a:ext uri="{FF2B5EF4-FFF2-40B4-BE49-F238E27FC236}">
                <a16:creationId id="{ED55205A-10DB-41B5-A426-8DD335CB577B}"/>
              </a:ext>
            </a:extLst>
          </p:cNvPr>
          <p:cNvSpPr>
            <a:spLocks noGrp="1"/>
          </p:cNvSpPr>
          <p:nvPr/>
        </p:nvSpPr>
        <p:spPr>
          <a:xfrm>
            <a:off x="6956733" y="1902039"/>
            <a:ext cx="0" cy="3171825"/>
          </a:xfrm>
          <a:prstGeom prst="line">
            <a:avLst/>
          </a:prstGeom>
          <a:noFill/>
          <a:ln w="9525">
            <a:solidFill>
              <a:srgbClr val="EBEBEB"/>
            </a:solidFill>
          </a:ln>
        </p:spPr>
      </p:sp>
      <p:sp>
        <p:nvSpPr>
          <p:cNvPr id="114" name="">
            <a:extLst>
              <a:ext uri="{FF2B5EF4-FFF2-40B4-BE49-F238E27FC236}">
                <a16:creationId id="{8140FE8E-0D08-461D-BD06-05A4E08E169E}"/>
              </a:ext>
            </a:extLst>
          </p:cNvPr>
          <p:cNvSpPr>
            <a:spLocks noGrp="1"/>
          </p:cNvSpPr>
          <p:nvPr/>
        </p:nvSpPr>
        <p:spPr>
          <a:xfrm>
            <a:off x="7604433" y="1521039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15" name="">
            <a:extLst>
              <a:ext uri="{FF2B5EF4-FFF2-40B4-BE49-F238E27FC236}">
                <a16:creationId id="{0191D0B4-A3C4-4D58-8AB4-A2CDF09A83E6}"/>
              </a:ext>
            </a:extLst>
          </p:cNvPr>
          <p:cNvSpPr>
            <a:spLocks noGrp="1"/>
          </p:cNvSpPr>
          <p:nvPr/>
        </p:nvSpPr>
        <p:spPr>
          <a:xfrm>
            <a:off x="7604433" y="1902039"/>
            <a:ext cx="0" cy="3171825"/>
          </a:xfrm>
          <a:prstGeom prst="line">
            <a:avLst/>
          </a:prstGeom>
          <a:noFill/>
          <a:ln w="9525">
            <a:solidFill>
              <a:srgbClr val="EBEBEB"/>
            </a:solidFill>
          </a:ln>
        </p:spPr>
      </p:sp>
      <p:sp>
        <p:nvSpPr>
          <p:cNvPr id="116" name="">
            <a:extLst>
              <a:ext uri="{FF2B5EF4-FFF2-40B4-BE49-F238E27FC236}">
                <a16:creationId id="{82E5D33A-C4CF-4E18-806F-7D5C23540953}"/>
              </a:ext>
            </a:extLst>
          </p:cNvPr>
          <p:cNvSpPr>
            <a:spLocks noGrp="1"/>
          </p:cNvSpPr>
          <p:nvPr/>
        </p:nvSpPr>
        <p:spPr>
          <a:xfrm>
            <a:off x="8252133" y="1521039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17" name="">
            <a:extLst>
              <a:ext uri="{FF2B5EF4-FFF2-40B4-BE49-F238E27FC236}">
                <a16:creationId id="{82B062F6-3AD0-42FE-B80A-98C97BCD2314}"/>
              </a:ext>
            </a:extLst>
          </p:cNvPr>
          <p:cNvSpPr>
            <a:spLocks noGrp="1"/>
          </p:cNvSpPr>
          <p:nvPr/>
        </p:nvSpPr>
        <p:spPr>
          <a:xfrm>
            <a:off x="8252133" y="1902039"/>
            <a:ext cx="0" cy="3171825"/>
          </a:xfrm>
          <a:prstGeom prst="line">
            <a:avLst/>
          </a:prstGeom>
          <a:noFill/>
          <a:ln w="9525">
            <a:solidFill>
              <a:srgbClr val="EBEBEB"/>
            </a:solidFill>
          </a:ln>
        </p:spPr>
      </p:sp>
      <p:sp>
        <p:nvSpPr>
          <p:cNvPr id="118" name="">
            <a:extLst>
              <a:ext uri="{FF2B5EF4-FFF2-40B4-BE49-F238E27FC236}">
                <a16:creationId id="{9E911CAA-2868-4EFE-B95D-4D8F6AB0DD8F}"/>
              </a:ext>
            </a:extLst>
          </p:cNvPr>
          <p:cNvSpPr>
            <a:spLocks noGrp="1"/>
          </p:cNvSpPr>
          <p:nvPr/>
        </p:nvSpPr>
        <p:spPr>
          <a:xfrm>
            <a:off x="8899833" y="1521039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19" name="">
            <a:extLst>
              <a:ext uri="{FF2B5EF4-FFF2-40B4-BE49-F238E27FC236}">
                <a16:creationId id="{B228B09D-0B68-4681-A130-D1FCDB27E773}"/>
              </a:ext>
            </a:extLst>
          </p:cNvPr>
          <p:cNvSpPr>
            <a:spLocks noGrp="1"/>
          </p:cNvSpPr>
          <p:nvPr/>
        </p:nvSpPr>
        <p:spPr>
          <a:xfrm>
            <a:off x="8899833" y="1902039"/>
            <a:ext cx="0" cy="3171825"/>
          </a:xfrm>
          <a:prstGeom prst="line">
            <a:avLst/>
          </a:prstGeom>
          <a:noFill/>
          <a:ln w="9525">
            <a:solidFill>
              <a:srgbClr val="EBEBEB"/>
            </a:solidFill>
          </a:ln>
        </p:spPr>
      </p:sp>
      <p:sp>
        <p:nvSpPr>
          <p:cNvPr id="120" name="">
            <a:extLst>
              <a:ext uri="{FF2B5EF4-FFF2-40B4-BE49-F238E27FC236}">
                <a16:creationId id="{60B228FE-0B60-4462-B999-D5EB585F7282}"/>
              </a:ext>
            </a:extLst>
          </p:cNvPr>
          <p:cNvSpPr>
            <a:spLocks noGrp="1"/>
          </p:cNvSpPr>
          <p:nvPr/>
        </p:nvSpPr>
        <p:spPr>
          <a:xfrm>
            <a:off x="9547533" y="1521039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21" name="">
            <a:extLst>
              <a:ext uri="{FF2B5EF4-FFF2-40B4-BE49-F238E27FC236}">
                <a16:creationId id="{BAAE202E-EEB1-48F2-A088-62210E7808F5}"/>
              </a:ext>
            </a:extLst>
          </p:cNvPr>
          <p:cNvSpPr>
            <a:spLocks noGrp="1"/>
          </p:cNvSpPr>
          <p:nvPr/>
        </p:nvSpPr>
        <p:spPr>
          <a:xfrm>
            <a:off x="9547533" y="1902039"/>
            <a:ext cx="0" cy="3171825"/>
          </a:xfrm>
          <a:prstGeom prst="line">
            <a:avLst/>
          </a:prstGeom>
          <a:noFill/>
          <a:ln w="9525">
            <a:solidFill>
              <a:srgbClr val="EBEBEB"/>
            </a:solidFill>
          </a:ln>
        </p:spPr>
      </p:sp>
      <p:sp>
        <p:nvSpPr>
          <p:cNvPr id="122" name="">
            <a:extLst>
              <a:ext uri="{FF2B5EF4-FFF2-40B4-BE49-F238E27FC236}">
                <a16:creationId id="{7DE736B5-FA03-4650-B885-3EECC729F78C}"/>
              </a:ext>
            </a:extLst>
          </p:cNvPr>
          <p:cNvSpPr>
            <a:spLocks noGrp="1"/>
          </p:cNvSpPr>
          <p:nvPr/>
        </p:nvSpPr>
        <p:spPr>
          <a:xfrm>
            <a:off x="10195233" y="1521039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23" name="">
            <a:extLst>
              <a:ext uri="{FF2B5EF4-FFF2-40B4-BE49-F238E27FC236}">
                <a16:creationId id="{3458E7AA-5386-472F-87C1-857B2CD66A41}"/>
              </a:ext>
            </a:extLst>
          </p:cNvPr>
          <p:cNvSpPr>
            <a:spLocks noGrp="1"/>
          </p:cNvSpPr>
          <p:nvPr/>
        </p:nvSpPr>
        <p:spPr>
          <a:xfrm>
            <a:off x="10195233" y="1902039"/>
            <a:ext cx="0" cy="3171825"/>
          </a:xfrm>
          <a:prstGeom prst="line">
            <a:avLst/>
          </a:prstGeom>
          <a:noFill/>
          <a:ln w="9525">
            <a:solidFill>
              <a:srgbClr val="EBEBEB"/>
            </a:solidFill>
          </a:ln>
        </p:spPr>
      </p:sp>
      <p:sp>
        <p:nvSpPr>
          <p:cNvPr id="124" name="">
            <a:extLst>
              <a:ext uri="{FF2B5EF4-FFF2-40B4-BE49-F238E27FC236}">
                <a16:creationId id="{7A51B1AB-62DA-4D95-B057-C6B140CBAD7F}"/>
              </a:ext>
            </a:extLst>
          </p:cNvPr>
          <p:cNvSpPr>
            <a:spLocks noGrp="1"/>
          </p:cNvSpPr>
          <p:nvPr/>
        </p:nvSpPr>
        <p:spPr>
          <a:xfrm>
            <a:off x="736908" y="2016339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需求与验收规格</a:t>
            </a:r>
          </a:p>
        </p:txBody>
      </p:sp>
      <p:sp>
        <p:nvSpPr>
          <p:cNvPr id="125" name="">
            <a:extLst>
              <a:ext uri="{FF2B5EF4-FFF2-40B4-BE49-F238E27FC236}">
                <a16:creationId id="{4EBB50B8-13B3-425D-AC17-C359FDF43065}"/>
              </a:ext>
            </a:extLst>
          </p:cNvPr>
          <p:cNvSpPr>
            <a:spLocks noGrp="1"/>
          </p:cNvSpPr>
          <p:nvPr/>
        </p:nvSpPr>
        <p:spPr>
          <a:xfrm>
            <a:off x="3099108" y="1978239"/>
            <a:ext cx="1238250" cy="304800"/>
          </a:xfrm>
          <a:prstGeom prst="rect">
            <a:avLst/>
          </a:prstGeom>
          <a:solidFill>
            <a:srgbClr val="919191"/>
          </a:solidFill>
          <a:ln w="0">
            <a:noFill/>
          </a:ln>
        </p:spPr>
      </p:sp>
      <p:sp>
        <p:nvSpPr>
          <p:cNvPr id="126" name="">
            <a:extLst>
              <a:ext uri="{FF2B5EF4-FFF2-40B4-BE49-F238E27FC236}">
                <a16:creationId id="{46D31142-0ECC-44CB-90F9-1DF76B9FED8D}"/>
              </a:ext>
            </a:extLst>
          </p:cNvPr>
          <p:cNvSpPr>
            <a:spLocks noGrp="1"/>
          </p:cNvSpPr>
          <p:nvPr/>
        </p:nvSpPr>
        <p:spPr>
          <a:xfrm>
            <a:off x="3165783" y="2035389"/>
            <a:ext cx="11049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</a:t>
            </a:r>
          </a:p>
        </p:txBody>
      </p:sp>
      <p:sp>
        <p:nvSpPr>
          <p:cNvPr id="127" name="">
            <a:extLst>
              <a:ext uri="{FF2B5EF4-FFF2-40B4-BE49-F238E27FC236}">
                <a16:creationId id="{D654A5C6-6DD2-45DC-BF9E-B20EE71D80D2}"/>
              </a:ext>
            </a:extLst>
          </p:cNvPr>
          <p:cNvSpPr>
            <a:spLocks noGrp="1"/>
          </p:cNvSpPr>
          <p:nvPr/>
        </p:nvSpPr>
        <p:spPr>
          <a:xfrm>
            <a:off x="736908" y="2530689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采集与数据质检</a:t>
            </a:r>
          </a:p>
        </p:txBody>
      </p:sp>
      <p:sp>
        <p:nvSpPr>
          <p:cNvPr id="128" name="">
            <a:extLst>
              <a:ext uri="{FF2B5EF4-FFF2-40B4-BE49-F238E27FC236}">
                <a16:creationId id="{A8AC0AA0-D012-4008-8885-179A15836FA4}"/>
              </a:ext>
            </a:extLst>
          </p:cNvPr>
          <p:cNvSpPr>
            <a:spLocks noGrp="1"/>
          </p:cNvSpPr>
          <p:nvPr/>
        </p:nvSpPr>
        <p:spPr>
          <a:xfrm>
            <a:off x="3746808" y="2492589"/>
            <a:ext cx="2533650" cy="304800"/>
          </a:xfrm>
          <a:prstGeom prst="rect">
            <a:avLst/>
          </a:prstGeom>
          <a:solidFill>
            <a:srgbClr val="919191"/>
          </a:solidFill>
          <a:ln w="0">
            <a:noFill/>
          </a:ln>
        </p:spPr>
      </p:sp>
      <p:sp>
        <p:nvSpPr>
          <p:cNvPr id="129" name="">
            <a:extLst>
              <a:ext uri="{FF2B5EF4-FFF2-40B4-BE49-F238E27FC236}">
                <a16:creationId id="{1EACD7BB-F088-4EEC-9F77-5D93BB144487}"/>
              </a:ext>
            </a:extLst>
          </p:cNvPr>
          <p:cNvSpPr>
            <a:spLocks noGrp="1"/>
          </p:cNvSpPr>
          <p:nvPr/>
        </p:nvSpPr>
        <p:spPr>
          <a:xfrm>
            <a:off x="3813483" y="2549739"/>
            <a:ext cx="24003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数据组</a:t>
            </a:r>
          </a:p>
        </p:txBody>
      </p:sp>
      <p:sp>
        <p:nvSpPr>
          <p:cNvPr id="130" name="">
            <a:extLst>
              <a:ext uri="{FF2B5EF4-FFF2-40B4-BE49-F238E27FC236}">
                <a16:creationId id="{85813E91-4A1E-422E-8728-8AF631A9E0A2}"/>
              </a:ext>
            </a:extLst>
          </p:cNvPr>
          <p:cNvSpPr>
            <a:spLocks noGrp="1"/>
          </p:cNvSpPr>
          <p:nvPr/>
        </p:nvSpPr>
        <p:spPr>
          <a:xfrm>
            <a:off x="736908" y="3045039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复现基线与剖析</a:t>
            </a:r>
          </a:p>
        </p:txBody>
      </p:sp>
      <p:sp>
        <p:nvSpPr>
          <p:cNvPr id="131" name="">
            <a:extLst>
              <a:ext uri="{FF2B5EF4-FFF2-40B4-BE49-F238E27FC236}">
                <a16:creationId id="{F2D2F8ED-7679-4B77-B5E6-A230A32B86BF}"/>
              </a:ext>
            </a:extLst>
          </p:cNvPr>
          <p:cNvSpPr>
            <a:spLocks noGrp="1"/>
          </p:cNvSpPr>
          <p:nvPr/>
        </p:nvSpPr>
        <p:spPr>
          <a:xfrm>
            <a:off x="4394508" y="3006939"/>
            <a:ext cx="2533650" cy="304800"/>
          </a:xfrm>
          <a:prstGeom prst="rect">
            <a:avLst/>
          </a:prstGeom>
          <a:solidFill>
            <a:srgbClr val="919191"/>
          </a:solidFill>
          <a:ln w="0">
            <a:noFill/>
          </a:ln>
        </p:spPr>
      </p:sp>
      <p:sp>
        <p:nvSpPr>
          <p:cNvPr id="132" name="">
            <a:extLst>
              <a:ext uri="{FF2B5EF4-FFF2-40B4-BE49-F238E27FC236}">
                <a16:creationId id="{25F3A729-A9D8-452A-A63E-047CF5BE09F3}"/>
              </a:ext>
            </a:extLst>
          </p:cNvPr>
          <p:cNvSpPr>
            <a:spLocks noGrp="1"/>
          </p:cNvSpPr>
          <p:nvPr/>
        </p:nvSpPr>
        <p:spPr>
          <a:xfrm>
            <a:off x="4461183" y="3064089"/>
            <a:ext cx="24003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系统组</a:t>
            </a:r>
          </a:p>
        </p:txBody>
      </p:sp>
      <p:sp>
        <p:nvSpPr>
          <p:cNvPr id="133" name="">
            <a:extLst>
              <a:ext uri="{FF2B5EF4-FFF2-40B4-BE49-F238E27FC236}">
                <a16:creationId id="{E733ECC4-4C0E-431D-9E56-DE578B245316}"/>
              </a:ext>
            </a:extLst>
          </p:cNvPr>
          <p:cNvSpPr>
            <a:spLocks noGrp="1"/>
          </p:cNvSpPr>
          <p:nvPr/>
        </p:nvSpPr>
        <p:spPr>
          <a:xfrm>
            <a:off x="736908" y="3559389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优化与受控对照</a:t>
            </a:r>
          </a:p>
        </p:txBody>
      </p:sp>
      <p:sp>
        <p:nvSpPr>
          <p:cNvPr id="134" name="">
            <a:extLst>
              <a:ext uri="{FF2B5EF4-FFF2-40B4-BE49-F238E27FC236}">
                <a16:creationId id="{32F9FD83-2E82-46C0-B96D-0317B98F441B}"/>
              </a:ext>
            </a:extLst>
          </p:cNvPr>
          <p:cNvSpPr>
            <a:spLocks noGrp="1"/>
          </p:cNvSpPr>
          <p:nvPr/>
        </p:nvSpPr>
        <p:spPr>
          <a:xfrm>
            <a:off x="6337608" y="3521289"/>
            <a:ext cx="2533650" cy="304800"/>
          </a:xfrm>
          <a:prstGeom prst="rect">
            <a:avLst/>
          </a:prstGeom>
          <a:solidFill>
            <a:srgbClr val="919191"/>
          </a:solidFill>
          <a:ln w="0">
            <a:noFill/>
          </a:ln>
        </p:spPr>
      </p:sp>
      <p:sp>
        <p:nvSpPr>
          <p:cNvPr id="135" name="">
            <a:extLst>
              <a:ext uri="{FF2B5EF4-FFF2-40B4-BE49-F238E27FC236}">
                <a16:creationId id="{B472E523-D981-4950-97E6-039BDA406AD5}"/>
              </a:ext>
            </a:extLst>
          </p:cNvPr>
          <p:cNvSpPr>
            <a:spLocks noGrp="1"/>
          </p:cNvSpPr>
          <p:nvPr/>
        </p:nvSpPr>
        <p:spPr>
          <a:xfrm>
            <a:off x="6404283" y="3578439"/>
            <a:ext cx="24003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算法/系统</a:t>
            </a:r>
          </a:p>
        </p:txBody>
      </p:sp>
      <p:sp>
        <p:nvSpPr>
          <p:cNvPr id="136" name="">
            <a:extLst>
              <a:ext uri="{FF2B5EF4-FFF2-40B4-BE49-F238E27FC236}">
                <a16:creationId id="{B1C95085-94FF-4576-92AC-E3999BE82FD4}"/>
              </a:ext>
            </a:extLst>
          </p:cNvPr>
          <p:cNvSpPr>
            <a:spLocks noGrp="1"/>
          </p:cNvSpPr>
          <p:nvPr/>
        </p:nvSpPr>
        <p:spPr>
          <a:xfrm>
            <a:off x="736908" y="4073739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现场回归与复测</a:t>
            </a:r>
          </a:p>
        </p:txBody>
      </p:sp>
      <p:sp>
        <p:nvSpPr>
          <p:cNvPr id="137" name="">
            <a:extLst>
              <a:ext uri="{FF2B5EF4-FFF2-40B4-BE49-F238E27FC236}">
                <a16:creationId id="{EF58C7FC-17FA-4FA5-A895-2C2021CB0C00}"/>
              </a:ext>
            </a:extLst>
          </p:cNvPr>
          <p:cNvSpPr>
            <a:spLocks noGrp="1"/>
          </p:cNvSpPr>
          <p:nvPr/>
        </p:nvSpPr>
        <p:spPr>
          <a:xfrm>
            <a:off x="8280708" y="4035639"/>
            <a:ext cx="1885950" cy="304800"/>
          </a:xfrm>
          <a:prstGeom prst="rect">
            <a:avLst/>
          </a:prstGeom>
          <a:solidFill>
            <a:srgbClr val="919191"/>
          </a:solidFill>
          <a:ln w="0">
            <a:noFill/>
          </a:ln>
        </p:spPr>
      </p:sp>
      <p:sp>
        <p:nvSpPr>
          <p:cNvPr id="138" name="">
            <a:extLst>
              <a:ext uri="{FF2B5EF4-FFF2-40B4-BE49-F238E27FC236}">
                <a16:creationId id="{DD7F9ABD-FCA9-4EF0-B702-68D96C5B039B}"/>
              </a:ext>
            </a:extLst>
          </p:cNvPr>
          <p:cNvSpPr>
            <a:spLocks noGrp="1"/>
          </p:cNvSpPr>
          <p:nvPr/>
        </p:nvSpPr>
        <p:spPr>
          <a:xfrm>
            <a:off x="8347383" y="4092789"/>
            <a:ext cx="1752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验证组</a:t>
            </a:r>
          </a:p>
        </p:txBody>
      </p:sp>
      <p:sp>
        <p:nvSpPr>
          <p:cNvPr id="139" name="">
            <a:extLst>
              <a:ext uri="{FF2B5EF4-FFF2-40B4-BE49-F238E27FC236}">
                <a16:creationId id="{391B6300-36D3-4E04-AD79-12621E0E3AEE}"/>
              </a:ext>
            </a:extLst>
          </p:cNvPr>
          <p:cNvSpPr>
            <a:spLocks noGrp="1"/>
          </p:cNvSpPr>
          <p:nvPr/>
        </p:nvSpPr>
        <p:spPr>
          <a:xfrm>
            <a:off x="736908" y="4588089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交付与知识移交</a:t>
            </a:r>
          </a:p>
        </p:txBody>
      </p:sp>
      <p:sp>
        <p:nvSpPr>
          <p:cNvPr id="140" name="">
            <a:extLst>
              <a:ext uri="{FF2B5EF4-FFF2-40B4-BE49-F238E27FC236}">
                <a16:creationId id="{5C023BDF-3E2E-4D2A-A021-E1A0FD6EDB46}"/>
              </a:ext>
            </a:extLst>
          </p:cNvPr>
          <p:cNvSpPr>
            <a:spLocks noGrp="1"/>
          </p:cNvSpPr>
          <p:nvPr/>
        </p:nvSpPr>
        <p:spPr>
          <a:xfrm>
            <a:off x="9576108" y="4549989"/>
            <a:ext cx="1238250" cy="304800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41" name="">
            <a:extLst>
              <a:ext uri="{FF2B5EF4-FFF2-40B4-BE49-F238E27FC236}">
                <a16:creationId id="{E042DFC0-189D-48DC-B6A2-ECBC93D7ABC1}"/>
              </a:ext>
            </a:extLst>
          </p:cNvPr>
          <p:cNvSpPr>
            <a:spLocks noGrp="1"/>
          </p:cNvSpPr>
          <p:nvPr/>
        </p:nvSpPr>
        <p:spPr>
          <a:xfrm>
            <a:off x="9642783" y="4607139"/>
            <a:ext cx="11049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共同验收</a:t>
            </a:r>
          </a:p>
        </p:txBody>
      </p:sp>
      <p:sp>
        <p:nvSpPr>
          <p:cNvPr id="142" name="">
            <a:extLst>
              <a:ext uri="{FF2B5EF4-FFF2-40B4-BE49-F238E27FC236}">
                <a16:creationId id="{9701ED4C-B60E-4C1D-A98E-12824212D3EA}"/>
              </a:ext>
            </a:extLst>
          </p:cNvPr>
          <p:cNvSpPr>
            <a:spLocks noGrp="1"/>
          </p:cNvSpPr>
          <p:nvPr/>
        </p:nvSpPr>
        <p:spPr>
          <a:xfrm>
            <a:off x="3070533" y="5188164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W2：规格冻结</a:t>
            </a:r>
          </a:p>
        </p:txBody>
      </p:sp>
      <p:sp>
        <p:nvSpPr>
          <p:cNvPr id="143" name="">
            <a:extLst>
              <a:ext uri="{FF2B5EF4-FFF2-40B4-BE49-F238E27FC236}">
                <a16:creationId id="{0287FA99-35DD-4532-9648-5FC8F8D0A5DC}"/>
              </a:ext>
            </a:extLst>
          </p:cNvPr>
          <p:cNvSpPr>
            <a:spLocks noGrp="1"/>
          </p:cNvSpPr>
          <p:nvPr/>
        </p:nvSpPr>
        <p:spPr>
          <a:xfrm>
            <a:off x="5928033" y="5188164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W6：基线确认</a:t>
            </a:r>
          </a:p>
        </p:txBody>
      </p:sp>
      <p:sp>
        <p:nvSpPr>
          <p:cNvPr id="144" name="">
            <a:extLst>
              <a:ext uri="{FF2B5EF4-FFF2-40B4-BE49-F238E27FC236}">
                <a16:creationId id="{365D1AD1-A006-4A9D-B21C-A26880DE10BD}"/>
              </a:ext>
            </a:extLst>
          </p:cNvPr>
          <p:cNvSpPr>
            <a:spLocks noGrp="1"/>
          </p:cNvSpPr>
          <p:nvPr/>
        </p:nvSpPr>
        <p:spPr>
          <a:xfrm>
            <a:off x="8833158" y="5188164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W12：交付验收</a:t>
            </a:r>
          </a:p>
        </p:txBody>
      </p:sp>
      <p:sp>
        <p:nvSpPr>
          <p:cNvPr id="145" name="">
            <a:extLst>
              <a:ext uri="{FF2B5EF4-FFF2-40B4-BE49-F238E27FC236}">
                <a16:creationId id="{17C8C4C0-EDEF-459A-B686-6D307B69F37D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H35 · 甘特计划｜建议12周排期；依赖为规格→基线→对照→复测，实际资源与周期待确认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客户反馈应转化为可验证的需求</a:t>
            </a:r>
          </a:p>
        </p:txBody>
      </p:sp>
      <p:sp>
        <p:nvSpPr>
          <p:cNvPr id="100" name="">
            <a:extLst>
              <a:ext uri="{FF2B5EF4-FFF2-40B4-BE49-F238E27FC236}">
                <a16:creationId id="{9FEFBEAC-E013-4459-8CD6-43C4308A09FE}"/>
              </a:ext>
            </a:extLst>
          </p:cNvPr>
          <p:cNvSpPr>
            <a:spLocks noGrp="1"/>
          </p:cNvSpPr>
          <p:nvPr/>
        </p:nvSpPr>
        <p:spPr>
          <a:xfrm>
            <a:off x="736908" y="1530564"/>
            <a:ext cx="533400" cy="533400"/>
          </a:xfrm>
          <a:prstGeom prst="ellipse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1" name="">
            <a:extLst>
              <a:ext uri="{FF2B5EF4-FFF2-40B4-BE49-F238E27FC236}">
                <a16:creationId id="{3125B8D2-E704-4CB4-8A5C-3BDEAD54AF79}"/>
              </a:ext>
            </a:extLst>
          </p:cNvPr>
          <p:cNvSpPr>
            <a:spLocks noGrp="1"/>
          </p:cNvSpPr>
          <p:nvPr/>
        </p:nvSpPr>
        <p:spPr>
          <a:xfrm>
            <a:off x="860733" y="1616289"/>
            <a:ext cx="28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2" name="">
            <a:extLst>
              <a:ext uri="{FF2B5EF4-FFF2-40B4-BE49-F238E27FC236}">
                <a16:creationId id="{D9D75861-72EA-4A01-9A5B-E012366AC24E}"/>
              </a:ext>
            </a:extLst>
          </p:cNvPr>
          <p:cNvSpPr>
            <a:spLocks noGrp="1"/>
          </p:cNvSpPr>
          <p:nvPr/>
        </p:nvSpPr>
        <p:spPr>
          <a:xfrm>
            <a:off x="1470333" y="1616289"/>
            <a:ext cx="2692027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研发负责人</a:t>
            </a:r>
          </a:p>
        </p:txBody>
      </p:sp>
      <p:sp>
        <p:nvSpPr>
          <p:cNvPr id="103" name="">
            <a:extLst>
              <a:ext uri="{FF2B5EF4-FFF2-40B4-BE49-F238E27FC236}">
                <a16:creationId id="{CADE52E9-B72A-48F0-B8A3-460CEB54DC33}"/>
              </a:ext>
            </a:extLst>
          </p:cNvPr>
          <p:cNvSpPr>
            <a:spLocks noGrp="1"/>
          </p:cNvSpPr>
          <p:nvPr/>
        </p:nvSpPr>
        <p:spPr>
          <a:xfrm>
            <a:off x="736908" y="2444964"/>
            <a:ext cx="3425452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“希望换一位工程师，也能把同一结果跑出来。”</a:t>
            </a:r>
          </a:p>
        </p:txBody>
      </p:sp>
      <p:sp>
        <p:nvSpPr>
          <p:cNvPr id="104" name="">
            <a:extLst>
              <a:ext uri="{FF2B5EF4-FFF2-40B4-BE49-F238E27FC236}">
                <a16:creationId id="{16DE8526-196D-4F71-9C0B-76BB1EBBE882}"/>
              </a:ext>
            </a:extLst>
          </p:cNvPr>
          <p:cNvSpPr>
            <a:spLocks noGrp="1"/>
          </p:cNvSpPr>
          <p:nvPr/>
        </p:nvSpPr>
        <p:spPr>
          <a:xfrm>
            <a:off x="736908" y="3711789"/>
            <a:ext cx="3425452" cy="14288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5" name="">
            <a:extLst>
              <a:ext uri="{FF2B5EF4-FFF2-40B4-BE49-F238E27FC236}">
                <a16:creationId id="{EEA49537-313C-40F9-99FA-82DE0B4EE34E}"/>
              </a:ext>
            </a:extLst>
          </p:cNvPr>
          <p:cNvSpPr>
            <a:spLocks noGrp="1"/>
          </p:cNvSpPr>
          <p:nvPr/>
        </p:nvSpPr>
        <p:spPr>
          <a:xfrm>
            <a:off x="736908" y="4026114"/>
            <a:ext cx="3425452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需求：环境、数据与配方一起交付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验证：独立复跑并比对结果</a:t>
            </a:r>
          </a:p>
        </p:txBody>
      </p:sp>
      <p:sp>
        <p:nvSpPr>
          <p:cNvPr id="106" name="">
            <a:extLst>
              <a:ext uri="{FF2B5EF4-FFF2-40B4-BE49-F238E27FC236}">
                <a16:creationId id="{769B7FCF-D5FC-4574-88A2-98EFF866511B}"/>
              </a:ext>
            </a:extLst>
          </p:cNvPr>
          <p:cNvSpPr>
            <a:spLocks noGrp="1"/>
          </p:cNvSpPr>
          <p:nvPr/>
        </p:nvSpPr>
        <p:spPr>
          <a:xfrm>
            <a:off x="4390960" y="1530564"/>
            <a:ext cx="533400" cy="533400"/>
          </a:xfrm>
          <a:prstGeom prst="ellipse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7" name="">
            <a:extLst>
              <a:ext uri="{FF2B5EF4-FFF2-40B4-BE49-F238E27FC236}">
                <a16:creationId id="{585A8339-82B0-4BDF-AC03-7DA580757819}"/>
              </a:ext>
            </a:extLst>
          </p:cNvPr>
          <p:cNvSpPr>
            <a:spLocks noGrp="1"/>
          </p:cNvSpPr>
          <p:nvPr/>
        </p:nvSpPr>
        <p:spPr>
          <a:xfrm>
            <a:off x="4514785" y="1616289"/>
            <a:ext cx="28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8" name="">
            <a:extLst>
              <a:ext uri="{FF2B5EF4-FFF2-40B4-BE49-F238E27FC236}">
                <a16:creationId id="{6ADD0FF3-50CD-40C0-BDFC-1FDC7A070769}"/>
              </a:ext>
            </a:extLst>
          </p:cNvPr>
          <p:cNvSpPr>
            <a:spLocks noGrp="1"/>
          </p:cNvSpPr>
          <p:nvPr/>
        </p:nvSpPr>
        <p:spPr>
          <a:xfrm>
            <a:off x="5124385" y="1616289"/>
            <a:ext cx="2692027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现场负责人</a:t>
            </a:r>
          </a:p>
        </p:txBody>
      </p:sp>
      <p:sp>
        <p:nvSpPr>
          <p:cNvPr id="109" name="">
            <a:extLst>
              <a:ext uri="{FF2B5EF4-FFF2-40B4-BE49-F238E27FC236}">
                <a16:creationId id="{1136E219-659B-401E-BC48-E2FBE59E7B59}"/>
              </a:ext>
            </a:extLst>
          </p:cNvPr>
          <p:cNvSpPr>
            <a:spLocks noGrp="1"/>
          </p:cNvSpPr>
          <p:nvPr/>
        </p:nvSpPr>
        <p:spPr>
          <a:xfrm>
            <a:off x="4390960" y="2444964"/>
            <a:ext cx="3425452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“最需要知道失败后如何恢复，而不只是成功视频。”</a:t>
            </a:r>
          </a:p>
        </p:txBody>
      </p:sp>
      <p:sp>
        <p:nvSpPr>
          <p:cNvPr id="110" name="">
            <a:extLst>
              <a:ext uri="{FF2B5EF4-FFF2-40B4-BE49-F238E27FC236}">
                <a16:creationId id="{35D66CDF-0ED3-4074-AF6A-41C69033032D}"/>
              </a:ext>
            </a:extLst>
          </p:cNvPr>
          <p:cNvSpPr>
            <a:spLocks noGrp="1"/>
          </p:cNvSpPr>
          <p:nvPr/>
        </p:nvSpPr>
        <p:spPr>
          <a:xfrm>
            <a:off x="4390960" y="3711789"/>
            <a:ext cx="3425452" cy="14288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1" name="">
            <a:extLst>
              <a:ext uri="{FF2B5EF4-FFF2-40B4-BE49-F238E27FC236}">
                <a16:creationId id="{0A62CF13-D4EB-4430-8D2E-3D79E5925F49}"/>
              </a:ext>
            </a:extLst>
          </p:cNvPr>
          <p:cNvSpPr>
            <a:spLocks noGrp="1"/>
          </p:cNvSpPr>
          <p:nvPr/>
        </p:nvSpPr>
        <p:spPr>
          <a:xfrm>
            <a:off x="4390960" y="4026114"/>
            <a:ext cx="3425452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需求：异常分类、接管与回滚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验证：固定失败用例现场回归</a:t>
            </a:r>
          </a:p>
        </p:txBody>
      </p:sp>
      <p:sp>
        <p:nvSpPr>
          <p:cNvPr id="112" name="">
            <a:extLst>
              <a:ext uri="{FF2B5EF4-FFF2-40B4-BE49-F238E27FC236}">
                <a16:creationId id="{8EF45F6A-0C10-4FD6-91DF-73BE8BE99E94}"/>
              </a:ext>
            </a:extLst>
          </p:cNvPr>
          <p:cNvSpPr>
            <a:spLocks noGrp="1"/>
          </p:cNvSpPr>
          <p:nvPr/>
        </p:nvSpPr>
        <p:spPr>
          <a:xfrm>
            <a:off x="8045013" y="1530564"/>
            <a:ext cx="533400" cy="533400"/>
          </a:xfrm>
          <a:prstGeom prst="ellipse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3" name="">
            <a:extLst>
              <a:ext uri="{FF2B5EF4-FFF2-40B4-BE49-F238E27FC236}">
                <a16:creationId id="{DD368CA3-683E-4382-A4C4-7BAC2D6C3399}"/>
              </a:ext>
            </a:extLst>
          </p:cNvPr>
          <p:cNvSpPr>
            <a:spLocks noGrp="1"/>
          </p:cNvSpPr>
          <p:nvPr/>
        </p:nvSpPr>
        <p:spPr>
          <a:xfrm>
            <a:off x="8168838" y="1616289"/>
            <a:ext cx="28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4" name="">
            <a:extLst>
              <a:ext uri="{FF2B5EF4-FFF2-40B4-BE49-F238E27FC236}">
                <a16:creationId id="{CEB0BA38-C266-43B0-A518-3A2464A76846}"/>
              </a:ext>
            </a:extLst>
          </p:cNvPr>
          <p:cNvSpPr>
            <a:spLocks noGrp="1"/>
          </p:cNvSpPr>
          <p:nvPr/>
        </p:nvSpPr>
        <p:spPr>
          <a:xfrm>
            <a:off x="8778438" y="1616289"/>
            <a:ext cx="2692027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采购负责人</a:t>
            </a:r>
          </a:p>
        </p:txBody>
      </p:sp>
      <p:sp>
        <p:nvSpPr>
          <p:cNvPr id="115" name="">
            <a:extLst>
              <a:ext uri="{FF2B5EF4-FFF2-40B4-BE49-F238E27FC236}">
                <a16:creationId id="{2DDDBC43-2C60-42E8-806D-7513C44E5858}"/>
              </a:ext>
            </a:extLst>
          </p:cNvPr>
          <p:cNvSpPr>
            <a:spLocks noGrp="1"/>
          </p:cNvSpPr>
          <p:nvPr/>
        </p:nvSpPr>
        <p:spPr>
          <a:xfrm>
            <a:off x="8045013" y="2444964"/>
            <a:ext cx="3425452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“先说清楚交付范围和变更如何计价。”</a:t>
            </a:r>
          </a:p>
        </p:txBody>
      </p:sp>
      <p:sp>
        <p:nvSpPr>
          <p:cNvPr id="116" name="">
            <a:extLst>
              <a:ext uri="{FF2B5EF4-FFF2-40B4-BE49-F238E27FC236}">
                <a16:creationId id="{156EDD49-7965-4FFE-9646-ECA1F196875A}"/>
              </a:ext>
            </a:extLst>
          </p:cNvPr>
          <p:cNvSpPr>
            <a:spLocks noGrp="1"/>
          </p:cNvSpPr>
          <p:nvPr/>
        </p:nvSpPr>
        <p:spPr>
          <a:xfrm>
            <a:off x="8045013" y="3711789"/>
            <a:ext cx="3425452" cy="14288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7" name="">
            <a:extLst>
              <a:ext uri="{FF2B5EF4-FFF2-40B4-BE49-F238E27FC236}">
                <a16:creationId id="{692E0BF7-3ACB-459B-8734-5B25C8959537}"/>
              </a:ext>
            </a:extLst>
          </p:cNvPr>
          <p:cNvSpPr>
            <a:spLocks noGrp="1"/>
          </p:cNvSpPr>
          <p:nvPr/>
        </p:nvSpPr>
        <p:spPr>
          <a:xfrm>
            <a:off x="8045013" y="4026114"/>
            <a:ext cx="3425452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需求：边界、验收和额外成本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验证：合同清单与分阶段验收</a:t>
            </a:r>
          </a:p>
        </p:txBody>
      </p:sp>
      <p:sp>
        <p:nvSpPr>
          <p:cNvPr id="118" name="">
            <a:extLst>
              <a:ext uri="{FF2B5EF4-FFF2-40B4-BE49-F238E27FC236}">
                <a16:creationId id="{40452DF8-BBB9-42E0-B1AA-4EC0BA45D08C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H36 · 客户反馈｜虚构访谈情景，非真实客户证言或合作背书；用于示范如何把反馈转成验收项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自动执行与人工门禁共同构成闭环</a:t>
            </a:r>
          </a:p>
        </p:txBody>
      </p:sp>
      <p:sp>
        <p:nvSpPr>
          <p:cNvPr id="100" name="">
            <a:extLst>
              <a:ext uri="{FF2B5EF4-FFF2-40B4-BE49-F238E27FC236}">
                <a16:creationId id="{EDA9DD19-F2BE-4B29-BAB2-B7EEC54FC788}"/>
              </a:ext>
            </a:extLst>
          </p:cNvPr>
          <p:cNvSpPr>
            <a:spLocks noGrp="1"/>
          </p:cNvSpPr>
          <p:nvPr/>
        </p:nvSpPr>
        <p:spPr>
          <a:xfrm>
            <a:off x="1403658" y="1501989"/>
            <a:ext cx="9944100" cy="733425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1" name="">
            <a:extLst>
              <a:ext uri="{FF2B5EF4-FFF2-40B4-BE49-F238E27FC236}">
                <a16:creationId id="{C1FA8C12-BA64-4D0E-B014-25957915E8FD}"/>
              </a:ext>
            </a:extLst>
          </p:cNvPr>
          <p:cNvSpPr>
            <a:spLocks noGrp="1"/>
          </p:cNvSpPr>
          <p:nvPr/>
        </p:nvSpPr>
        <p:spPr>
          <a:xfrm>
            <a:off x="1537008" y="1616289"/>
            <a:ext cx="9677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人工治理</a:t>
            </a:r>
          </a:p>
        </p:txBody>
      </p:sp>
      <p:sp>
        <p:nvSpPr>
          <p:cNvPr id="102" name="">
            <a:extLst>
              <a:ext uri="{FF2B5EF4-FFF2-40B4-BE49-F238E27FC236}">
                <a16:creationId id="{711EF850-EA06-4221-B664-4A550CCFE825}"/>
              </a:ext>
            </a:extLst>
          </p:cNvPr>
          <p:cNvSpPr>
            <a:spLocks noGrp="1"/>
          </p:cNvSpPr>
          <p:nvPr/>
        </p:nvSpPr>
        <p:spPr>
          <a:xfrm>
            <a:off x="1537008" y="1968714"/>
            <a:ext cx="9677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目标、预算、工具权限、发布与回滚边界</a:t>
            </a:r>
          </a:p>
        </p:txBody>
      </p:sp>
      <p:sp>
        <p:nvSpPr>
          <p:cNvPr id="103" name="">
            <a:extLst>
              <a:ext uri="{FF2B5EF4-FFF2-40B4-BE49-F238E27FC236}">
                <a16:creationId id="{DC5579CF-970D-4935-8816-043E40486935}"/>
              </a:ext>
            </a:extLst>
          </p:cNvPr>
          <p:cNvSpPr>
            <a:spLocks noGrp="1"/>
          </p:cNvSpPr>
          <p:nvPr/>
        </p:nvSpPr>
        <p:spPr>
          <a:xfrm>
            <a:off x="1403658" y="2816439"/>
            <a:ext cx="2857500" cy="99060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4" name="">
            <a:extLst>
              <a:ext uri="{FF2B5EF4-FFF2-40B4-BE49-F238E27FC236}">
                <a16:creationId id="{84524069-33D8-4667-AEFE-B6D39E9FB194}"/>
              </a:ext>
            </a:extLst>
          </p:cNvPr>
          <p:cNvSpPr>
            <a:spLocks noGrp="1"/>
          </p:cNvSpPr>
          <p:nvPr/>
        </p:nvSpPr>
        <p:spPr>
          <a:xfrm>
            <a:off x="1537008" y="2930739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任务拆解</a:t>
            </a:r>
          </a:p>
        </p:txBody>
      </p:sp>
      <p:sp>
        <p:nvSpPr>
          <p:cNvPr id="105" name="">
            <a:extLst>
              <a:ext uri="{FF2B5EF4-FFF2-40B4-BE49-F238E27FC236}">
                <a16:creationId id="{A921F79D-479B-4409-A0AF-19978CB5E272}"/>
              </a:ext>
            </a:extLst>
          </p:cNvPr>
          <p:cNvSpPr>
            <a:spLocks noGrp="1"/>
          </p:cNvSpPr>
          <p:nvPr/>
        </p:nvSpPr>
        <p:spPr>
          <a:xfrm>
            <a:off x="1537008" y="3283164"/>
            <a:ext cx="2590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读取规格与上下文</a:t>
            </a:r>
          </a:p>
        </p:txBody>
      </p:sp>
      <p:sp>
        <p:nvSpPr>
          <p:cNvPr id="106" name="">
            <a:extLst>
              <a:ext uri="{FF2B5EF4-FFF2-40B4-BE49-F238E27FC236}">
                <a16:creationId id="{33F20589-7BF9-42C5-87CF-4AE0DA8A44C2}"/>
              </a:ext>
            </a:extLst>
          </p:cNvPr>
          <p:cNvSpPr>
            <a:spLocks noGrp="1"/>
          </p:cNvSpPr>
          <p:nvPr/>
        </p:nvSpPr>
        <p:spPr>
          <a:xfrm>
            <a:off x="4451658" y="3226014"/>
            <a:ext cx="247650" cy="161925"/>
          </a:xfrm>
          <a:prstGeom prst="right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7" name="">
            <a:extLst>
              <a:ext uri="{FF2B5EF4-FFF2-40B4-BE49-F238E27FC236}">
                <a16:creationId id="{7E065F27-193E-419A-8968-8EF56E3F9FEC}"/>
              </a:ext>
            </a:extLst>
          </p:cNvPr>
          <p:cNvSpPr>
            <a:spLocks noGrp="1"/>
          </p:cNvSpPr>
          <p:nvPr/>
        </p:nvSpPr>
        <p:spPr>
          <a:xfrm>
            <a:off x="4946958" y="2816439"/>
            <a:ext cx="2857500" cy="99060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8" name="">
            <a:extLst>
              <a:ext uri="{FF2B5EF4-FFF2-40B4-BE49-F238E27FC236}">
                <a16:creationId id="{F6F5298E-9267-48C3-B5BF-B9486581FBBF}"/>
              </a:ext>
            </a:extLst>
          </p:cNvPr>
          <p:cNvSpPr>
            <a:spLocks noGrp="1"/>
          </p:cNvSpPr>
          <p:nvPr/>
        </p:nvSpPr>
        <p:spPr>
          <a:xfrm>
            <a:off x="5080308" y="2930739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执行工具</a:t>
            </a:r>
          </a:p>
        </p:txBody>
      </p:sp>
      <p:sp>
        <p:nvSpPr>
          <p:cNvPr id="109" name="">
            <a:extLst>
              <a:ext uri="{FF2B5EF4-FFF2-40B4-BE49-F238E27FC236}">
                <a16:creationId id="{610E05D1-6B11-441E-84EB-E3EF72DBBCC4}"/>
              </a:ext>
            </a:extLst>
          </p:cNvPr>
          <p:cNvSpPr>
            <a:spLocks noGrp="1"/>
          </p:cNvSpPr>
          <p:nvPr/>
        </p:nvSpPr>
        <p:spPr>
          <a:xfrm>
            <a:off x="5080308" y="3283164"/>
            <a:ext cx="2590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生成候选与实验</a:t>
            </a:r>
          </a:p>
        </p:txBody>
      </p:sp>
      <p:sp>
        <p:nvSpPr>
          <p:cNvPr id="110" name="">
            <a:extLst>
              <a:ext uri="{FF2B5EF4-FFF2-40B4-BE49-F238E27FC236}">
                <a16:creationId id="{11420CFE-2060-45F4-9B39-920D2BCAEE5C}"/>
              </a:ext>
            </a:extLst>
          </p:cNvPr>
          <p:cNvSpPr>
            <a:spLocks noGrp="1"/>
          </p:cNvSpPr>
          <p:nvPr/>
        </p:nvSpPr>
        <p:spPr>
          <a:xfrm>
            <a:off x="7994958" y="3226014"/>
            <a:ext cx="247650" cy="161925"/>
          </a:xfrm>
          <a:prstGeom prst="right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1" name="">
            <a:extLst>
              <a:ext uri="{FF2B5EF4-FFF2-40B4-BE49-F238E27FC236}">
                <a16:creationId id="{25A26823-4251-4E0B-89DF-B7AD17DD4142}"/>
              </a:ext>
            </a:extLst>
          </p:cNvPr>
          <p:cNvSpPr>
            <a:spLocks noGrp="1"/>
          </p:cNvSpPr>
          <p:nvPr/>
        </p:nvSpPr>
        <p:spPr>
          <a:xfrm>
            <a:off x="8490258" y="2816439"/>
            <a:ext cx="2857500" cy="99060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2" name="">
            <a:extLst>
              <a:ext uri="{FF2B5EF4-FFF2-40B4-BE49-F238E27FC236}">
                <a16:creationId id="{D2CFDB0F-5FA7-4FB1-8C6F-31B676CB51D1}"/>
              </a:ext>
            </a:extLst>
          </p:cNvPr>
          <p:cNvSpPr>
            <a:spLocks noGrp="1"/>
          </p:cNvSpPr>
          <p:nvPr/>
        </p:nvSpPr>
        <p:spPr>
          <a:xfrm>
            <a:off x="8623608" y="2930739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自动验证</a:t>
            </a:r>
          </a:p>
        </p:txBody>
      </p:sp>
      <p:sp>
        <p:nvSpPr>
          <p:cNvPr id="113" name="">
            <a:extLst>
              <a:ext uri="{FF2B5EF4-FFF2-40B4-BE49-F238E27FC236}">
                <a16:creationId id="{CD711134-56F8-471A-89A9-C37818F45F84}"/>
              </a:ext>
            </a:extLst>
          </p:cNvPr>
          <p:cNvSpPr>
            <a:spLocks noGrp="1"/>
          </p:cNvSpPr>
          <p:nvPr/>
        </p:nvSpPr>
        <p:spPr>
          <a:xfrm>
            <a:off x="8623608" y="3283164"/>
            <a:ext cx="2590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测试、指标与日志</a:t>
            </a:r>
          </a:p>
        </p:txBody>
      </p:sp>
      <p:sp>
        <p:nvSpPr>
          <p:cNvPr id="114" name="">
            <a:extLst>
              <a:ext uri="{FF2B5EF4-FFF2-40B4-BE49-F238E27FC236}">
                <a16:creationId id="{C81BD99F-D771-44AC-A5E4-3FDB1643CEF4}"/>
              </a:ext>
            </a:extLst>
          </p:cNvPr>
          <p:cNvSpPr>
            <a:spLocks noGrp="1"/>
          </p:cNvSpPr>
          <p:nvPr/>
        </p:nvSpPr>
        <p:spPr>
          <a:xfrm>
            <a:off x="6261408" y="2406864"/>
            <a:ext cx="219075" cy="276225"/>
          </a:xfrm>
          <a:prstGeom prst="down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5" name="">
            <a:extLst>
              <a:ext uri="{FF2B5EF4-FFF2-40B4-BE49-F238E27FC236}">
                <a16:creationId id="{D5083D05-5AF8-416B-A4ED-13E26D74DE99}"/>
              </a:ext>
            </a:extLst>
          </p:cNvPr>
          <p:cNvSpPr>
            <a:spLocks noGrp="1"/>
          </p:cNvSpPr>
          <p:nvPr/>
        </p:nvSpPr>
        <p:spPr>
          <a:xfrm>
            <a:off x="6261408" y="3968964"/>
            <a:ext cx="219075" cy="276225"/>
          </a:xfrm>
          <a:prstGeom prst="down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6" name="">
            <a:extLst>
              <a:ext uri="{FF2B5EF4-FFF2-40B4-BE49-F238E27FC236}">
                <a16:creationId id="{BF517F6F-36B6-4C88-8A1C-4C4D4D59F5FD}"/>
              </a:ext>
            </a:extLst>
          </p:cNvPr>
          <p:cNvSpPr>
            <a:spLocks noGrp="1"/>
          </p:cNvSpPr>
          <p:nvPr/>
        </p:nvSpPr>
        <p:spPr>
          <a:xfrm>
            <a:off x="1403658" y="4407114"/>
            <a:ext cx="9944100" cy="99060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7" name="">
            <a:extLst>
              <a:ext uri="{FF2B5EF4-FFF2-40B4-BE49-F238E27FC236}">
                <a16:creationId id="{DB17DE47-9F59-4015-A0EB-61A260486AE8}"/>
              </a:ext>
            </a:extLst>
          </p:cNvPr>
          <p:cNvSpPr>
            <a:spLocks noGrp="1"/>
          </p:cNvSpPr>
          <p:nvPr/>
        </p:nvSpPr>
        <p:spPr>
          <a:xfrm>
            <a:off x="1537008" y="4521414"/>
            <a:ext cx="9677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人工门禁</a:t>
            </a:r>
          </a:p>
        </p:txBody>
      </p:sp>
      <p:sp>
        <p:nvSpPr>
          <p:cNvPr id="118" name="">
            <a:extLst>
              <a:ext uri="{FF2B5EF4-FFF2-40B4-BE49-F238E27FC236}">
                <a16:creationId id="{56D2CA3F-2212-49C1-877F-86E75E9E709F}"/>
              </a:ext>
            </a:extLst>
          </p:cNvPr>
          <p:cNvSpPr>
            <a:spLocks noGrp="1"/>
          </p:cNvSpPr>
          <p:nvPr/>
        </p:nvSpPr>
        <p:spPr>
          <a:xfrm>
            <a:off x="1537008" y="4873839"/>
            <a:ext cx="96774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触发：破坏性变更、质量下降、资源越界、解释不足</a:t>
            </a:r>
          </a:p>
        </p:txBody>
      </p:sp>
      <p:sp>
        <p:nvSpPr>
          <p:cNvPr id="119" name="">
            <a:extLst>
              <a:ext uri="{FF2B5EF4-FFF2-40B4-BE49-F238E27FC236}">
                <a16:creationId id="{2D5FBE6A-9D64-4573-A3BE-4BBC7522604F}"/>
              </a:ext>
            </a:extLst>
          </p:cNvPr>
          <p:cNvSpPr>
            <a:spLocks noGrp="1"/>
          </p:cNvSpPr>
          <p:nvPr/>
        </p:nvSpPr>
        <p:spPr>
          <a:xfrm>
            <a:off x="1022658" y="4978614"/>
            <a:ext cx="381000" cy="0"/>
          </a:xfrm>
          <a:prstGeom prst="line">
            <a:avLst/>
          </a:prstGeom>
          <a:noFill/>
          <a:ln w="19050">
            <a:solidFill>
              <a:srgbClr val="C7000A"/>
            </a:solidFill>
          </a:ln>
        </p:spPr>
      </p:sp>
      <p:sp>
        <p:nvSpPr>
          <p:cNvPr id="120" name="">
            <a:extLst>
              <a:ext uri="{FF2B5EF4-FFF2-40B4-BE49-F238E27FC236}">
                <a16:creationId id="{5B21D910-F2D4-4BFD-813E-591B02FAC800}"/>
              </a:ext>
            </a:extLst>
          </p:cNvPr>
          <p:cNvSpPr>
            <a:spLocks noGrp="1"/>
          </p:cNvSpPr>
          <p:nvPr/>
        </p:nvSpPr>
        <p:spPr>
          <a:xfrm>
            <a:off x="927408" y="1959189"/>
            <a:ext cx="190500" cy="3019425"/>
          </a:xfrm>
          <a:prstGeom prst="up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21" name="">
            <a:extLst>
              <a:ext uri="{FF2B5EF4-FFF2-40B4-BE49-F238E27FC236}">
                <a16:creationId id="{18E2A24F-D96D-4B1F-B713-87FDEADC2007}"/>
              </a:ext>
            </a:extLst>
          </p:cNvPr>
          <p:cNvSpPr>
            <a:spLocks noGrp="1"/>
          </p:cNvSpPr>
          <p:nvPr/>
        </p:nvSpPr>
        <p:spPr>
          <a:xfrm>
            <a:off x="1022658" y="1930614"/>
            <a:ext cx="381000" cy="0"/>
          </a:xfrm>
          <a:prstGeom prst="line">
            <a:avLst/>
          </a:prstGeom>
          <a:noFill/>
          <a:ln w="19050">
            <a:solidFill>
              <a:srgbClr val="C7000A"/>
            </a:solidFill>
          </a:ln>
        </p:spPr>
      </p:sp>
      <p:sp>
        <p:nvSpPr>
          <p:cNvPr id="122" name="">
            <a:extLst>
              <a:ext uri="{FF2B5EF4-FFF2-40B4-BE49-F238E27FC236}">
                <a16:creationId id="{3327E754-FF40-4917-AD4C-E93ACC940448}"/>
              </a:ext>
            </a:extLst>
          </p:cNvPr>
          <p:cNvSpPr>
            <a:spLocks noGrp="1"/>
          </p:cNvSpPr>
          <p:nvPr/>
        </p:nvSpPr>
        <p:spPr>
          <a:xfrm>
            <a:off x="736908" y="3159339"/>
            <a:ext cx="561975" cy="685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3" name="">
            <a:extLst>
              <a:ext uri="{FF2B5EF4-FFF2-40B4-BE49-F238E27FC236}">
                <a16:creationId id="{DA2AA5F5-2F6D-43D2-8420-AE553FD9B4D8}"/>
              </a:ext>
            </a:extLst>
          </p:cNvPr>
          <p:cNvSpPr>
            <a:spLocks noGrp="1"/>
          </p:cNvSpPr>
          <p:nvPr/>
        </p:nvSpPr>
        <p:spPr>
          <a:xfrm>
            <a:off x="736908" y="3226014"/>
            <a:ext cx="5619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99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退回</a:t>
            </a:r>
          </a:p>
          <a:p>
            <a:pPr algn="ctr">
              <a:defRPr sz="1299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修正</a:t>
            </a:r>
          </a:p>
        </p:txBody>
      </p:sp>
      <p:sp>
        <p:nvSpPr>
          <p:cNvPr id="124" name="">
            <a:extLst>
              <a:ext uri="{FF2B5EF4-FFF2-40B4-BE49-F238E27FC236}">
                <a16:creationId id="{8FF2595E-EAB5-4B72-990E-5A39AEBE2C4C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H37 · 人机协作闭环｜建议协作机制：自动验证不通过则回退；关键决策由具名负责人确认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治理负责边界，裁决处理具体例外</a:t>
            </a:r>
          </a:p>
        </p:txBody>
      </p:sp>
      <p:sp>
        <p:nvSpPr>
          <p:cNvPr id="100" name="">
            <a:extLst>
              <a:ext uri="{FF2B5EF4-FFF2-40B4-BE49-F238E27FC236}">
                <a16:creationId id="{9E535082-4FB4-43F5-8B23-ABE83A1ADA76}"/>
              </a:ext>
            </a:extLst>
          </p:cNvPr>
          <p:cNvSpPr>
            <a:spLocks noGrp="1"/>
          </p:cNvSpPr>
          <p:nvPr/>
        </p:nvSpPr>
        <p:spPr>
          <a:xfrm>
            <a:off x="736908" y="1578189"/>
            <a:ext cx="6096000" cy="3724275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</p:sp>
      <p:sp>
        <p:nvSpPr>
          <p:cNvPr id="101" name="">
            <a:extLst>
              <a:ext uri="{FF2B5EF4-FFF2-40B4-BE49-F238E27FC236}">
                <a16:creationId id="{FA548932-1571-47C4-8B20-F546338CC24A}"/>
              </a:ext>
            </a:extLst>
          </p:cNvPr>
          <p:cNvSpPr>
            <a:spLocks noGrp="1"/>
          </p:cNvSpPr>
          <p:nvPr/>
        </p:nvSpPr>
        <p:spPr>
          <a:xfrm>
            <a:off x="946458" y="1740114"/>
            <a:ext cx="5676900" cy="80010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2" name="">
            <a:extLst>
              <a:ext uri="{FF2B5EF4-FFF2-40B4-BE49-F238E27FC236}">
                <a16:creationId id="{8D36F6C7-769E-4FDA-A806-D1B35BD09B3D}"/>
              </a:ext>
            </a:extLst>
          </p:cNvPr>
          <p:cNvSpPr>
            <a:spLocks noGrp="1"/>
          </p:cNvSpPr>
          <p:nvPr/>
        </p:nvSpPr>
        <p:spPr>
          <a:xfrm>
            <a:off x="1079808" y="1854414"/>
            <a:ext cx="5410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Human On｜治理层</a:t>
            </a:r>
          </a:p>
        </p:txBody>
      </p:sp>
      <p:sp>
        <p:nvSpPr>
          <p:cNvPr id="103" name="">
            <a:extLst>
              <a:ext uri="{FF2B5EF4-FFF2-40B4-BE49-F238E27FC236}">
                <a16:creationId id="{5AFD3748-EA7C-47F5-883B-167FD3EA6E5B}"/>
              </a:ext>
            </a:extLst>
          </p:cNvPr>
          <p:cNvSpPr>
            <a:spLocks noGrp="1"/>
          </p:cNvSpPr>
          <p:nvPr/>
        </p:nvSpPr>
        <p:spPr>
          <a:xfrm>
            <a:off x="1079808" y="2206839"/>
            <a:ext cx="54102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方向、预算、权限、质量策略</a:t>
            </a:r>
          </a:p>
        </p:txBody>
      </p:sp>
      <p:sp>
        <p:nvSpPr>
          <p:cNvPr id="104" name="">
            <a:extLst>
              <a:ext uri="{FF2B5EF4-FFF2-40B4-BE49-F238E27FC236}">
                <a16:creationId id="{3F5D5C77-7558-44D3-977F-8C48018A82E6}"/>
              </a:ext>
            </a:extLst>
          </p:cNvPr>
          <p:cNvSpPr>
            <a:spLocks noGrp="1"/>
          </p:cNvSpPr>
          <p:nvPr/>
        </p:nvSpPr>
        <p:spPr>
          <a:xfrm>
            <a:off x="3642033" y="2702139"/>
            <a:ext cx="209550" cy="314325"/>
          </a:xfrm>
          <a:prstGeom prst="down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5" name="">
            <a:extLst>
              <a:ext uri="{FF2B5EF4-FFF2-40B4-BE49-F238E27FC236}">
                <a16:creationId id="{B79F47D3-66EB-4F23-9ADF-A20DC95DDD8C}"/>
              </a:ext>
            </a:extLst>
          </p:cNvPr>
          <p:cNvSpPr>
            <a:spLocks noGrp="1"/>
          </p:cNvSpPr>
          <p:nvPr/>
        </p:nvSpPr>
        <p:spPr>
          <a:xfrm>
            <a:off x="946458" y="3178389"/>
            <a:ext cx="3476625" cy="10477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6" name="">
            <a:extLst>
              <a:ext uri="{FF2B5EF4-FFF2-40B4-BE49-F238E27FC236}">
                <a16:creationId id="{EEDB85AB-132C-40FE-9642-BCB784DDCC0A}"/>
              </a:ext>
            </a:extLst>
          </p:cNvPr>
          <p:cNvSpPr>
            <a:spLocks noGrp="1"/>
          </p:cNvSpPr>
          <p:nvPr/>
        </p:nvSpPr>
        <p:spPr>
          <a:xfrm>
            <a:off x="1079808" y="3292689"/>
            <a:ext cx="32099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自动执行｜运行层</a:t>
            </a:r>
          </a:p>
        </p:txBody>
      </p:sp>
      <p:sp>
        <p:nvSpPr>
          <p:cNvPr id="107" name="">
            <a:extLst>
              <a:ext uri="{FF2B5EF4-FFF2-40B4-BE49-F238E27FC236}">
                <a16:creationId id="{0FE00A30-39EE-43A3-9744-0232147434D4}"/>
              </a:ext>
            </a:extLst>
          </p:cNvPr>
          <p:cNvSpPr>
            <a:spLocks noGrp="1"/>
          </p:cNvSpPr>
          <p:nvPr/>
        </p:nvSpPr>
        <p:spPr>
          <a:xfrm>
            <a:off x="1079808" y="3645114"/>
            <a:ext cx="32099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任务编排、工具执行、回归、记录</a:t>
            </a:r>
          </a:p>
        </p:txBody>
      </p:sp>
      <p:sp>
        <p:nvSpPr>
          <p:cNvPr id="108" name="">
            <a:extLst>
              <a:ext uri="{FF2B5EF4-FFF2-40B4-BE49-F238E27FC236}">
                <a16:creationId id="{9DB5EFFF-DF75-4B05-AF6B-1833DACF6CF3}"/>
              </a:ext>
            </a:extLst>
          </p:cNvPr>
          <p:cNvSpPr>
            <a:spLocks noGrp="1"/>
          </p:cNvSpPr>
          <p:nvPr/>
        </p:nvSpPr>
        <p:spPr>
          <a:xfrm>
            <a:off x="4699308" y="3178389"/>
            <a:ext cx="1914525" cy="10477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9" name="">
            <a:extLst>
              <a:ext uri="{FF2B5EF4-FFF2-40B4-BE49-F238E27FC236}">
                <a16:creationId id="{21E24F23-F656-49BC-8AAB-723C6FC8DC97}"/>
              </a:ext>
            </a:extLst>
          </p:cNvPr>
          <p:cNvSpPr>
            <a:spLocks noGrp="1"/>
          </p:cNvSpPr>
          <p:nvPr/>
        </p:nvSpPr>
        <p:spPr>
          <a:xfrm>
            <a:off x="4832658" y="3292689"/>
            <a:ext cx="16478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Human In</a:t>
            </a:r>
          </a:p>
        </p:txBody>
      </p:sp>
      <p:sp>
        <p:nvSpPr>
          <p:cNvPr id="110" name="">
            <a:extLst>
              <a:ext uri="{FF2B5EF4-FFF2-40B4-BE49-F238E27FC236}">
                <a16:creationId id="{64D0B1D9-B8F3-40F0-AEEA-D069057AE97D}"/>
              </a:ext>
            </a:extLst>
          </p:cNvPr>
          <p:cNvSpPr>
            <a:spLocks noGrp="1"/>
          </p:cNvSpPr>
          <p:nvPr/>
        </p:nvSpPr>
        <p:spPr>
          <a:xfrm>
            <a:off x="4832658" y="3645114"/>
            <a:ext cx="16478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语义与风险裁决</a:t>
            </a:r>
          </a:p>
        </p:txBody>
      </p:sp>
      <p:sp>
        <p:nvSpPr>
          <p:cNvPr id="111" name="">
            <a:extLst>
              <a:ext uri="{FF2B5EF4-FFF2-40B4-BE49-F238E27FC236}">
                <a16:creationId id="{1BA05703-D12E-4FC6-A949-7DEDC6568F6E}"/>
              </a:ext>
            </a:extLst>
          </p:cNvPr>
          <p:cNvSpPr>
            <a:spLocks noGrp="1"/>
          </p:cNvSpPr>
          <p:nvPr/>
        </p:nvSpPr>
        <p:spPr>
          <a:xfrm>
            <a:off x="4451658" y="3568914"/>
            <a:ext cx="219075" cy="152400"/>
          </a:xfrm>
          <a:prstGeom prst="right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2" name="">
            <a:extLst>
              <a:ext uri="{FF2B5EF4-FFF2-40B4-BE49-F238E27FC236}">
                <a16:creationId id="{85C1C21F-9D44-4915-B65F-52DA3BC6B50A}"/>
              </a:ext>
            </a:extLst>
          </p:cNvPr>
          <p:cNvSpPr>
            <a:spLocks noGrp="1"/>
          </p:cNvSpPr>
          <p:nvPr/>
        </p:nvSpPr>
        <p:spPr>
          <a:xfrm>
            <a:off x="946458" y="4692864"/>
            <a:ext cx="5667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正常路径自动推进；越过预设阈值时暂停并升级。</a:t>
            </a:r>
          </a:p>
        </p:txBody>
      </p:sp>
      <p:sp>
        <p:nvSpPr>
          <p:cNvPr id="113" name="">
            <a:extLst>
              <a:ext uri="{FF2B5EF4-FFF2-40B4-BE49-F238E27FC236}">
                <a16:creationId id="{FA68684E-3A30-40C5-860B-017D54753CAF}"/>
              </a:ext>
            </a:extLst>
          </p:cNvPr>
          <p:cNvSpPr>
            <a:spLocks noGrp="1"/>
          </p:cNvSpPr>
          <p:nvPr/>
        </p:nvSpPr>
        <p:spPr>
          <a:xfrm>
            <a:off x="7356783" y="1597239"/>
            <a:ext cx="39909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治理决定规则</a:t>
            </a:r>
          </a:p>
        </p:txBody>
      </p:sp>
      <p:sp>
        <p:nvSpPr>
          <p:cNvPr id="114" name="">
            <a:extLst>
              <a:ext uri="{FF2B5EF4-FFF2-40B4-BE49-F238E27FC236}">
                <a16:creationId id="{488484F6-2F8C-4446-85B8-B88172255E02}"/>
              </a:ext>
            </a:extLst>
          </p:cNvPr>
          <p:cNvSpPr>
            <a:spLocks noGrp="1"/>
          </p:cNvSpPr>
          <p:nvPr/>
        </p:nvSpPr>
        <p:spPr>
          <a:xfrm>
            <a:off x="7356783" y="2006814"/>
            <a:ext cx="39909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谁能使用哪些工具，最大消耗多少资源，什么条件可以发布；规则先于任务运行。</a:t>
            </a:r>
          </a:p>
        </p:txBody>
      </p:sp>
      <p:sp>
        <p:nvSpPr>
          <p:cNvPr id="115" name="">
            <a:extLst>
              <a:ext uri="{FF2B5EF4-FFF2-40B4-BE49-F238E27FC236}">
                <a16:creationId id="{FE85577F-C5F2-4CF0-85BD-CB8524145A54}"/>
              </a:ext>
            </a:extLst>
          </p:cNvPr>
          <p:cNvSpPr>
            <a:spLocks noGrp="1"/>
          </p:cNvSpPr>
          <p:nvPr/>
        </p:nvSpPr>
        <p:spPr>
          <a:xfrm>
            <a:off x="7356783" y="3006939"/>
            <a:ext cx="39909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裁决处理例外</a:t>
            </a:r>
          </a:p>
        </p:txBody>
      </p:sp>
      <p:sp>
        <p:nvSpPr>
          <p:cNvPr id="116" name="">
            <a:extLst>
              <a:ext uri="{FF2B5EF4-FFF2-40B4-BE49-F238E27FC236}">
                <a16:creationId id="{D88D7EC3-DADD-4229-BC4D-0B4C989E6CA3}"/>
              </a:ext>
            </a:extLst>
          </p:cNvPr>
          <p:cNvSpPr>
            <a:spLocks noGrp="1"/>
          </p:cNvSpPr>
          <p:nvPr/>
        </p:nvSpPr>
        <p:spPr>
          <a:xfrm>
            <a:off x="7356783" y="3416514"/>
            <a:ext cx="39909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当性能回归、数据含义不清或方案影响较大时，负责人审查具体问题并给出结论。</a:t>
            </a:r>
          </a:p>
        </p:txBody>
      </p:sp>
      <p:sp>
        <p:nvSpPr>
          <p:cNvPr id="117" name="">
            <a:extLst>
              <a:ext uri="{FF2B5EF4-FFF2-40B4-BE49-F238E27FC236}">
                <a16:creationId id="{23D12E59-4457-4048-B6EC-D31BE0837474}"/>
              </a:ext>
            </a:extLst>
          </p:cNvPr>
          <p:cNvSpPr>
            <a:spLocks noGrp="1"/>
          </p:cNvSpPr>
          <p:nvPr/>
        </p:nvSpPr>
        <p:spPr>
          <a:xfrm>
            <a:off x="7356783" y="4416639"/>
            <a:ext cx="39909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统一记录</a:t>
            </a:r>
          </a:p>
        </p:txBody>
      </p:sp>
      <p:sp>
        <p:nvSpPr>
          <p:cNvPr id="118" name="">
            <a:extLst>
              <a:ext uri="{FF2B5EF4-FFF2-40B4-BE49-F238E27FC236}">
                <a16:creationId id="{8A6858C4-1E4F-4E91-BC7E-A066C5FB965C}"/>
              </a:ext>
            </a:extLst>
          </p:cNvPr>
          <p:cNvSpPr>
            <a:spLocks noGrp="1"/>
          </p:cNvSpPr>
          <p:nvPr/>
        </p:nvSpPr>
        <p:spPr>
          <a:xfrm>
            <a:off x="7356783" y="4826214"/>
            <a:ext cx="39909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保留触发原因、证据、裁决人和恢复动作，避免人工处理游离于系统之外。</a:t>
            </a:r>
          </a:p>
        </p:txBody>
      </p:sp>
      <p:sp>
        <p:nvSpPr>
          <p:cNvPr id="119" name="">
            <a:extLst>
              <a:ext uri="{FF2B5EF4-FFF2-40B4-BE49-F238E27FC236}">
                <a16:creationId id="{A7655ADD-AF2B-444D-BB9E-0F34013CA9C2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H38 · 治理与裁决｜原创分析示例；未对应真实项目承诺或平台实测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组织协议必须明确角色、流程与触发器</a:t>
            </a:r>
          </a:p>
        </p:txBody>
      </p:sp>
      <p:graphicFrame>
        <p:nvGraphicFramePr>
          <p:cNvPr id="100" name=""/>
          <p:cNvGraphicFramePr/>
          <p:nvPr/>
        </p:nvGraphicFramePr>
        <p:xfrm>
          <a:off x="736908" y="1540089"/>
          <a:ext cx="4371975" cy="2543175"/>
        </p:xfrm>
        <a:graphic>
          <a:graphicData uri="http://schemas.openxmlformats.org/drawingml/2006/table">
            <a:tbl>
              <a:tblPr firstRow="0" bandRow="0"/>
              <a:tblGrid>
                <a:gridCol w="1311593"/>
                <a:gridCol w="3060382"/>
              </a:tblGrid>
              <a:tr h="5086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114300" marR="114300" marT="95250" marB="76200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交付责任</a:t>
                      </a:r>
                    </a:p>
                  </a:txBody>
                  <a:tcPr marL="114300" marR="114300" marT="95250" marB="76200" anchor="ctr">
                    <a:solidFill>
                      <a:srgbClr val="EBEBEB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技术负责人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规格、风险边界与发布决策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领域工程师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模型语义与关键技术判断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编排工程师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上下文、工具、执行与重试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验证工程师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回归、基准、日志与验收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" name="">
            <a:extLst>
              <a:ext uri="{FF2B5EF4-FFF2-40B4-BE49-F238E27FC236}">
                <a16:creationId id="{CC00C16B-470D-4385-9227-571663984D22}"/>
              </a:ext>
            </a:extLst>
          </p:cNvPr>
          <p:cNvSpPr>
            <a:spLocks noGrp="1"/>
          </p:cNvSpPr>
          <p:nvPr/>
        </p:nvSpPr>
        <p:spPr>
          <a:xfrm>
            <a:off x="5470833" y="1549614"/>
            <a:ext cx="1876425" cy="1133475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2" name="">
            <a:extLst>
              <a:ext uri="{FF2B5EF4-FFF2-40B4-BE49-F238E27FC236}">
                <a16:creationId id="{C81783D0-FF20-4DA1-913B-668BA0EA42B8}"/>
              </a:ext>
            </a:extLst>
          </p:cNvPr>
          <p:cNvSpPr>
            <a:spLocks noGrp="1"/>
          </p:cNvSpPr>
          <p:nvPr/>
        </p:nvSpPr>
        <p:spPr>
          <a:xfrm>
            <a:off x="5604183" y="1663914"/>
            <a:ext cx="16097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进入</a:t>
            </a:r>
          </a:p>
        </p:txBody>
      </p:sp>
      <p:sp>
        <p:nvSpPr>
          <p:cNvPr id="103" name="">
            <a:extLst>
              <a:ext uri="{FF2B5EF4-FFF2-40B4-BE49-F238E27FC236}">
                <a16:creationId id="{CF93C938-4987-491B-A5DD-396680E317FC}"/>
              </a:ext>
            </a:extLst>
          </p:cNvPr>
          <p:cNvSpPr>
            <a:spLocks noGrp="1"/>
          </p:cNvSpPr>
          <p:nvPr/>
        </p:nvSpPr>
        <p:spPr>
          <a:xfrm>
            <a:off x="5604183" y="2016339"/>
            <a:ext cx="16097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目标与风险</a:t>
            </a:r>
          </a:p>
        </p:txBody>
      </p:sp>
      <p:sp>
        <p:nvSpPr>
          <p:cNvPr id="104" name="">
            <a:extLst>
              <a:ext uri="{FF2B5EF4-FFF2-40B4-BE49-F238E27FC236}">
                <a16:creationId id="{45B8AC77-48D8-46A6-9906-F50D4B986892}"/>
              </a:ext>
            </a:extLst>
          </p:cNvPr>
          <p:cNvSpPr>
            <a:spLocks noGrp="1"/>
          </p:cNvSpPr>
          <p:nvPr/>
        </p:nvSpPr>
        <p:spPr>
          <a:xfrm>
            <a:off x="7499658" y="1549614"/>
            <a:ext cx="1876425" cy="1133475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5" name="">
            <a:extLst>
              <a:ext uri="{FF2B5EF4-FFF2-40B4-BE49-F238E27FC236}">
                <a16:creationId id="{FF0F253D-4F5E-4825-BD4B-294028FC1C64}"/>
              </a:ext>
            </a:extLst>
          </p:cNvPr>
          <p:cNvSpPr>
            <a:spLocks noGrp="1"/>
          </p:cNvSpPr>
          <p:nvPr/>
        </p:nvSpPr>
        <p:spPr>
          <a:xfrm>
            <a:off x="7633008" y="1663914"/>
            <a:ext cx="16097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定义</a:t>
            </a:r>
          </a:p>
        </p:txBody>
      </p:sp>
      <p:sp>
        <p:nvSpPr>
          <p:cNvPr id="106" name="">
            <a:extLst>
              <a:ext uri="{FF2B5EF4-FFF2-40B4-BE49-F238E27FC236}">
                <a16:creationId id="{0051A03C-BD97-4F3D-AE4C-36A8ED7359E0}"/>
              </a:ext>
            </a:extLst>
          </p:cNvPr>
          <p:cNvSpPr>
            <a:spLocks noGrp="1"/>
          </p:cNvSpPr>
          <p:nvPr/>
        </p:nvSpPr>
        <p:spPr>
          <a:xfrm>
            <a:off x="7633008" y="2016339"/>
            <a:ext cx="16097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规格与验收</a:t>
            </a:r>
          </a:p>
        </p:txBody>
      </p:sp>
      <p:sp>
        <p:nvSpPr>
          <p:cNvPr id="107" name="">
            <a:extLst>
              <a:ext uri="{FF2B5EF4-FFF2-40B4-BE49-F238E27FC236}">
                <a16:creationId id="{B131265F-3DB0-4E7B-B901-6CB130FD8FF3}"/>
              </a:ext>
            </a:extLst>
          </p:cNvPr>
          <p:cNvSpPr>
            <a:spLocks noGrp="1"/>
          </p:cNvSpPr>
          <p:nvPr/>
        </p:nvSpPr>
        <p:spPr>
          <a:xfrm>
            <a:off x="9528483" y="1549614"/>
            <a:ext cx="1876425" cy="1133475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8" name="">
            <a:extLst>
              <a:ext uri="{FF2B5EF4-FFF2-40B4-BE49-F238E27FC236}">
                <a16:creationId id="{D362FF12-8B9A-4488-8604-05B04DE090CD}"/>
              </a:ext>
            </a:extLst>
          </p:cNvPr>
          <p:cNvSpPr>
            <a:spLocks noGrp="1"/>
          </p:cNvSpPr>
          <p:nvPr/>
        </p:nvSpPr>
        <p:spPr>
          <a:xfrm>
            <a:off x="9661833" y="1663914"/>
            <a:ext cx="16097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09" name="">
            <a:extLst>
              <a:ext uri="{FF2B5EF4-FFF2-40B4-BE49-F238E27FC236}">
                <a16:creationId id="{9D0BE9F2-79D7-4101-8F48-05EC0FBC1A61}"/>
              </a:ext>
            </a:extLst>
          </p:cNvPr>
          <p:cNvSpPr>
            <a:spLocks noGrp="1"/>
          </p:cNvSpPr>
          <p:nvPr/>
        </p:nvSpPr>
        <p:spPr>
          <a:xfrm>
            <a:off x="9661833" y="2016339"/>
            <a:ext cx="16097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工具与实验</a:t>
            </a:r>
          </a:p>
        </p:txBody>
      </p:sp>
      <p:sp>
        <p:nvSpPr>
          <p:cNvPr id="110" name="">
            <a:extLst>
              <a:ext uri="{FF2B5EF4-FFF2-40B4-BE49-F238E27FC236}">
                <a16:creationId id="{6125C41B-0599-4DD6-A431-9E1B2AAABF70}"/>
              </a:ext>
            </a:extLst>
          </p:cNvPr>
          <p:cNvSpPr>
            <a:spLocks noGrp="1"/>
          </p:cNvSpPr>
          <p:nvPr/>
        </p:nvSpPr>
        <p:spPr>
          <a:xfrm>
            <a:off x="5470833" y="2873589"/>
            <a:ext cx="1876425" cy="1133475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1" name="">
            <a:extLst>
              <a:ext uri="{FF2B5EF4-FFF2-40B4-BE49-F238E27FC236}">
                <a16:creationId id="{D2136576-A325-400D-96DE-2E7C10C63282}"/>
              </a:ext>
            </a:extLst>
          </p:cNvPr>
          <p:cNvSpPr>
            <a:spLocks noGrp="1"/>
          </p:cNvSpPr>
          <p:nvPr/>
        </p:nvSpPr>
        <p:spPr>
          <a:xfrm>
            <a:off x="5604183" y="2987889"/>
            <a:ext cx="16097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112" name="">
            <a:extLst>
              <a:ext uri="{FF2B5EF4-FFF2-40B4-BE49-F238E27FC236}">
                <a16:creationId id="{4BD12895-A89C-44FD-804D-ACBEE99FC67B}"/>
              </a:ext>
            </a:extLst>
          </p:cNvPr>
          <p:cNvSpPr>
            <a:spLocks noGrp="1"/>
          </p:cNvSpPr>
          <p:nvPr/>
        </p:nvSpPr>
        <p:spPr>
          <a:xfrm>
            <a:off x="5604183" y="3340314"/>
            <a:ext cx="16097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质量与资源</a:t>
            </a:r>
          </a:p>
        </p:txBody>
      </p:sp>
      <p:sp>
        <p:nvSpPr>
          <p:cNvPr id="113" name="">
            <a:extLst>
              <a:ext uri="{FF2B5EF4-FFF2-40B4-BE49-F238E27FC236}">
                <a16:creationId id="{E85E5E85-89C9-4DB7-9D4C-A2ECE0BFC215}"/>
              </a:ext>
            </a:extLst>
          </p:cNvPr>
          <p:cNvSpPr>
            <a:spLocks noGrp="1"/>
          </p:cNvSpPr>
          <p:nvPr/>
        </p:nvSpPr>
        <p:spPr>
          <a:xfrm>
            <a:off x="7499658" y="2873589"/>
            <a:ext cx="1876425" cy="1133475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4" name="">
            <a:extLst>
              <a:ext uri="{FF2B5EF4-FFF2-40B4-BE49-F238E27FC236}">
                <a16:creationId id="{6C6C5A5D-4034-498C-9788-FACE8858D33E}"/>
              </a:ext>
            </a:extLst>
          </p:cNvPr>
          <p:cNvSpPr>
            <a:spLocks noGrp="1"/>
          </p:cNvSpPr>
          <p:nvPr/>
        </p:nvSpPr>
        <p:spPr>
          <a:xfrm>
            <a:off x="7633008" y="2987889"/>
            <a:ext cx="16097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升级</a:t>
            </a:r>
          </a:p>
        </p:txBody>
      </p:sp>
      <p:sp>
        <p:nvSpPr>
          <p:cNvPr id="115" name="">
            <a:extLst>
              <a:ext uri="{FF2B5EF4-FFF2-40B4-BE49-F238E27FC236}">
                <a16:creationId id="{F09307B0-B67E-42A4-984A-F0BE0090DC4C}"/>
              </a:ext>
            </a:extLst>
          </p:cNvPr>
          <p:cNvSpPr>
            <a:spLocks noGrp="1"/>
          </p:cNvSpPr>
          <p:nvPr/>
        </p:nvSpPr>
        <p:spPr>
          <a:xfrm>
            <a:off x="7633008" y="3340314"/>
            <a:ext cx="16097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异常与裁决</a:t>
            </a:r>
          </a:p>
        </p:txBody>
      </p:sp>
      <p:sp>
        <p:nvSpPr>
          <p:cNvPr id="116" name="">
            <a:extLst>
              <a:ext uri="{FF2B5EF4-FFF2-40B4-BE49-F238E27FC236}">
                <a16:creationId id="{8F8C8018-D9D7-4A0F-A62D-2E1ADCB2A0DF}"/>
              </a:ext>
            </a:extLst>
          </p:cNvPr>
          <p:cNvSpPr>
            <a:spLocks noGrp="1"/>
          </p:cNvSpPr>
          <p:nvPr/>
        </p:nvSpPr>
        <p:spPr>
          <a:xfrm>
            <a:off x="9528483" y="2873589"/>
            <a:ext cx="1876425" cy="1133475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7" name="">
            <a:extLst>
              <a:ext uri="{FF2B5EF4-FFF2-40B4-BE49-F238E27FC236}">
                <a16:creationId id="{33C1717A-9017-42DF-A64D-24161E70BCE0}"/>
              </a:ext>
            </a:extLst>
          </p:cNvPr>
          <p:cNvSpPr>
            <a:spLocks noGrp="1"/>
          </p:cNvSpPr>
          <p:nvPr/>
        </p:nvSpPr>
        <p:spPr>
          <a:xfrm>
            <a:off x="9661833" y="2987889"/>
            <a:ext cx="16097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沉淀</a:t>
            </a:r>
          </a:p>
        </p:txBody>
      </p:sp>
      <p:sp>
        <p:nvSpPr>
          <p:cNvPr id="118" name="">
            <a:extLst>
              <a:ext uri="{FF2B5EF4-FFF2-40B4-BE49-F238E27FC236}">
                <a16:creationId id="{E24C0DE0-B75B-4316-8985-0F4B75BD0BC0}"/>
              </a:ext>
            </a:extLst>
          </p:cNvPr>
          <p:cNvSpPr>
            <a:spLocks noGrp="1"/>
          </p:cNvSpPr>
          <p:nvPr/>
        </p:nvSpPr>
        <p:spPr>
          <a:xfrm>
            <a:off x="9661833" y="3340314"/>
            <a:ext cx="16097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日志与资产</a:t>
            </a:r>
          </a:p>
        </p:txBody>
      </p:sp>
      <p:graphicFrame>
        <p:nvGraphicFramePr>
          <p:cNvPr id="119" name=""/>
          <p:cNvGraphicFramePr/>
          <p:nvPr/>
        </p:nvGraphicFramePr>
        <p:xfrm>
          <a:off x="736908" y="4416639"/>
          <a:ext cx="10733557" cy="1238250"/>
        </p:xfrm>
        <a:graphic>
          <a:graphicData uri="http://schemas.openxmlformats.org/drawingml/2006/table">
            <a:tbl>
              <a:tblPr firstRow="0" bandRow="0"/>
              <a:tblGrid>
                <a:gridCol w="1824705"/>
                <a:gridCol w="5581450"/>
                <a:gridCol w="3327403"/>
              </a:tblGrid>
              <a:tr h="309563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触发层</a:t>
                      </a:r>
                    </a:p>
                  </a:txBody>
                  <a:tcPr marL="114300" marR="114300" marT="28575" marB="28575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触发条件</a:t>
                      </a:r>
                    </a:p>
                  </a:txBody>
                  <a:tcPr marL="114300" marR="114300" marT="28575" marB="28575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114300" marR="114300" marT="28575" marB="28575" anchor="ctr">
                    <a:solidFill>
                      <a:srgbClr val="EBEBEB"/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自动执行</a:t>
                      </a:r>
                    </a:p>
                  </a:txBody>
                  <a:tcPr marL="114300" marR="1143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测试通过、资源在限额内</a:t>
                      </a:r>
                    </a:p>
                  </a:txBody>
                  <a:tcPr marL="114300" marR="1143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继续执行并记录</a:t>
                      </a:r>
                    </a:p>
                  </a:txBody>
                  <a:tcPr marL="114300" marR="114300" marT="28575" marB="28575" anchor="ctr">
                    <a:solidFill>
                      <a:srgbClr val="FFFFFF"/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人工裁决</a:t>
                      </a:r>
                    </a:p>
                  </a:txBody>
                  <a:tcPr marL="114300" marR="1143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质量回归、影响不明、风险升级</a:t>
                      </a:r>
                    </a:p>
                  </a:txBody>
                  <a:tcPr marL="114300" marR="1143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暂停相关步骤并审查</a:t>
                      </a:r>
                    </a:p>
                  </a:txBody>
                  <a:tcPr marL="114300" marR="114300" marT="28575" marB="28575" anchor="ctr">
                    <a:solidFill>
                      <a:srgbClr val="FFFFFF"/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治理决策</a:t>
                      </a:r>
                    </a:p>
                  </a:txBody>
                  <a:tcPr marL="114300" marR="1143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发布、路线变化、资源追加</a:t>
                      </a:r>
                    </a:p>
                  </a:txBody>
                  <a:tcPr marL="114300" marR="1143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负责人确认后更新规则</a:t>
                      </a:r>
                    </a:p>
                  </a:txBody>
                  <a:tcPr marL="114300" marR="114300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0" name="">
            <a:extLst>
              <a:ext uri="{FF2B5EF4-FFF2-40B4-BE49-F238E27FC236}">
                <a16:creationId id="{AA2AEA44-A3F1-40E8-B689-46250F090CD3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H39 · 组织协议｜原创分析示例；未对应真实项目承诺或平台实测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任务标签与能力标签决定动态编组</a:t>
            </a:r>
          </a:p>
        </p:txBody>
      </p:sp>
      <p:sp>
        <p:nvSpPr>
          <p:cNvPr id="100" name="">
            <a:extLst>
              <a:ext uri="{FF2B5EF4-FFF2-40B4-BE49-F238E27FC236}">
                <a16:creationId id="{906EA3F1-6AA4-4D8E-8B0C-9287AAE744C4}"/>
              </a:ext>
            </a:extLst>
          </p:cNvPr>
          <p:cNvSpPr>
            <a:spLocks noGrp="1"/>
          </p:cNvSpPr>
          <p:nvPr/>
        </p:nvSpPr>
        <p:spPr>
          <a:xfrm>
            <a:off x="736908" y="1530564"/>
            <a:ext cx="3810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任务池</a:t>
            </a:r>
          </a:p>
        </p:txBody>
      </p:sp>
      <p:sp>
        <p:nvSpPr>
          <p:cNvPr id="101" name="">
            <a:extLst>
              <a:ext uri="{FF2B5EF4-FFF2-40B4-BE49-F238E27FC236}">
                <a16:creationId id="{ECE845A6-116F-4065-A6FB-4B8F67BF176A}"/>
              </a:ext>
            </a:extLst>
          </p:cNvPr>
          <p:cNvSpPr>
            <a:spLocks noGrp="1"/>
          </p:cNvSpPr>
          <p:nvPr/>
        </p:nvSpPr>
        <p:spPr>
          <a:xfrm>
            <a:off x="736908" y="2044914"/>
            <a:ext cx="3714750" cy="5524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2" name="">
            <a:extLst>
              <a:ext uri="{FF2B5EF4-FFF2-40B4-BE49-F238E27FC236}">
                <a16:creationId id="{BE0FD3C2-EDC5-47DC-BFFB-AC5E61667CFD}"/>
              </a:ext>
            </a:extLst>
          </p:cNvPr>
          <p:cNvSpPr>
            <a:spLocks noGrp="1"/>
          </p:cNvSpPr>
          <p:nvPr/>
        </p:nvSpPr>
        <p:spPr>
          <a:xfrm>
            <a:off x="870258" y="2197314"/>
            <a:ext cx="3476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P0 故障恢复｜运行/日志</a:t>
            </a:r>
          </a:p>
        </p:txBody>
      </p:sp>
      <p:sp>
        <p:nvSpPr>
          <p:cNvPr id="103" name="">
            <a:extLst>
              <a:ext uri="{FF2B5EF4-FFF2-40B4-BE49-F238E27FC236}">
                <a16:creationId id="{2036B368-7B2F-4860-BA76-BAE55251E877}"/>
              </a:ext>
            </a:extLst>
          </p:cNvPr>
          <p:cNvSpPr>
            <a:spLocks noGrp="1"/>
          </p:cNvSpPr>
          <p:nvPr/>
        </p:nvSpPr>
        <p:spPr>
          <a:xfrm>
            <a:off x="736908" y="2778339"/>
            <a:ext cx="3714750" cy="5524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4" name="">
            <a:extLst>
              <a:ext uri="{FF2B5EF4-FFF2-40B4-BE49-F238E27FC236}">
                <a16:creationId id="{4202C01B-76E1-4A0C-B485-7599E7661433}"/>
              </a:ext>
            </a:extLst>
          </p:cNvPr>
          <p:cNvSpPr>
            <a:spLocks noGrp="1"/>
          </p:cNvSpPr>
          <p:nvPr/>
        </p:nvSpPr>
        <p:spPr>
          <a:xfrm>
            <a:off x="870258" y="2930739"/>
            <a:ext cx="3476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P1 性能缺口｜算子/通信</a:t>
            </a:r>
          </a:p>
        </p:txBody>
      </p:sp>
      <p:sp>
        <p:nvSpPr>
          <p:cNvPr id="105" name="">
            <a:extLst>
              <a:ext uri="{FF2B5EF4-FFF2-40B4-BE49-F238E27FC236}">
                <a16:creationId id="{566DBCF7-4BF2-4C80-B2D6-0D4F86D160D5}"/>
              </a:ext>
            </a:extLst>
          </p:cNvPr>
          <p:cNvSpPr>
            <a:spLocks noGrp="1"/>
          </p:cNvSpPr>
          <p:nvPr/>
        </p:nvSpPr>
        <p:spPr>
          <a:xfrm>
            <a:off x="736908" y="3511764"/>
            <a:ext cx="3714750" cy="5524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6" name="">
            <a:extLst>
              <a:ext uri="{FF2B5EF4-FFF2-40B4-BE49-F238E27FC236}">
                <a16:creationId id="{CE3AFEA8-1243-426F-A9BC-02B9A97D99AB}"/>
              </a:ext>
            </a:extLst>
          </p:cNvPr>
          <p:cNvSpPr>
            <a:spLocks noGrp="1"/>
          </p:cNvSpPr>
          <p:nvPr/>
        </p:nvSpPr>
        <p:spPr>
          <a:xfrm>
            <a:off x="870258" y="3664164"/>
            <a:ext cx="3476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P1 数据异常｜格式/时序</a:t>
            </a:r>
          </a:p>
        </p:txBody>
      </p:sp>
      <p:sp>
        <p:nvSpPr>
          <p:cNvPr id="107" name="">
            <a:extLst>
              <a:ext uri="{FF2B5EF4-FFF2-40B4-BE49-F238E27FC236}">
                <a16:creationId id="{966E54D3-A150-4386-9EDE-7B2ACF4AFEA4}"/>
              </a:ext>
            </a:extLst>
          </p:cNvPr>
          <p:cNvSpPr>
            <a:spLocks noGrp="1"/>
          </p:cNvSpPr>
          <p:nvPr/>
        </p:nvSpPr>
        <p:spPr>
          <a:xfrm>
            <a:off x="736908" y="4245189"/>
            <a:ext cx="3714750" cy="5524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8" name="">
            <a:extLst>
              <a:ext uri="{FF2B5EF4-FFF2-40B4-BE49-F238E27FC236}">
                <a16:creationId id="{DAF63C73-A12A-44E5-94EB-08C9123A9E65}"/>
              </a:ext>
            </a:extLst>
          </p:cNvPr>
          <p:cNvSpPr>
            <a:spLocks noGrp="1"/>
          </p:cNvSpPr>
          <p:nvPr/>
        </p:nvSpPr>
        <p:spPr>
          <a:xfrm>
            <a:off x="870258" y="4397589"/>
            <a:ext cx="3476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P2 文档补齐｜规格/示例</a:t>
            </a:r>
          </a:p>
        </p:txBody>
      </p:sp>
      <p:sp>
        <p:nvSpPr>
          <p:cNvPr id="109" name="">
            <a:extLst>
              <a:ext uri="{FF2B5EF4-FFF2-40B4-BE49-F238E27FC236}">
                <a16:creationId id="{1EF008F8-05EB-42ED-A943-227CE5893F77}"/>
              </a:ext>
            </a:extLst>
          </p:cNvPr>
          <p:cNvSpPr>
            <a:spLocks noGrp="1"/>
          </p:cNvSpPr>
          <p:nvPr/>
        </p:nvSpPr>
        <p:spPr>
          <a:xfrm>
            <a:off x="4994583" y="2606889"/>
            <a:ext cx="2028825" cy="20002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0" name="">
            <a:extLst>
              <a:ext uri="{FF2B5EF4-FFF2-40B4-BE49-F238E27FC236}">
                <a16:creationId id="{68699C58-A07A-4A11-BE73-B748057E98C2}"/>
              </a:ext>
            </a:extLst>
          </p:cNvPr>
          <p:cNvSpPr>
            <a:spLocks noGrp="1"/>
          </p:cNvSpPr>
          <p:nvPr/>
        </p:nvSpPr>
        <p:spPr>
          <a:xfrm>
            <a:off x="5127933" y="2721189"/>
            <a:ext cx="1762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匹配引擎</a:t>
            </a:r>
          </a:p>
        </p:txBody>
      </p:sp>
      <p:sp>
        <p:nvSpPr>
          <p:cNvPr id="111" name="">
            <a:extLst>
              <a:ext uri="{FF2B5EF4-FFF2-40B4-BE49-F238E27FC236}">
                <a16:creationId id="{B7EAD326-2823-400F-8D66-A0D7743A1C0C}"/>
              </a:ext>
            </a:extLst>
          </p:cNvPr>
          <p:cNvSpPr>
            <a:spLocks noGrp="1"/>
          </p:cNvSpPr>
          <p:nvPr/>
        </p:nvSpPr>
        <p:spPr>
          <a:xfrm>
            <a:off x="5127933" y="3073614"/>
            <a:ext cx="1762125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优先级</a:t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标签覆盖</a:t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可用负载</a:t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风险等级</a:t>
            </a:r>
          </a:p>
        </p:txBody>
      </p:sp>
      <p:sp>
        <p:nvSpPr>
          <p:cNvPr id="112" name="">
            <a:extLst>
              <a:ext uri="{FF2B5EF4-FFF2-40B4-BE49-F238E27FC236}">
                <a16:creationId id="{AAC496E4-BEA6-42D3-BC2A-C17EC8B1C8A7}"/>
              </a:ext>
            </a:extLst>
          </p:cNvPr>
          <p:cNvSpPr>
            <a:spLocks noGrp="1"/>
          </p:cNvSpPr>
          <p:nvPr/>
        </p:nvSpPr>
        <p:spPr>
          <a:xfrm>
            <a:off x="4575483" y="3464139"/>
            <a:ext cx="295275" cy="190500"/>
          </a:xfrm>
          <a:prstGeom prst="right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3" name="">
            <a:extLst>
              <a:ext uri="{FF2B5EF4-FFF2-40B4-BE49-F238E27FC236}">
                <a16:creationId id="{C9BDA4AB-F844-4C4F-9CAF-95FF771F75FA}"/>
              </a:ext>
            </a:extLst>
          </p:cNvPr>
          <p:cNvSpPr>
            <a:spLocks noGrp="1"/>
          </p:cNvSpPr>
          <p:nvPr/>
        </p:nvSpPr>
        <p:spPr>
          <a:xfrm>
            <a:off x="7147233" y="3464139"/>
            <a:ext cx="295275" cy="190500"/>
          </a:xfrm>
          <a:prstGeom prst="right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4" name="">
            <a:extLst>
              <a:ext uri="{FF2B5EF4-FFF2-40B4-BE49-F238E27FC236}">
                <a16:creationId id="{17415004-A895-4DFC-B3E3-A08F0B94B744}"/>
              </a:ext>
            </a:extLst>
          </p:cNvPr>
          <p:cNvSpPr>
            <a:spLocks noGrp="1"/>
          </p:cNvSpPr>
          <p:nvPr/>
        </p:nvSpPr>
        <p:spPr>
          <a:xfrm>
            <a:off x="7661583" y="1530564"/>
            <a:ext cx="3714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能力池</a:t>
            </a:r>
          </a:p>
        </p:txBody>
      </p:sp>
      <p:sp>
        <p:nvSpPr>
          <p:cNvPr id="115" name="">
            <a:extLst>
              <a:ext uri="{FF2B5EF4-FFF2-40B4-BE49-F238E27FC236}">
                <a16:creationId id="{2FB207A3-DE33-4DA5-9690-DC06794BE658}"/>
              </a:ext>
            </a:extLst>
          </p:cNvPr>
          <p:cNvSpPr>
            <a:spLocks noGrp="1"/>
          </p:cNvSpPr>
          <p:nvPr/>
        </p:nvSpPr>
        <p:spPr>
          <a:xfrm>
            <a:off x="7661583" y="2044914"/>
            <a:ext cx="3781425" cy="5524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6" name="">
            <a:extLst>
              <a:ext uri="{FF2B5EF4-FFF2-40B4-BE49-F238E27FC236}">
                <a16:creationId id="{BE0CFF3E-D486-4DB3-AEEF-2263C136A9E5}"/>
              </a:ext>
            </a:extLst>
          </p:cNvPr>
          <p:cNvSpPr>
            <a:spLocks noGrp="1"/>
          </p:cNvSpPr>
          <p:nvPr/>
        </p:nvSpPr>
        <p:spPr>
          <a:xfrm>
            <a:off x="7804458" y="2197314"/>
            <a:ext cx="34861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人｜系统性能与通信</a:t>
            </a:r>
          </a:p>
        </p:txBody>
      </p:sp>
      <p:sp>
        <p:nvSpPr>
          <p:cNvPr id="117" name="">
            <a:extLst>
              <a:ext uri="{FF2B5EF4-FFF2-40B4-BE49-F238E27FC236}">
                <a16:creationId id="{A3E2DF1C-269E-411E-BAED-E12AE4296574}"/>
              </a:ext>
            </a:extLst>
          </p:cNvPr>
          <p:cNvSpPr>
            <a:spLocks noGrp="1"/>
          </p:cNvSpPr>
          <p:nvPr/>
        </p:nvSpPr>
        <p:spPr>
          <a:xfrm>
            <a:off x="7661583" y="2778339"/>
            <a:ext cx="3781425" cy="5524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8" name="">
            <a:extLst>
              <a:ext uri="{FF2B5EF4-FFF2-40B4-BE49-F238E27FC236}">
                <a16:creationId id="{597FDFAB-ACE9-40E2-BF4D-0168268EAFF3}"/>
              </a:ext>
            </a:extLst>
          </p:cNvPr>
          <p:cNvSpPr>
            <a:spLocks noGrp="1"/>
          </p:cNvSpPr>
          <p:nvPr/>
        </p:nvSpPr>
        <p:spPr>
          <a:xfrm>
            <a:off x="7804458" y="2930739"/>
            <a:ext cx="34861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人｜模型语义与配方</a:t>
            </a:r>
          </a:p>
        </p:txBody>
      </p:sp>
      <p:sp>
        <p:nvSpPr>
          <p:cNvPr id="119" name="">
            <a:extLst>
              <a:ext uri="{FF2B5EF4-FFF2-40B4-BE49-F238E27FC236}">
                <a16:creationId id="{4CD75D2A-648F-45FC-A7BD-0CB3DD3B999B}"/>
              </a:ext>
            </a:extLst>
          </p:cNvPr>
          <p:cNvSpPr>
            <a:spLocks noGrp="1"/>
          </p:cNvSpPr>
          <p:nvPr/>
        </p:nvSpPr>
        <p:spPr>
          <a:xfrm>
            <a:off x="7661583" y="3511764"/>
            <a:ext cx="3781425" cy="5524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20" name="">
            <a:extLst>
              <a:ext uri="{FF2B5EF4-FFF2-40B4-BE49-F238E27FC236}">
                <a16:creationId id="{A59CB409-4036-4E0E-8EF6-AD30B1AD3777}"/>
              </a:ext>
            </a:extLst>
          </p:cNvPr>
          <p:cNvSpPr>
            <a:spLocks noGrp="1"/>
          </p:cNvSpPr>
          <p:nvPr/>
        </p:nvSpPr>
        <p:spPr>
          <a:xfrm>
            <a:off x="7804458" y="3664164"/>
            <a:ext cx="34861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人｜质量与现场验收</a:t>
            </a:r>
          </a:p>
        </p:txBody>
      </p:sp>
      <p:sp>
        <p:nvSpPr>
          <p:cNvPr id="121" name="">
            <a:extLst>
              <a:ext uri="{FF2B5EF4-FFF2-40B4-BE49-F238E27FC236}">
                <a16:creationId id="{69C348A2-F57C-46A3-8F54-B3509FDED71D}"/>
              </a:ext>
            </a:extLst>
          </p:cNvPr>
          <p:cNvSpPr>
            <a:spLocks noGrp="1"/>
          </p:cNvSpPr>
          <p:nvPr/>
        </p:nvSpPr>
        <p:spPr>
          <a:xfrm>
            <a:off x="7661583" y="4245189"/>
            <a:ext cx="3781425" cy="5524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22" name="">
            <a:extLst>
              <a:ext uri="{FF2B5EF4-FFF2-40B4-BE49-F238E27FC236}">
                <a16:creationId id="{ABB77877-E2B5-4D0E-8D22-6E729340C1AA}"/>
              </a:ext>
            </a:extLst>
          </p:cNvPr>
          <p:cNvSpPr>
            <a:spLocks noGrp="1"/>
          </p:cNvSpPr>
          <p:nvPr/>
        </p:nvSpPr>
        <p:spPr>
          <a:xfrm>
            <a:off x="7804458" y="4397589"/>
            <a:ext cx="34861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Agent｜日志分析与回归</a:t>
            </a:r>
          </a:p>
        </p:txBody>
      </p:sp>
      <p:sp>
        <p:nvSpPr>
          <p:cNvPr id="123" name="">
            <a:extLst>
              <a:ext uri="{FF2B5EF4-FFF2-40B4-BE49-F238E27FC236}">
                <a16:creationId id="{A149C991-EB2D-45ED-82DB-E42EE285FE74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H40 · 任务能力匹配｜原创分析示例；未对应真实项目承诺或平台实测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用质量管理机制理解训练交付体系</a:t>
            </a:r>
          </a:p>
        </p:txBody>
      </p:sp>
      <p:sp>
        <p:nvSpPr>
          <p:cNvPr id="100" name="">
            <a:extLst>
              <a:ext uri="{FF2B5EF4-FFF2-40B4-BE49-F238E27FC236}">
                <a16:creationId id="{BD9132E7-EE8D-4F9F-8CAB-2E1D186B1CED}"/>
              </a:ext>
            </a:extLst>
          </p:cNvPr>
          <p:cNvSpPr>
            <a:spLocks noGrp="1"/>
          </p:cNvSpPr>
          <p:nvPr/>
        </p:nvSpPr>
        <p:spPr>
          <a:xfrm>
            <a:off x="736908" y="1549614"/>
            <a:ext cx="48101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类比对象：制造质量管理</a:t>
            </a:r>
          </a:p>
        </p:txBody>
      </p:sp>
      <p:sp>
        <p:nvSpPr>
          <p:cNvPr id="101" name="">
            <a:extLst>
              <a:ext uri="{FF2B5EF4-FFF2-40B4-BE49-F238E27FC236}">
                <a16:creationId id="{69C5C2CE-708C-4950-B61F-EEE75735CA26}"/>
              </a:ext>
            </a:extLst>
          </p:cNvPr>
          <p:cNvSpPr>
            <a:spLocks noGrp="1"/>
          </p:cNvSpPr>
          <p:nvPr/>
        </p:nvSpPr>
        <p:spPr>
          <a:xfrm>
            <a:off x="736908" y="1959189"/>
            <a:ext cx="48101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原料有批次，工艺有版本，过程有检测，产品有追溯；问题出现时可定位到材料与过程条件。</a:t>
            </a:r>
          </a:p>
        </p:txBody>
      </p:sp>
      <p:sp>
        <p:nvSpPr>
          <p:cNvPr id="102" name="">
            <a:extLst>
              <a:ext uri="{FF2B5EF4-FFF2-40B4-BE49-F238E27FC236}">
                <a16:creationId id="{241D6E9B-BC58-4E03-B173-07A757950448}"/>
              </a:ext>
            </a:extLst>
          </p:cNvPr>
          <p:cNvSpPr>
            <a:spLocks noGrp="1"/>
          </p:cNvSpPr>
          <p:nvPr/>
        </p:nvSpPr>
        <p:spPr>
          <a:xfrm>
            <a:off x="6613833" y="1549614"/>
            <a:ext cx="48196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映射对象：训练交付体系</a:t>
            </a:r>
          </a:p>
        </p:txBody>
      </p:sp>
      <p:sp>
        <p:nvSpPr>
          <p:cNvPr id="103" name="">
            <a:extLst>
              <a:ext uri="{FF2B5EF4-FFF2-40B4-BE49-F238E27FC236}">
                <a16:creationId id="{A71D1A03-0225-4287-94DA-D40AFA07FE4E}"/>
              </a:ext>
            </a:extLst>
          </p:cNvPr>
          <p:cNvSpPr>
            <a:spLocks noGrp="1"/>
          </p:cNvSpPr>
          <p:nvPr/>
        </p:nvSpPr>
        <p:spPr>
          <a:xfrm>
            <a:off x="6613833" y="1959189"/>
            <a:ext cx="48196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样本有来源，配方有版本，运行有记录，模型有验收；优化收益需要在受约束条件下复现。</a:t>
            </a:r>
          </a:p>
        </p:txBody>
      </p:sp>
      <p:graphicFrame>
        <p:nvGraphicFramePr>
          <p:cNvPr id="104" name=""/>
          <p:cNvGraphicFramePr/>
          <p:nvPr/>
        </p:nvGraphicFramePr>
        <p:xfrm>
          <a:off x="736908" y="3054564"/>
          <a:ext cx="10733557" cy="2457450"/>
        </p:xfrm>
        <a:graphic>
          <a:graphicData uri="http://schemas.openxmlformats.org/drawingml/2006/table">
            <a:tbl>
              <a:tblPr firstRow="0" bandRow="0"/>
              <a:tblGrid>
                <a:gridCol w="2790725"/>
                <a:gridCol w="4186087"/>
                <a:gridCol w="3756745"/>
              </a:tblGrid>
              <a:tr h="4914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制造机制</a:t>
                      </a:r>
                    </a:p>
                  </a:txBody>
                  <a:tcPr marL="114300" marR="114300" marT="95250" marB="76200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训练交付对应</a:t>
                      </a:r>
                    </a:p>
                  </a:txBody>
                  <a:tcPr marL="114300" marR="114300" marT="95250" marB="76200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共同作用</a:t>
                      </a:r>
                    </a:p>
                  </a:txBody>
                  <a:tcPr marL="114300" marR="114300" marT="95250" marB="76200" anchor="ctr">
                    <a:solidFill>
                      <a:srgbClr val="EBEBEB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原料批次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数据集版本与授权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界定输入边界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工艺参数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模型、配方与环境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固化执行条件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过程检测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日志、剖析与回归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发现异常变化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出厂验收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任务质量与部署门槛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约束交付结果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5" name="">
            <a:extLst>
              <a:ext uri="{FF2B5EF4-FFF2-40B4-BE49-F238E27FC236}">
                <a16:creationId id="{76D9087D-E7D0-4486-A222-38F9E0DF341B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H41 · 类比映射｜机制类比；不代表制造流程与模型训练在统计性质上完全等同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标准化流程缩短等待并保留质量门禁</a:t>
            </a:r>
          </a:p>
        </p:txBody>
      </p:sp>
      <p:sp>
        <p:nvSpPr>
          <p:cNvPr id="100" name="">
            <a:extLst>
              <a:ext uri="{FF2B5EF4-FFF2-40B4-BE49-F238E27FC236}">
                <a16:creationId id="{8087FE9C-D90A-415F-86A9-782DAC254509}"/>
              </a:ext>
            </a:extLst>
          </p:cNvPr>
          <p:cNvSpPr>
            <a:spLocks noGrp="1"/>
          </p:cNvSpPr>
          <p:nvPr/>
        </p:nvSpPr>
        <p:spPr>
          <a:xfrm>
            <a:off x="736908" y="1521039"/>
            <a:ext cx="5219700" cy="245745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</p:sp>
      <p:sp>
        <p:nvSpPr>
          <p:cNvPr id="101" name="">
            <a:extLst>
              <a:ext uri="{FF2B5EF4-FFF2-40B4-BE49-F238E27FC236}">
                <a16:creationId id="{340C0410-4A05-4B69-AC06-6C0B943367D2}"/>
              </a:ext>
            </a:extLst>
          </p:cNvPr>
          <p:cNvSpPr>
            <a:spLocks noGrp="1"/>
          </p:cNvSpPr>
          <p:nvPr/>
        </p:nvSpPr>
        <p:spPr>
          <a:xfrm>
            <a:off x="736908" y="1521039"/>
            <a:ext cx="38100" cy="2457450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2" name="">
            <a:extLst>
              <a:ext uri="{FF2B5EF4-FFF2-40B4-BE49-F238E27FC236}">
                <a16:creationId id="{750F4BD4-E199-43D8-A2B3-54A842CACF34}"/>
              </a:ext>
            </a:extLst>
          </p:cNvPr>
          <p:cNvSpPr>
            <a:spLocks noGrp="1"/>
          </p:cNvSpPr>
          <p:nvPr/>
        </p:nvSpPr>
        <p:spPr>
          <a:xfrm>
            <a:off x="927408" y="1702014"/>
            <a:ext cx="48387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改造前｜信息分散</a:t>
            </a:r>
          </a:p>
        </p:txBody>
      </p:sp>
      <p:sp>
        <p:nvSpPr>
          <p:cNvPr id="103" name="">
            <a:extLst>
              <a:ext uri="{FF2B5EF4-FFF2-40B4-BE49-F238E27FC236}">
                <a16:creationId id="{FA67B92A-E8D2-41D4-AB03-BB2277D4ACFB}"/>
              </a:ext>
            </a:extLst>
          </p:cNvPr>
          <p:cNvSpPr>
            <a:spLocks noGrp="1"/>
          </p:cNvSpPr>
          <p:nvPr/>
        </p:nvSpPr>
        <p:spPr>
          <a:xfrm>
            <a:off x="927408" y="2111589"/>
            <a:ext cx="48387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配置依赖人工交接，基线环境不完整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问题靠跨组会议推进，定位与复测串行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交付只保留结果截图，后续难以复现</a:t>
            </a:r>
          </a:p>
        </p:txBody>
      </p:sp>
      <p:sp>
        <p:nvSpPr>
          <p:cNvPr id="104" name="">
            <a:extLst>
              <a:ext uri="{FF2B5EF4-FFF2-40B4-BE49-F238E27FC236}">
                <a16:creationId id="{D4705867-9421-4B13-986F-992CE7D9DD3F}"/>
              </a:ext>
            </a:extLst>
          </p:cNvPr>
          <p:cNvSpPr>
            <a:spLocks noGrp="1"/>
          </p:cNvSpPr>
          <p:nvPr/>
        </p:nvSpPr>
        <p:spPr>
          <a:xfrm>
            <a:off x="6242358" y="1521039"/>
            <a:ext cx="5219700" cy="245745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</p:sp>
      <p:sp>
        <p:nvSpPr>
          <p:cNvPr id="105" name="">
            <a:extLst>
              <a:ext uri="{FF2B5EF4-FFF2-40B4-BE49-F238E27FC236}">
                <a16:creationId id="{31EB9CAA-41D0-45DB-B405-33E897D76E08}"/>
              </a:ext>
            </a:extLst>
          </p:cNvPr>
          <p:cNvSpPr>
            <a:spLocks noGrp="1"/>
          </p:cNvSpPr>
          <p:nvPr/>
        </p:nvSpPr>
        <p:spPr>
          <a:xfrm>
            <a:off x="6242358" y="1521039"/>
            <a:ext cx="38100" cy="2457450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6" name="">
            <a:extLst>
              <a:ext uri="{FF2B5EF4-FFF2-40B4-BE49-F238E27FC236}">
                <a16:creationId id="{CCD139DF-6471-4E3C-990D-60E8F0354B88}"/>
              </a:ext>
            </a:extLst>
          </p:cNvPr>
          <p:cNvSpPr>
            <a:spLocks noGrp="1"/>
          </p:cNvSpPr>
          <p:nvPr/>
        </p:nvSpPr>
        <p:spPr>
          <a:xfrm>
            <a:off x="6432858" y="1702014"/>
            <a:ext cx="48387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改造后｜统一记录与门禁</a:t>
            </a:r>
          </a:p>
        </p:txBody>
      </p:sp>
      <p:sp>
        <p:nvSpPr>
          <p:cNvPr id="107" name="">
            <a:extLst>
              <a:ext uri="{FF2B5EF4-FFF2-40B4-BE49-F238E27FC236}">
                <a16:creationId id="{00328490-7927-42CA-8F87-6DEDF1A92730}"/>
              </a:ext>
            </a:extLst>
          </p:cNvPr>
          <p:cNvSpPr>
            <a:spLocks noGrp="1"/>
          </p:cNvSpPr>
          <p:nvPr/>
        </p:nvSpPr>
        <p:spPr>
          <a:xfrm>
            <a:off x="6432858" y="2111589"/>
            <a:ext cx="48387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版本化配置、数据与运行环境一起登记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按问题标签组队，独立步骤并行推进</a:t>
            </a:r>
          </a:p>
          <a:p>
            <a:r>
              <a:t/>
            </a:r>
          </a:p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保留对照、回归与风险审查材料</a:t>
            </a:r>
          </a:p>
        </p:txBody>
      </p:sp>
      <p:sp>
        <p:nvSpPr>
          <p:cNvPr id="108" name="">
            <a:extLst>
              <a:ext uri="{FF2B5EF4-FFF2-40B4-BE49-F238E27FC236}">
                <a16:creationId id="{DCA3A1B9-4FF9-452D-A756-3059D5E54CC3}"/>
              </a:ext>
            </a:extLst>
          </p:cNvPr>
          <p:cNvSpPr>
            <a:spLocks noGrp="1"/>
          </p:cNvSpPr>
          <p:nvPr/>
        </p:nvSpPr>
        <p:spPr>
          <a:xfrm>
            <a:off x="736908" y="4454739"/>
            <a:ext cx="333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36 → 24小时</a:t>
            </a:r>
          </a:p>
        </p:txBody>
      </p:sp>
      <p:sp>
        <p:nvSpPr>
          <p:cNvPr id="109" name="">
            <a:extLst>
              <a:ext uri="{FF2B5EF4-FFF2-40B4-BE49-F238E27FC236}">
                <a16:creationId id="{F3D431FF-77B8-44DA-85F9-BF4E33BA5E53}"/>
              </a:ext>
            </a:extLst>
          </p:cNvPr>
          <p:cNvSpPr>
            <a:spLocks noGrp="1"/>
          </p:cNvSpPr>
          <p:nvPr/>
        </p:nvSpPr>
        <p:spPr>
          <a:xfrm>
            <a:off x="736908" y="4969089"/>
            <a:ext cx="3333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单次交付周期下降33.3%</a:t>
            </a:r>
          </a:p>
        </p:txBody>
      </p:sp>
      <p:sp>
        <p:nvSpPr>
          <p:cNvPr id="110" name="">
            <a:extLst>
              <a:ext uri="{FF2B5EF4-FFF2-40B4-BE49-F238E27FC236}">
                <a16:creationId id="{0CFB196E-F194-4B42-A049-CF5F3B8005D4}"/>
              </a:ext>
            </a:extLst>
          </p:cNvPr>
          <p:cNvSpPr>
            <a:spLocks noGrp="1"/>
          </p:cNvSpPr>
          <p:nvPr/>
        </p:nvSpPr>
        <p:spPr>
          <a:xfrm>
            <a:off x="4413558" y="4454739"/>
            <a:ext cx="333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12 → 6项</a:t>
            </a:r>
          </a:p>
        </p:txBody>
      </p:sp>
      <p:sp>
        <p:nvSpPr>
          <p:cNvPr id="111" name="">
            <a:extLst>
              <a:ext uri="{FF2B5EF4-FFF2-40B4-BE49-F238E27FC236}">
                <a16:creationId id="{5B3DD37C-0893-4E16-A883-0E2024042673}"/>
              </a:ext>
            </a:extLst>
          </p:cNvPr>
          <p:cNvSpPr>
            <a:spLocks noGrp="1"/>
          </p:cNvSpPr>
          <p:nvPr/>
        </p:nvSpPr>
        <p:spPr>
          <a:xfrm>
            <a:off x="4413558" y="4969089"/>
            <a:ext cx="3333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人工交接事项减少50%</a:t>
            </a:r>
          </a:p>
        </p:txBody>
      </p:sp>
      <p:sp>
        <p:nvSpPr>
          <p:cNvPr id="112" name="">
            <a:extLst>
              <a:ext uri="{FF2B5EF4-FFF2-40B4-BE49-F238E27FC236}">
                <a16:creationId id="{1495AFFB-85E8-41BE-9E34-E1FB4A144184}"/>
              </a:ext>
            </a:extLst>
          </p:cNvPr>
          <p:cNvSpPr>
            <a:spLocks noGrp="1"/>
          </p:cNvSpPr>
          <p:nvPr/>
        </p:nvSpPr>
        <p:spPr>
          <a:xfrm>
            <a:off x="8090208" y="4454739"/>
            <a:ext cx="333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70% → 100%</a:t>
            </a:r>
          </a:p>
        </p:txBody>
      </p:sp>
      <p:sp>
        <p:nvSpPr>
          <p:cNvPr id="113" name="">
            <a:extLst>
              <a:ext uri="{FF2B5EF4-FFF2-40B4-BE49-F238E27FC236}">
                <a16:creationId id="{9BD84C75-B52A-4BB8-A8C8-C4632649DD32}"/>
              </a:ext>
            </a:extLst>
          </p:cNvPr>
          <p:cNvSpPr>
            <a:spLocks noGrp="1"/>
          </p:cNvSpPr>
          <p:nvPr/>
        </p:nvSpPr>
        <p:spPr>
          <a:xfrm>
            <a:off x="8090208" y="4969089"/>
            <a:ext cx="3333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关键记录完整率提升30个百分点</a:t>
            </a:r>
          </a:p>
        </p:txBody>
      </p:sp>
      <p:sp>
        <p:nvSpPr>
          <p:cNvPr id="114" name="">
            <a:extLst>
              <a:ext uri="{FF2B5EF4-FFF2-40B4-BE49-F238E27FC236}">
                <a16:creationId id="{4FECEAFC-B604-449A-A11C-6BB91470FB9A}"/>
              </a:ext>
            </a:extLst>
          </p:cNvPr>
          <p:cNvSpPr>
            <a:spLocks noGrp="1"/>
          </p:cNvSpPr>
          <p:nvPr/>
        </p:nvSpPr>
        <p:spPr>
          <a:xfrm>
            <a:off x="736908" y="5759664"/>
            <a:ext cx="1073355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H42 · 前后对照案例｜合成案例；假设任务与质量门槛相同，不是某公司实测或保证收益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FC2917F5-FC52-4782-A0FF-AE2013F589C8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25829FED-7996-4B48-8C44-EBA668E4F8ED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6DF1AB71-8E54-4DA3-96CA-45CA365BFE54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emplate>MWC 19-PPT模板-白底 16比9</ns0:Template>
  <ns0:TotalTime>88</ns0:TotalTime>
  <ns0:Words>55</ns0:Words>
  <ns0:Application>Microsoft Office PowerPoint</ns0:Application>
  <ns0:PresentationFormat>自定义</ns0:PresentationFormat>
  <ns0:Paragraphs>49</ns0:Paragraphs>
  <ns0:Slides>42</ns0:Slides>
  <ns0:Notes>1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5</ns1:i4>
      </ns1:variant>
      <ns1:variant>
        <ns1:lpstr>主题</ns1:lpstr>
      </ns1:variant>
      <ns1:variant>
        <ns1:i4>4</ns1:i4>
      </ns1:variant>
      <ns1:variant>
        <ns1:lpstr>幻灯片标题</ns1:lpstr>
      </ns1:variant>
      <ns1:variant>
        <ns1:i4>5</ns1:i4>
      </ns1:variant>
    </ns1:vector>
  </ns0:HeadingPairs>
  <ns0:TitlesOfParts>
    <ns1:vector size="14" baseType="lpstr">
      <ns1:lpstr>黑体</ns1:lpstr>
      <ns1:lpstr>Microsoft YaHei</ns1:lpstr>
      <ns1:lpstr>Arial</ns1:lpstr>
      <ns1:lpstr>Calibri</ns1:lpstr>
      <ns1:lpstr>Calibri Light</ns1:lpstr>
      <ns1:lpstr>1_Title Slide</ns1:lpstr>
      <ns1:lpstr>Chart page</ns1:lpstr>
      <ns1:lpstr>4_Chart page</ns1:lpstr>
      <ns1:lpstr>End page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Company>Huawei Technologies Co.,Ltd.</ns0:Company>
  <ns0:LinksUpToDate>false</ns0:LinksUpToDate>
  <ns0:SharedDoc>false</ns0:SharedDoc>
  <ns0:HyperlinksChanged>false</ns0:HyperlinksChanged>
  <ns0:AppVersion>15.0000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Hanke (A)</cp:lastModifiedBy>
  <cp:revision>11</cp:revision>
  <dcterms:created xsi:type="dcterms:W3CDTF">2018-12-05T07:23:25Z</dcterms:created>
  <dcterms:modified xsi:type="dcterms:W3CDTF">2021-01-28T09:59:27Z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